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comment1.xml" ContentType="application/vnd.openxmlformats-officedocument.presentationml.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2" r:id="rId7"/>
    <p:sldId id="263" r:id="rId8"/>
    <p:sldId id="266" r:id="rId9"/>
    <p:sldId id="267" r:id="rId10"/>
    <p:sldId id="268" r:id="rId11"/>
    <p:sldId id="269" r:id="rId12"/>
    <p:sldId id="270" r:id="rId13"/>
    <p:sldId id="271" r:id="rId14"/>
    <p:sldId id="272" r:id="rId15"/>
    <p:sldId id="273" r:id="rId16"/>
    <p:sldId id="274" r:id="rId17"/>
    <p:sldId id="275" r:id="rId18"/>
    <p:sldId id="277" r:id="rId19"/>
    <p:sldId id="279" r:id="rId20"/>
    <p:sldId id="281" r:id="rId21"/>
    <p:sldId id="282" r:id="rId22"/>
    <p:sldId id="283" r:id="rId23"/>
    <p:sldId id="285" r:id="rId24"/>
    <p:sldId id="286" r:id="rId25"/>
    <p:sldId id="289" r:id="rId26"/>
    <p:sldId id="291" r:id="rId27"/>
    <p:sldId id="292" r:id="rId28"/>
    <p:sldId id="293" r:id="rId29"/>
    <p:sldId id="294" r:id="rId30"/>
    <p:sldId id="295"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eRdu8IbekEr22tH8CfGYY63Px6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ian Chee Loh"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359D83-5457-4402-8951-C3CEC1CC7011}">
  <a:tblStyle styleId="{89359D83-5457-4402-8951-C3CEC1CC70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p:cViewPr varScale="1">
        <p:scale>
          <a:sx n="115" d="100"/>
          <a:sy n="115" d="100"/>
        </p:scale>
        <p:origin x="6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tableStyles" Target="tableStyles.xml"/><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10-28T15:56:46.577" idx="2">
    <p:pos x="6000" y="0"/>
    <p:text>Here you wanna remove the animations? @simyeefei@gmail.com</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doco.cDaWSNcEHy__jF7ugREjb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0:00–0:</a:t>
            </a:r>
            <a:r>
              <a:rPr lang="en-US"/>
              <a:t>2</a:t>
            </a:r>
            <a:r>
              <a:rPr lang="en-US" sz="1200"/>
              <a:t>0 (</a:t>
            </a:r>
            <a:r>
              <a:rPr lang="en-US"/>
              <a:t>20</a:t>
            </a:r>
            <a:r>
              <a:rPr lang="en-US" sz="1200"/>
              <a:t> seconds). Total presentation: 15:00.</a:t>
            </a:r>
            <a:endParaRPr/>
          </a:p>
          <a:p>
            <a:pPr marL="0" lvl="0" indent="0" algn="l" rtl="0">
              <a:spcBef>
                <a:spcPts val="0"/>
              </a:spcBef>
              <a:spcAft>
                <a:spcPts val="0"/>
              </a:spcAft>
              <a:buNone/>
            </a:pPr>
            <a:endParaRPr sz="1300"/>
          </a:p>
          <a:p>
            <a:pPr marL="0" lvl="0" indent="0" algn="l" rtl="0">
              <a:spcBef>
                <a:spcPts val="0"/>
              </a:spcBef>
              <a:spcAft>
                <a:spcPts val="0"/>
              </a:spcAft>
              <a:buSzPts val="1100"/>
              <a:buNone/>
            </a:pPr>
            <a:r>
              <a:rPr lang="en-US">
                <a:solidFill>
                  <a:schemeClr val="dk1"/>
                </a:solidFill>
              </a:rPr>
              <a:t>Hello everyone, my name is Kian Chee and my teammate is Yee Fei. Together we are from Group 19. </a:t>
            </a:r>
            <a:endParaRPr>
              <a:solidFill>
                <a:schemeClr val="dk1"/>
              </a:solidFill>
            </a:endParaRPr>
          </a:p>
          <a:p>
            <a:pPr marL="0" lvl="0" indent="0" algn="l" rtl="0">
              <a:spcBef>
                <a:spcPts val="0"/>
              </a:spcBef>
              <a:spcAft>
                <a:spcPts val="0"/>
              </a:spcAft>
              <a:buSzPts val="1100"/>
              <a:buNone/>
            </a:pP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Today I will present to you our Visual Inspect AI. It is an automated visual inspection system which aims to detect and classify defects for industrial manufacturing products.</a:t>
            </a:r>
            <a:endParaRPr>
              <a:solidFill>
                <a:schemeClr val="dk1"/>
              </a:solidFill>
            </a:endParaRPr>
          </a:p>
          <a:p>
            <a:pPr marL="0" lvl="0" indent="0" algn="l" rtl="0">
              <a:spcBef>
                <a:spcPts val="0"/>
              </a:spcBef>
              <a:spcAft>
                <a:spcPts val="0"/>
              </a:spcAft>
              <a:buSzPts val="1100"/>
              <a:buNone/>
            </a:pPr>
            <a:endParaRPr>
              <a:solidFill>
                <a:schemeClr val="dk1"/>
              </a:solidFill>
            </a:endParaRPr>
          </a:p>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h7ea9e1c411d3302d_0_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 name="Google Shape;23;h7ea9e1c411d3302d_0_5: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0:20–0:50 (30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Before we start, let me just give a brief background of our project.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US">
                <a:solidFill>
                  <a:schemeClr val="dk1"/>
                </a:solidFill>
              </a:rPr>
              <a:t>For many industrial manufacturing products, manual inspection remains a challenge for many quality control processes. It is inconsistent between inspectors and a limited throughput. It is also prone to human fatigue and costly to scale as production volume grows.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This gives us a motivation to build our automated visual inspection system which aims to detect defective products more objectively and consistently, with a better and faster performance. It can also identify subtle anomalies and generate heatmaps.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SOURCES</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https://github.com/YeeFei93/VisionInspectAI/blob/8373bae3ef9537f05cd279c56c13abe1aec0f9e7/README.md</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Repository snapshot: 8373bae3ef9537f05cd279c56c13abe1aec0f9e7, reviewed 25 September 2026. Reported experimental metrics come from README tables, not a new model run.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
        <p:nvSpPr>
          <p:cNvPr id="24" name="Google Shape;24;h7ea9e1c411d3302d_0_5: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h281b0b1e5829137b_0_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 name="Google Shape;29;h281b0b1e5829137b_0_5: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0:50–1:10 (20 seconds). Total presentation: 15:00.</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US"/>
              <a:t>Let us share about the MVTec Anomaly Detection (AD) dataset. It is a dataset for benchmarking anomaly detection methods focused on industrial inspection. It contains over 5000 images divided across object and texture categories. Each category has its own training and test set alongside normal and defective images.</a:t>
            </a:r>
            <a:endParaRPr/>
          </a:p>
        </p:txBody>
      </p:sp>
      <p:sp>
        <p:nvSpPr>
          <p:cNvPr id="30" name="Google Shape;30;h281b0b1e5829137b_0_5: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 name="Google Shape;3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1:10</a:t>
            </a:r>
            <a:r>
              <a:rPr lang="en-US" sz="1200"/>
              <a:t>–2:00 (50 seconds). Total presentation: 15:00.</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a:t>
            </a:r>
            <a:r>
              <a:rPr lang="en-US"/>
              <a:t>main project </a:t>
            </a:r>
            <a:r>
              <a:rPr lang="en-US" sz="1200"/>
              <a:t>objectives</a:t>
            </a:r>
            <a:r>
              <a:rPr lang="en-US"/>
              <a:t> of our system is</a:t>
            </a:r>
            <a:r>
              <a:rPr lang="en-US" sz="1200"/>
              <a:t> first of all, to </a:t>
            </a:r>
            <a:r>
              <a:rPr lang="en-US"/>
              <a:t>detect product anomalies.</a:t>
            </a:r>
            <a:r>
              <a:rPr lang="en-US" sz="1200"/>
              <a:t> </a:t>
            </a:r>
            <a:r>
              <a:rPr lang="en-US"/>
              <a:t>The system learns normal appearances of the products via an unsupervised algorithm and flags images that deviates from it.</a:t>
            </a:r>
            <a:r>
              <a:rPr lang="en-US" sz="1200"/>
              <a:t> </a:t>
            </a:r>
            <a:endParaRPr sz="1200"/>
          </a:p>
          <a:p>
            <a:pPr marL="0" lvl="0" indent="0" algn="l" rtl="0">
              <a:spcBef>
                <a:spcPts val="0"/>
              </a:spcBef>
              <a:spcAft>
                <a:spcPts val="0"/>
              </a:spcAft>
              <a:buNone/>
            </a:pPr>
            <a:endParaRPr/>
          </a:p>
          <a:p>
            <a:pPr marL="0" lvl="0" indent="0" algn="l" rtl="0">
              <a:spcBef>
                <a:spcPts val="0"/>
              </a:spcBef>
              <a:spcAft>
                <a:spcPts val="0"/>
              </a:spcAft>
              <a:buNone/>
            </a:pPr>
            <a:r>
              <a:rPr lang="en-US"/>
              <a:t>Next</a:t>
            </a:r>
            <a:r>
              <a:rPr lang="en-US" sz="1200"/>
              <a:t>, the second objective is </a:t>
            </a:r>
            <a:r>
              <a:rPr lang="en-US"/>
              <a:t>to localize the defect and </a:t>
            </a:r>
            <a:r>
              <a:rPr lang="en-US" sz="1200"/>
              <a:t>show where the suspected defect lies</a:t>
            </a:r>
            <a:r>
              <a:rPr lang="en-US"/>
              <a:t> using an anomaly heatmap and overlap</a:t>
            </a:r>
            <a:r>
              <a:rPr lang="en-US" sz="1200"/>
              <a:t>. </a:t>
            </a:r>
            <a:r>
              <a:rPr lang="en-US"/>
              <a:t>The third objective is to explain the results. It will report object categories, highlight anomaly scores, as well as the severity of the defects. Wherever possible, it will also predict the likely defect type. </a:t>
            </a:r>
            <a:endParaRPr/>
          </a:p>
          <a:p>
            <a:pPr marL="0" lvl="0" indent="0" algn="l" rtl="0">
              <a:spcBef>
                <a:spcPts val="0"/>
              </a:spcBef>
              <a:spcAft>
                <a:spcPts val="0"/>
              </a:spcAft>
              <a:buNone/>
            </a:pPr>
            <a:endParaRPr/>
          </a:p>
          <a:p>
            <a:pPr marL="0" lvl="0" indent="0" algn="l" rtl="0">
              <a:spcBef>
                <a:spcPts val="0"/>
              </a:spcBef>
              <a:spcAft>
                <a:spcPts val="0"/>
              </a:spcAft>
              <a:buNone/>
            </a:pPr>
            <a:r>
              <a:rPr lang="en-US"/>
              <a:t>Lastly, the fourth objective is to compare the performances of the different supervised and unsupervised deep learning classification approaches, data augmentation and ensemble model performances to determine which is the best fit for our system.</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40" name="Google Shape;4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3d51a6db47a0baff_0_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 name="Google Shape;54;h3d51a6db47a0baff_0_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2:0</a:t>
            </a:r>
            <a:r>
              <a:rPr lang="en-US"/>
              <a:t>0-2:45</a:t>
            </a:r>
            <a:r>
              <a:rPr lang="en-US" sz="1200"/>
              <a:t> (45 seconds). Total presentation: 15:00.</a:t>
            </a:r>
            <a:endParaRPr/>
          </a:p>
          <a:p>
            <a:pPr marL="0" lvl="0" indent="0" algn="l" rtl="0">
              <a:spcBef>
                <a:spcPts val="0"/>
              </a:spcBef>
              <a:spcAft>
                <a:spcPts val="0"/>
              </a:spcAft>
              <a:buNone/>
            </a:pPr>
            <a:endParaRPr/>
          </a:p>
          <a:p>
            <a:pPr marL="0" lvl="0" indent="0" algn="l" rtl="0">
              <a:spcBef>
                <a:spcPts val="0"/>
              </a:spcBef>
              <a:spcAft>
                <a:spcPts val="0"/>
              </a:spcAft>
              <a:buNone/>
            </a:pPr>
            <a:r>
              <a:rPr lang="en-US"/>
              <a:t>For our project scope, we have configured</a:t>
            </a:r>
            <a:r>
              <a:rPr lang="en-US" sz="1200"/>
              <a:t> </a:t>
            </a:r>
            <a:r>
              <a:rPr lang="en-US"/>
              <a:t>for all fifteen </a:t>
            </a:r>
            <a:r>
              <a:rPr lang="en-US" sz="1200"/>
              <a:t>MVTec AD categories</a:t>
            </a:r>
            <a:r>
              <a:rPr lang="en-US"/>
              <a:t>, in which</a:t>
            </a:r>
            <a:r>
              <a:rPr lang="en-US" sz="1200"/>
              <a:t> </a:t>
            </a:r>
            <a:r>
              <a:rPr lang="en-US"/>
              <a:t>10 </a:t>
            </a:r>
            <a:r>
              <a:rPr lang="en-US" sz="1200"/>
              <a:t>are discrete objects</a:t>
            </a:r>
            <a:r>
              <a:rPr lang="en-US"/>
              <a:t> (</a:t>
            </a:r>
            <a:r>
              <a:rPr lang="en-US">
                <a:solidFill>
                  <a:schemeClr val="dk1"/>
                </a:solidFill>
              </a:rPr>
              <a:t>transistor, </a:t>
            </a:r>
            <a:r>
              <a:rPr lang="en-US" sz="1200"/>
              <a:t>screw, hazelnut, and bottle)</a:t>
            </a:r>
            <a:r>
              <a:rPr lang="en-US"/>
              <a:t> while the other</a:t>
            </a:r>
            <a:r>
              <a:rPr lang="en-US" sz="1200"/>
              <a:t> </a:t>
            </a:r>
            <a:r>
              <a:rPr lang="en-US"/>
              <a:t>f</a:t>
            </a:r>
            <a:r>
              <a:rPr lang="en-US" sz="1200"/>
              <a:t>ive are textures</a:t>
            </a:r>
            <a:r>
              <a:rPr lang="en-US"/>
              <a:t>.</a:t>
            </a:r>
            <a:r>
              <a:rPr lang="en-US" sz="1200"/>
              <a:t> (wood, tile, </a:t>
            </a:r>
            <a:r>
              <a:rPr lang="en-US">
                <a:solidFill>
                  <a:schemeClr val="dk1"/>
                </a:solidFill>
              </a:rPr>
              <a:t>carpet, leather, and </a:t>
            </a:r>
            <a:r>
              <a:rPr lang="en-US" sz="1200"/>
              <a:t>grid). </a:t>
            </a:r>
            <a:r>
              <a:rPr lang="en-US"/>
              <a:t>Our deliverable is </a:t>
            </a:r>
            <a:r>
              <a:rPr lang="en-US" sz="1200"/>
              <a:t>a still</a:t>
            </a:r>
            <a:r>
              <a:rPr lang="en-US"/>
              <a:t>-</a:t>
            </a:r>
            <a:r>
              <a:rPr lang="en-US" sz="1200"/>
              <a:t>image inspection </a:t>
            </a:r>
            <a:r>
              <a:rPr lang="en-US"/>
              <a:t>via </a:t>
            </a:r>
            <a:r>
              <a:rPr lang="en-US" sz="1200"/>
              <a:t>a Streamlit interface and returns an inspection result. </a:t>
            </a:r>
            <a:r>
              <a:rPr lang="en-US"/>
              <a:t>This result consists of </a:t>
            </a:r>
            <a:r>
              <a:rPr lang="en-US" sz="1200"/>
              <a:t>an automatic category routing </a:t>
            </a:r>
            <a:r>
              <a:rPr lang="en-US"/>
              <a:t>with the various defect-type classifications, anomaly scores and heatmap overlays. </a:t>
            </a:r>
            <a:endParaRPr/>
          </a:p>
          <a:p>
            <a:pPr marL="0" lvl="0" indent="0" algn="l" rtl="0">
              <a:spcBef>
                <a:spcPts val="0"/>
              </a:spcBef>
              <a:spcAft>
                <a:spcPts val="0"/>
              </a:spcAft>
              <a:buNone/>
            </a:pPr>
            <a:endParaRPr/>
          </a:p>
          <a:p>
            <a:pPr marL="0" lvl="0" indent="0" algn="l" rtl="0">
              <a:spcBef>
                <a:spcPts val="0"/>
              </a:spcBef>
              <a:spcAft>
                <a:spcPts val="0"/>
              </a:spcAft>
              <a:buClr>
                <a:srgbClr val="000000"/>
              </a:buClr>
              <a:buFont typeface="Arial"/>
              <a:buNone/>
            </a:pPr>
            <a:r>
              <a:rPr lang="en-US"/>
              <a:t>Our in-scope boundary will only cover </a:t>
            </a:r>
            <a:r>
              <a:rPr lang="en-US" sz="1200"/>
              <a:t>this MV</a:t>
            </a:r>
            <a:r>
              <a:rPr lang="en-US"/>
              <a:t>Tec AD </a:t>
            </a:r>
            <a:r>
              <a:rPr lang="en-US" sz="1200"/>
              <a:t>benchmark distribution image</a:t>
            </a:r>
            <a:r>
              <a:rPr lang="en-US"/>
              <a:t>s</a:t>
            </a:r>
            <a:r>
              <a:rPr lang="en-US" sz="1200"/>
              <a:t>. </a:t>
            </a:r>
            <a:r>
              <a:rPr lang="en-US"/>
              <a:t>Factory</a:t>
            </a:r>
            <a:r>
              <a:rPr lang="en-US" sz="1200"/>
              <a:t> integration and any unfamiliar capture </a:t>
            </a:r>
            <a:r>
              <a:rPr lang="en-US"/>
              <a:t>conditions</a:t>
            </a:r>
            <a:r>
              <a:rPr lang="en-US" sz="1200"/>
              <a:t> </a:t>
            </a:r>
            <a:r>
              <a:rPr lang="en-US"/>
              <a:t>such as l</a:t>
            </a:r>
            <a:r>
              <a:rPr lang="en-US" sz="1200"/>
              <a:t>ive camera </a:t>
            </a:r>
            <a:r>
              <a:rPr lang="en-US"/>
              <a:t>footages</a:t>
            </a:r>
            <a:r>
              <a:rPr lang="en-US" sz="1200"/>
              <a:t> </a:t>
            </a:r>
            <a:r>
              <a:rPr lang="en-US"/>
              <a:t>will be</a:t>
            </a:r>
            <a:r>
              <a:rPr lang="en-US" sz="1200"/>
              <a:t> outside of our </a:t>
            </a:r>
            <a:r>
              <a:rPr lang="en-US"/>
              <a:t>v</a:t>
            </a:r>
            <a:r>
              <a:rPr lang="en-US" sz="1200"/>
              <a:t>alidated scope. </a:t>
            </a:r>
            <a:r>
              <a:rPr lang="en-US">
                <a:solidFill>
                  <a:schemeClr val="dk1"/>
                </a:solidFill>
              </a:rPr>
              <a:t>The final intended outcome is an interactive proof of concept for our controlled benchmark images. </a:t>
            </a:r>
            <a:endParaRPr>
              <a:solidFill>
                <a:schemeClr val="dk1"/>
              </a:solidFill>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https://github.com/YeeFei93/VisionInspectAI/blob/8373bae3ef9537f05cd279c56c13abe1aec0f9e7/src/inference/inspection_pipeline.py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55" name="Google Shape;55;h3d51a6db47a0baff_0_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59843ea5be7b33af_0_0:notes"/>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h59843ea5be7b33af_0_0:notes"/>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h59843ea5be7b33af_0_0:notes"/>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h59843ea5be7b33af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2:45–3:15 (30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Now looking at the dataset category breakdown. We have a total manifest records of 5,354 images across the fifteen categories. We have 3,629 normal training images, and 1,725 labeled test images which are inclusive of the various defect types and normal images. The data split ratio is approximately 2:1 training to test dataset.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We have an average of about 242 train and 115 test images per category. For ground truth defective images, we have an average of 84 images per category. </a:t>
            </a:r>
            <a:endParaRPr>
              <a:solidFill>
                <a:schemeClr val="dk1"/>
              </a:solidFill>
            </a:endParaRPr>
          </a:p>
        </p:txBody>
      </p:sp>
      <p:sp>
        <p:nvSpPr>
          <p:cNvPr id="101" name="Google Shape;101;h59843ea5be7b33af_0_0:notes"/>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h59843ea5be7b33af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h2a3dbc10fe5cba62_0_266:notes"/>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h2a3dbc10fe5cba62_0_266:notes"/>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h2a3dbc10fe5cba62_0_266:notes"/>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h2a3dbc10fe5cba62_0_26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3:15–4:30 (75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Let us now share about the System Architecture. The Streamlit interface first receives an input image and supplies it to the Inspection Pipeline.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 category classifier using Supervised Learning ResNet18 model then routes it to one of the 15 category artifacts. An automatic multi-class routing is done when the category confidence is above 60 percent. The selected category then determines the model configuration, memory bank, thresholds, and defect-type model to be used.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Next, our Unsupervised PatchCore Anomaly Detector will produce an image anomaly score and an anomaly heatmap. When threshold limits are exceeded, the defect type classifier will be triggered. Area-based severity scores and defect crops will also be triggered.</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Once an anomaly is detected, the image is routed to a category-specific defect type classifier. The majority of the defect type classifiers uses ConvNeXt-Tiny models except for Cable and pill. Cable uses EfficientNet-B0, and pill uses a 4-model soft-vote ensemble model.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Finally, our inspection pipeline returns an Inspection Result for the Streamlit App containing the Category Classification, Anomaly Scores, Heatmap, Defect Type and Severity Scores.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SOURCES</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https://github.com/YeeFei93/VisionInspectAI/blob/8373bae3ef9537f05cd279c56c13abe1aec0f9e7/src/inference/inspection_pipeline.py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https://github.com/YeeFei93/VisionInspectAI/blob/8373bae3ef9537f05cd279c56c13abe1aec0f9e7/app/streamlit_app.py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https://github.com/YeeFei93/VisionInspectAI/blob/8373bae3ef9537f05cd279c56c13abe1aec0f9e7/src/models/run_ensemble.py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Repository snapshot: 8373bae3ef9537f05cd279c56c13abe1aec0f9e7, reviewed 25 September 2026. Reported experimental metrics come from README tables, not a new model run.</a:t>
            </a:r>
            <a:endParaRPr>
              <a:solidFill>
                <a:schemeClr val="dk1"/>
              </a:solidFill>
            </a:endParaRPr>
          </a:p>
          <a:p>
            <a:pPr marL="0" lvl="0" indent="0" algn="l" rtl="0">
              <a:spcBef>
                <a:spcPts val="0"/>
              </a:spcBef>
              <a:spcAft>
                <a:spcPts val="0"/>
              </a:spcAft>
              <a:buNone/>
            </a:pPr>
            <a:endParaRPr/>
          </a:p>
        </p:txBody>
      </p:sp>
      <p:sp>
        <p:nvSpPr>
          <p:cNvPr id="225" name="Google Shape;225;h2a3dbc10fe5cba62_0_266:notes"/>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h2a3dbc10fe5cba62_0_26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h62dfe8351d842ea3_0_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9" name="Google Shape;359;h62dfe8351d842ea3_0_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rPr>
              <a:t>TIMING: </a:t>
            </a:r>
            <a:r>
              <a:rPr lang="en-US">
                <a:solidFill>
                  <a:schemeClr val="dk1"/>
                </a:solidFill>
              </a:rPr>
              <a:t>4</a:t>
            </a:r>
            <a:r>
              <a:rPr lang="en-US" sz="1200">
                <a:solidFill>
                  <a:schemeClr val="dk1"/>
                </a:solidFill>
              </a:rPr>
              <a:t>:</a:t>
            </a:r>
            <a:r>
              <a:rPr lang="en-US">
                <a:solidFill>
                  <a:schemeClr val="dk1"/>
                </a:solidFill>
              </a:rPr>
              <a:t>30</a:t>
            </a:r>
            <a:r>
              <a:rPr lang="en-US" sz="1200">
                <a:solidFill>
                  <a:schemeClr val="dk1"/>
                </a:solidFill>
              </a:rPr>
              <a:t>-</a:t>
            </a:r>
            <a:r>
              <a:rPr lang="en-US">
                <a:solidFill>
                  <a:schemeClr val="dk1"/>
                </a:solidFill>
              </a:rPr>
              <a:t>4:50</a:t>
            </a:r>
            <a:r>
              <a:rPr lang="en-US" sz="1200">
                <a:solidFill>
                  <a:schemeClr val="dk1"/>
                </a:solidFill>
              </a:rPr>
              <a:t> (</a:t>
            </a:r>
            <a:r>
              <a:rPr lang="en-US">
                <a:solidFill>
                  <a:schemeClr val="dk1"/>
                </a:solidFill>
              </a:rPr>
              <a:t>20</a:t>
            </a:r>
            <a:r>
              <a:rPr lang="en-US" sz="1200">
                <a:solidFill>
                  <a:schemeClr val="dk1"/>
                </a:solidFill>
              </a:rPr>
              <a:t>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For the supervised deep learning techniques used, we fine-tuned a pretrained ResNet18 model for our category image classification problem across all 15 categories and trained them with MVTec’s training and test image splits. In the example of transistor, the model would be trained on 213 normal images and validated against 100 </a:t>
            </a:r>
            <a:r>
              <a:rPr lang="en-US" sz="1200">
                <a:solidFill>
                  <a:schemeClr val="dk1"/>
                </a:solidFill>
              </a:rPr>
              <a:t>test images t</a:t>
            </a:r>
            <a:r>
              <a:rPr lang="en-US">
                <a:solidFill>
                  <a:schemeClr val="dk1"/>
                </a:solidFill>
              </a:rPr>
              <a:t>hat are</a:t>
            </a:r>
            <a:r>
              <a:rPr lang="en-US" sz="1200">
                <a:solidFill>
                  <a:schemeClr val="dk1"/>
                </a:solidFill>
              </a:rPr>
              <a:t> </a:t>
            </a:r>
            <a:r>
              <a:rPr lang="en-US">
                <a:solidFill>
                  <a:schemeClr val="dk1"/>
                </a:solidFill>
              </a:rPr>
              <a:t>inclusive of defects.</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US" sz="1200">
                <a:solidFill>
                  <a:schemeClr val="dk1"/>
                </a:solidFill>
              </a:rPr>
              <a:t>SOURCES</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https://github.com/YeeFei93/VisionInspectAI/blob/8373bae3ef9537f05cd279c56c13abe1aec0f9e7/README.md</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https://github.com/YeeFei93/VisionInspectAI/blob/8373bae3ef9537f05cd279c56c13abe1aec0f9e7/src/data/dataset.py</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https://github.com/YeeFei93/VisionInspectAI/blob/8373bae3ef9537f05cd279c56c13abe1aec0f9e7/src/models/run_anomaly_detection.py</a:t>
            </a:r>
            <a:endParaRPr>
              <a:solidFill>
                <a:schemeClr val="dk1"/>
              </a:solidFill>
            </a:endParaRPr>
          </a:p>
          <a:p>
            <a:pPr marL="0" lvl="0" indent="0" algn="l" rtl="0">
              <a:spcBef>
                <a:spcPts val="0"/>
              </a:spcBef>
              <a:spcAft>
                <a:spcPts val="0"/>
              </a:spcAft>
              <a:buNone/>
            </a:pPr>
            <a:r>
              <a:rPr lang="en-US" sz="1200">
                <a:solidFill>
                  <a:schemeClr val="dk1"/>
                </a:solidFill>
              </a:rPr>
              <a:t>Repository snapshot: 8373bae3ef9537f05cd279c56c13abe1aec0f9e7, reviewed 25 September 2026. Reported experimental metrics come from README tables, not a new model run.</a:t>
            </a:r>
            <a:endParaRPr>
              <a:solidFill>
                <a:schemeClr val="dk1"/>
              </a:solidFill>
            </a:endParaRPr>
          </a:p>
        </p:txBody>
      </p:sp>
      <p:sp>
        <p:nvSpPr>
          <p:cNvPr id="360" name="Google Shape;360;h62dfe8351d842ea3_0_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h635942e35c3231f0_0_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7" name="Google Shape;367;h635942e35c3231f0_0_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4:50-5:10 (20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For our defect type classification problem, we then trained the same ResNet18 model on just the defective images. However, the number of defective images for training is very limited.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We can see that transistor itself</a:t>
            </a:r>
            <a:r>
              <a:rPr lang="en-US" sz="1200">
                <a:solidFill>
                  <a:schemeClr val="dk1"/>
                </a:solidFill>
              </a:rPr>
              <a:t> only has the </a:t>
            </a:r>
            <a:r>
              <a:rPr lang="en-US">
                <a:solidFill>
                  <a:schemeClr val="dk1"/>
                </a:solidFill>
              </a:rPr>
              <a:t>40 </a:t>
            </a:r>
            <a:r>
              <a:rPr lang="en-US" sz="1200">
                <a:solidFill>
                  <a:schemeClr val="dk1"/>
                </a:solidFill>
              </a:rPr>
              <a:t>defective </a:t>
            </a:r>
            <a:r>
              <a:rPr lang="en-US">
                <a:solidFill>
                  <a:schemeClr val="dk1"/>
                </a:solidFill>
              </a:rPr>
              <a:t>test </a:t>
            </a:r>
            <a:r>
              <a:rPr lang="en-US" sz="1200">
                <a:solidFill>
                  <a:schemeClr val="dk1"/>
                </a:solidFill>
              </a:rPr>
              <a:t>images </a:t>
            </a:r>
            <a:r>
              <a:rPr lang="en-US">
                <a:solidFill>
                  <a:schemeClr val="dk1"/>
                </a:solidFill>
              </a:rPr>
              <a:t>to work with. A 80/20 split</a:t>
            </a:r>
            <a:r>
              <a:rPr lang="en-US" sz="1200">
                <a:solidFill>
                  <a:schemeClr val="dk1"/>
                </a:solidFill>
              </a:rPr>
              <a:t> </a:t>
            </a:r>
            <a:r>
              <a:rPr lang="en-US">
                <a:solidFill>
                  <a:schemeClr val="dk1"/>
                </a:solidFill>
              </a:rPr>
              <a:t>would allow only 32 images for </a:t>
            </a:r>
            <a:r>
              <a:rPr lang="en-US" sz="1200">
                <a:solidFill>
                  <a:schemeClr val="dk1"/>
                </a:solidFill>
              </a:rPr>
              <a:t>training and </a:t>
            </a:r>
            <a:r>
              <a:rPr lang="en-US">
                <a:solidFill>
                  <a:schemeClr val="dk1"/>
                </a:solidFill>
              </a:rPr>
              <a:t>8</a:t>
            </a:r>
            <a:r>
              <a:rPr lang="en-US" sz="1200">
                <a:solidFill>
                  <a:schemeClr val="dk1"/>
                </a:solidFill>
              </a:rPr>
              <a:t> </a:t>
            </a:r>
            <a:r>
              <a:rPr lang="en-US">
                <a:solidFill>
                  <a:schemeClr val="dk1"/>
                </a:solidFill>
              </a:rPr>
              <a:t>images for testing. This would greatly affect its performance later. </a:t>
            </a:r>
            <a:endParaRPr sz="12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Point to note: Our perfectly supervised machine learning models will not establish any good performance on any extreme unseen defect types. Without further ado, let’s look at the performance of the models. </a:t>
            </a:r>
            <a:endParaRPr>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US" sz="1200">
                <a:solidFill>
                  <a:schemeClr val="dk1"/>
                </a:solidFill>
              </a:rPr>
              <a:t>SOURCES</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https://github.com/YeeFei93/VisionInspectAI/blob/8373bae3ef9537f05cd279c56c13abe1aec0f9e7/README.md</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https://github.com/YeeFei93/VisionInspectAI/blob/8373bae3ef9537f05cd279c56c13abe1aec0f9e7/src/data/dataset.py</a:t>
            </a:r>
            <a:endParaRPr>
              <a:solidFill>
                <a:schemeClr val="dk1"/>
              </a:solidFill>
            </a:endParaRPr>
          </a:p>
          <a:p>
            <a:pPr marL="0" lvl="0" indent="0" algn="l" rtl="0">
              <a:spcBef>
                <a:spcPts val="0"/>
              </a:spcBef>
              <a:spcAft>
                <a:spcPts val="0"/>
              </a:spcAft>
              <a:buNone/>
            </a:pPr>
            <a:r>
              <a:rPr lang="en-US" sz="1200">
                <a:solidFill>
                  <a:schemeClr val="dk1"/>
                </a:solidFill>
              </a:rPr>
              <a:t>https://github.com/YeeFei93/VisionInspectAI/blob/8373bae3ef9537f05cd279c56c13abe1aec0f9e7/src/models/run_anomaly_detection.py</a:t>
            </a:r>
            <a:endParaRPr>
              <a:solidFill>
                <a:schemeClr val="dk1"/>
              </a:solidFill>
            </a:endParaRPr>
          </a:p>
          <a:p>
            <a:pPr marL="0" lvl="0" indent="0" algn="l" rtl="0">
              <a:spcBef>
                <a:spcPts val="0"/>
              </a:spcBef>
              <a:spcAft>
                <a:spcPts val="0"/>
              </a:spcAft>
              <a:buNone/>
            </a:pPr>
            <a:r>
              <a:rPr lang="en-US" sz="1200">
                <a:solidFill>
                  <a:schemeClr val="dk1"/>
                </a:solidFill>
              </a:rPr>
              <a:t>Repository snapshot: 8373bae3ef9537f05cd279c56c13abe1aec0f9e7, reviewed 25 September 2026. Reported experimental metrics come from README tables, not a new model run.</a:t>
            </a:r>
            <a:endParaRPr>
              <a:solidFill>
                <a:schemeClr val="dk1"/>
              </a:solidFill>
            </a:endParaRPr>
          </a:p>
        </p:txBody>
      </p:sp>
      <p:sp>
        <p:nvSpPr>
          <p:cNvPr id="368" name="Google Shape;368;h635942e35c3231f0_0_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h3d51a6db47a0baff_0_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8" name="Google Shape;378;h3d51a6db47a0baff_0_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5:10</a:t>
            </a:r>
            <a:r>
              <a:rPr lang="en-US" sz="1200"/>
              <a:t>-</a:t>
            </a:r>
            <a:r>
              <a:rPr lang="en-US"/>
              <a:t>5</a:t>
            </a:r>
            <a:r>
              <a:rPr lang="en-US" sz="1200"/>
              <a:t>:</a:t>
            </a:r>
            <a:r>
              <a:rPr lang="en-US"/>
              <a:t>30</a:t>
            </a:r>
            <a:r>
              <a:rPr lang="en-US" sz="1200"/>
              <a:t> (</a:t>
            </a:r>
            <a:r>
              <a:rPr lang="en-US"/>
              <a:t>20</a:t>
            </a:r>
            <a:r>
              <a:rPr lang="en-US" sz="1200"/>
              <a:t> seconds). Total presentation: 15:00.</a:t>
            </a:r>
            <a:endParaRPr/>
          </a:p>
          <a:p>
            <a:pPr marL="0" lvl="0" indent="0" algn="l" rtl="0">
              <a:spcBef>
                <a:spcPts val="0"/>
              </a:spcBef>
              <a:spcAft>
                <a:spcPts val="0"/>
              </a:spcAft>
              <a:buNone/>
            </a:pPr>
            <a:endParaRPr/>
          </a:p>
          <a:p>
            <a:pPr marL="0" lvl="0" indent="0" algn="l" rtl="0">
              <a:spcBef>
                <a:spcPts val="0"/>
              </a:spcBef>
              <a:spcAft>
                <a:spcPts val="0"/>
              </a:spcAft>
              <a:buNone/>
            </a:pPr>
            <a:r>
              <a:rPr lang="en-US"/>
              <a:t>Now, looking at the category classification performance, we have achieved great results. Average training loss and accuracy </a:t>
            </a:r>
            <a:r>
              <a:rPr lang="en-US">
                <a:solidFill>
                  <a:schemeClr val="dk1"/>
                </a:solidFill>
              </a:rPr>
              <a:t>convergences to 0 </a:t>
            </a:r>
            <a:r>
              <a:rPr lang="en-US"/>
              <a:t>and 1 respectively after just 8 epochs. A 100% validation accuracy is pretty amazing on unseen test images even on defective items. The performance is great likely also because the categories are distinctively unique from each other. </a:t>
            </a:r>
            <a:endParaRPr/>
          </a:p>
          <a:p>
            <a:pPr marL="0" lvl="0" indent="0" algn="l" rtl="0">
              <a:spcBef>
                <a:spcPts val="0"/>
              </a:spcBef>
              <a:spcAft>
                <a:spcPts val="0"/>
              </a:spcAft>
              <a:buNone/>
            </a:pPr>
            <a:endParaRPr/>
          </a:p>
          <a:p>
            <a:pPr marL="0" lvl="0" indent="0" algn="l" rtl="0">
              <a:spcBef>
                <a:spcPts val="0"/>
              </a:spcBef>
              <a:spcAft>
                <a:spcPts val="0"/>
              </a:spcAft>
              <a:buNone/>
            </a:pPr>
            <a:r>
              <a:rPr lang="en-US">
                <a:solidFill>
                  <a:srgbClr val="991B1B"/>
                </a:solidFill>
              </a:rPr>
              <a:t>Again, we have to note that the model may be overfitted to our current training images and may likely perform poorly when the image capture conditions are altered. (lighting, different environments, variation of products, new product design). </a:t>
            </a:r>
            <a:endParaRPr>
              <a:solidFill>
                <a:srgbClr val="991B1B"/>
              </a:solidFill>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379" name="Google Shape;379;h3d51a6db47a0baff_0_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h71a4adb101b34c3b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h71a4adb101b34c3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5:30</a:t>
            </a:r>
            <a:r>
              <a:rPr lang="en-US" sz="1200"/>
              <a:t>–</a:t>
            </a:r>
            <a:r>
              <a:rPr lang="en-US"/>
              <a:t>6:00</a:t>
            </a:r>
            <a:r>
              <a:rPr lang="en-US" sz="1200"/>
              <a:t> (</a:t>
            </a:r>
            <a:r>
              <a:rPr lang="en-US"/>
              <a:t>30</a:t>
            </a:r>
            <a:r>
              <a:rPr lang="en-US" sz="1200"/>
              <a:t> seconds). Total presentation: 15:00.</a:t>
            </a:r>
            <a:endParaRPr/>
          </a:p>
          <a:p>
            <a:pPr marL="0" lvl="0" indent="0" algn="l" rtl="0">
              <a:spcBef>
                <a:spcPts val="0"/>
              </a:spcBef>
              <a:spcAft>
                <a:spcPts val="0"/>
              </a:spcAft>
              <a:buNone/>
            </a:pPr>
            <a:endParaRPr/>
          </a:p>
          <a:p>
            <a:pPr marL="0" lvl="0" indent="0" algn="l" rtl="0">
              <a:spcBef>
                <a:spcPts val="0"/>
              </a:spcBef>
              <a:spcAft>
                <a:spcPts val="0"/>
              </a:spcAft>
              <a:buNone/>
            </a:pPr>
            <a:r>
              <a:rPr lang="en-US"/>
              <a:t>However, the same cannot be said for our defect type classifier performance. </a:t>
            </a:r>
            <a:r>
              <a:rPr lang="en-US">
                <a:solidFill>
                  <a:schemeClr val="dk1"/>
                </a:solidFill>
              </a:rPr>
              <a:t>We can see performance varies between object and textures. It is also independent of the quantity of training and validation images.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Our mean validation accuracy is also poor at 65.9%, having been trained on an average of 59 images per category. We can clearly see that further refinements are needed to improve the model performance. </a:t>
            </a:r>
            <a:endParaRPr>
              <a:solidFill>
                <a:schemeClr val="dk1"/>
              </a:solidFill>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https://github.com/YeeFei93/VisionInspectAI/blob/8373bae3ef9537f05cd279c56c13abe1aec0f9e7/src/models/baseline_classifier.py</a:t>
            </a:r>
            <a:endParaRPr/>
          </a:p>
          <a:p>
            <a:pPr marL="0" lvl="0" indent="0" algn="l" rtl="0">
              <a:spcBef>
                <a:spcPts val="0"/>
              </a:spcBef>
              <a:spcAft>
                <a:spcPts val="0"/>
              </a:spcAft>
              <a:buNone/>
            </a:pPr>
            <a:r>
              <a:rPr lang="en-US" sz="1200"/>
              <a:t>https://github.com/YeeFei93/VisionInspectAI/blob/8373bae3ef9537f05cd279c56c13abe1aec0f9e7/src/models/train_kernel_classifiers.py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390" name="Google Shape;390;h71a4adb101b34c3b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h3d51a6db47a0baff_0_4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4" name="Google Shape;404;h3d51a6db47a0baf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6:00-6:15 (15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We decided to apply data augmentation techniques such as deterministic flips and 90 degree rotations and see that there is an improvement of 10.7 points in mean validation accuracy performance.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rgbClr val="991B1B"/>
                </a:solidFill>
              </a:rPr>
              <a:t>deterministic (horizontal and vertical)</a:t>
            </a:r>
            <a:endParaRPr>
              <a:solidFill>
                <a:srgbClr val="991B1B"/>
              </a:solidFill>
            </a:endParaRPr>
          </a:p>
          <a:p>
            <a:pPr marL="0" lvl="0" indent="0" algn="l" rtl="0">
              <a:spcBef>
                <a:spcPts val="0"/>
              </a:spcBef>
              <a:spcAft>
                <a:spcPts val="0"/>
              </a:spcAft>
              <a:buNone/>
            </a:pPr>
            <a:r>
              <a:rPr lang="en-US">
                <a:solidFill>
                  <a:srgbClr val="991B1B"/>
                </a:solidFill>
              </a:rPr>
              <a:t>augmentation only on defective training images. val images not augmented.</a:t>
            </a:r>
            <a:endParaRPr>
              <a:solidFill>
                <a:srgbClr val="991B1B"/>
              </a:solidFill>
            </a:endParaRPr>
          </a:p>
        </p:txBody>
      </p:sp>
      <p:sp>
        <p:nvSpPr>
          <p:cNvPr id="405" name="Google Shape;405;h3d51a6db47a0baf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75cabafce84fd247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5" name="Google Shape;415;h75cabafce84fd247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6:15-6:30 (15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We then re-ran the various pre-trained models on the augmented datasets and found that there were even better model performances.</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For example, ConvNeXt-Tiny had the best performance in all but 3 of the 14 categories.</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None/>
            </a:pPr>
            <a:r>
              <a:rPr lang="en-US">
                <a:solidFill>
                  <a:schemeClr val="dk1"/>
                </a:solidFill>
              </a:rPr>
              <a:t>Since there were 3 categories with room for improvement, we had to review if ensemble models would further improve defect type classification performance.</a:t>
            </a:r>
            <a:endParaRPr>
              <a:solidFill>
                <a:schemeClr val="dk1"/>
              </a:solidFill>
            </a:endParaRPr>
          </a:p>
        </p:txBody>
      </p:sp>
      <p:sp>
        <p:nvSpPr>
          <p:cNvPr id="416" name="Google Shape;416;h75cabafce84fd247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h75cabafce84fd247_0_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h75cabafce84fd247_0_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6:30-7:00 (30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So, when reviewing categories with room for improvement, we identified 4 categories - Bottle, Cable, Pill and Capsule.</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p:txBody>
      </p:sp>
      <p:sp>
        <p:nvSpPr>
          <p:cNvPr id="434" name="Google Shape;434;h75cabafce84fd247_0_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d21db74efde2d0b_2_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h5d21db74efde2d0b_2_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6:30-7:00 (30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Firstly, for Bottle and Cable they appear to have great performances across the single models.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Next, for Pill and Capsule, their best single model performances are only at about 76% accuracy and so, we want to evaluate using ensemble models on them.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p:txBody>
      </p:sp>
      <p:sp>
        <p:nvSpPr>
          <p:cNvPr id="443" name="Google Shape;443;h5d21db74efde2d0b_2_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h5d21db74efde2d0b_2_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1" name="Google Shape;451;h5d21db74efde2d0b_2_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6:30-7:00 (30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Firstly, for Bottle and Cable they appear to have great performances across the single models.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Next, for Pill and Capsule, their best single model performances are only at about 76% accuracy and so, we want to evaluate using ensemble models on them.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p:txBody>
      </p:sp>
      <p:sp>
        <p:nvSpPr>
          <p:cNvPr id="452" name="Google Shape;452;h5d21db74efde2d0b_2_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h5adeb616bbd9c3b0_0_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h5adeb616bbd9c3b0_0_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6:30-7:15 (45 seconds). Total presentation: 15:00.</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For Bottle and Cable, we re-evaluated both single and ensemble models with 3 repeats and 5-folds cross validation techniques to ensure model stability.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The final results concluded with</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ConvNeXt-Tiny reclaiming its 1st choice position for Bottle; and</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EfficientNet-B0 displaces DenseNet121 as top choice for Cable</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For these 2 categories, we stuck with the single models as the ensemble models’ marginal benefits of 1 to 3 image improvements does not really outweigh inference costs.</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p:txBody>
      </p:sp>
      <p:sp>
        <p:nvSpPr>
          <p:cNvPr id="461" name="Google Shape;461;h5adeb616bbd9c3b0_0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h34df98e288c5b089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8" name="Google Shape;498;h34df98e288c5b089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6:30-7:15 (45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Again, for Pill &amp; Cable’s we re-evaluated both single and ensemble models with the 3 repeats, 5-folds cross validation techniques.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The final results concluded with:</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a 4-model equal soft-vote ensemble for Pill displacing DenseNet121 &amp; ConvNeXt-Tiny; and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a single ConvNeXt-Tiny model for Capsule - as the ensemble models did not hold up and only improved (+3 images improvement across the 3 repeats are within noise) the inference costs did not justify the implementation of an ensemble model.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Ensemble model finally works for 1 category with a +9 image improvement across 3 repeats for Pill.</a:t>
            </a:r>
            <a:endParaRPr>
              <a:solidFill>
                <a:schemeClr val="dk1"/>
              </a:solidFill>
            </a:endParaRPr>
          </a:p>
        </p:txBody>
      </p:sp>
      <p:sp>
        <p:nvSpPr>
          <p:cNvPr id="499" name="Google Shape;499;h34df98e288c5b089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h3d51a6db47a0baff_0_6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3" name="Google Shape;533;h3d51a6db47a0baff_0_6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7:15-7:30 (15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With that, our final model architecture for defect type classifier is a hybrid of category-routed ConvNeXt-Tiny model, and EfficientNet for Cable and a 4-model soft vote ensemble for Pill. This leads us to a overall improvement of (25.7pts) against the initial ResNet18 baseline model without data augmentation. </a:t>
            </a:r>
            <a:endParaRPr>
              <a:solidFill>
                <a:schemeClr val="dk1"/>
              </a:solidFill>
            </a:endParaRPr>
          </a:p>
        </p:txBody>
      </p:sp>
      <p:sp>
        <p:nvSpPr>
          <p:cNvPr id="534" name="Google Shape;534;h3d51a6db47a0baff_0_6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h643a9da4f58e0660_0_0:notes"/>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h643a9da4f58e0660_0_0:notes"/>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h643a9da4f58e0660_0_0:notes"/>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1" name="Google Shape;561;h643a9da4f58e0660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solidFill>
                  <a:schemeClr val="dk1"/>
                </a:solidFill>
              </a:rPr>
              <a:t>TIMING: 3:15–4:30 (75 seconds). Total presentation: 15:00.</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Let us now share about the System Architecture. The Streamlit interface first receives an input image and supplies it to the Inspection Pipeline.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 category classifier using Supervised Learning ResNet18 model then routes it to one of the 15 category artifacts. An automatic multi-class routing is done when the category confidence is above 60 percent. The selected category then determines the model configuration, memory bank, thresholds, and defect-type model to be used.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Next, our Unsupervised PatchCore Anomaly Detector will produce an image anomaly score and an anomaly heatmap. When threshold limits are exceeded, the defect type classifier will be triggered. Area-based severity scores and defect crops will also be triggered.</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Once an anomaly is detected, the image is routed to a category-specific defect type classifier. The majority of the defect type classifiers uses ConvNeXt-Tiny models except for Cable and pill. Cable uses DenseNet121, and pill uses a 4-model soft-vote ensemble model.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Finally, our inspection pipeline returns an Inspection Result for the Streamlit App containing the Category Classification, Anomaly Scores, Heatmap, Defect Type and Severity Scores. </a:t>
            </a:r>
            <a:endParaRPr>
              <a:solidFill>
                <a:schemeClr val="dk1"/>
              </a:solidFill>
            </a:endParaRPr>
          </a:p>
          <a:p>
            <a:pPr marL="0" lvl="0" indent="0" algn="l" rtl="0">
              <a:spcBef>
                <a:spcPts val="0"/>
              </a:spcBef>
              <a:spcAft>
                <a:spcPts val="0"/>
              </a:spcAft>
              <a:buClr>
                <a:schemeClr val="dk1"/>
              </a:buClr>
              <a:buFont typeface="Arial"/>
              <a:buNone/>
            </a:pP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SOURCES</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https://github.com/YeeFei93/VisionInspectAI/blob/8373bae3ef9537f05cd279c56c13abe1aec0f9e7/src/inference/inspection_pipeline.py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https://github.com/YeeFei93/VisionInspectAI/blob/8373bae3ef9537f05cd279c56c13abe1aec0f9e7/app/streamlit_app.py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https://github.com/YeeFei93/VisionInspectAI/blob/8373bae3ef9537f05cd279c56c13abe1aec0f9e7/src/models/run_ensemble.py</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Repository snapshot: 8373bae3ef9537f05cd279c56c13abe1aec0f9e7, reviewed 25 September 2026. Reported experimental metrics come from README tables, not a new model run.</a:t>
            </a:r>
            <a:endParaRPr>
              <a:solidFill>
                <a:schemeClr val="dk1"/>
              </a:solidFill>
            </a:endParaRPr>
          </a:p>
          <a:p>
            <a:pPr marL="0" lvl="0" indent="0" algn="l" rtl="0">
              <a:spcBef>
                <a:spcPts val="0"/>
              </a:spcBef>
              <a:spcAft>
                <a:spcPts val="0"/>
              </a:spcAft>
              <a:buNone/>
            </a:pPr>
            <a:endParaRPr/>
          </a:p>
        </p:txBody>
      </p:sp>
      <p:sp>
        <p:nvSpPr>
          <p:cNvPr id="562" name="Google Shape;562;h643a9da4f58e0660_0_0:notes"/>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h643a9da4f58e0660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8" name="Google Shape;618;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8:55–9:50 (55 seconds). Total presentation: 15:00.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We evaluate several capabilities rather than compressing the project into one accuracy number. Image AUROC measures whether defective images generally receive higher anomaly scores than normal images across thresholds. Accuracy, precision, recall, and F1 describe the binary decision at a chosen threshold. Pixel AUROC measures ranking of defect pixels against normal pixels. IoU and Dice measure overlap between a thresholded prediction and the annotated defect. These quantities can disagree: a heatmap can point to the right area but still cover too much background. Defect-type accuracy, macro F1, and confusion matrices examine mistakes between named defects. For a production claim, we would also measure inference time, memory use, rejection rates, and performance across new capture sessions. Those operational measurements are future evaluation work.</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https://github.com/YeeFei93/VisionInspectAI/blob/8373bae3ef9537f05cd279c56c13abe1aec0f9e7/src/evaluation/metrics.py</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619" name="Google Shape;619;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6" name="Google Shape;62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5:35–6:55 (80 seconds). Total presentation: 15:00.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PatchCore uses a frozen ImageNet-pretrained CNN as a feature extractor. We take intermediate feature maps so that each location describes a local image patch. During fitting, normal images supply a large set of patch features. Greedy k-center coreset selection keeps a representative subset in a memory bank. The baseline screw configuration caps this at 2,000 patches and uses a 128-dimensional projection for selection. The stored memory features retain their original dimensions. At inference, each query patch is compared with the normal memory bank. A larger nearest-neighbor distance means a less familiar patch. The largest patch score gives the default image score, and the spatial scores form the heatmap. This is useful for defects without training labels, but different lighting or backgrounds can also appear unfamiliar. Foreground masking therefore remains category-specific.</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https://github.com/YeeFei93/VisionInspectAI/blob/8373bae3ef9537f05cd279c56c13abe1aec0f9e7/src/models/anomaly_detector.py</a:t>
            </a:r>
            <a:endParaRPr/>
          </a:p>
          <a:p>
            <a:pPr marL="0" lvl="0" indent="0" algn="l" rtl="0">
              <a:spcBef>
                <a:spcPts val="0"/>
              </a:spcBef>
              <a:spcAft>
                <a:spcPts val="0"/>
              </a:spcAft>
              <a:buNone/>
            </a:pPr>
            <a:r>
              <a:rPr lang="en-US" sz="1200"/>
              <a:t>https://github.com/YeeFei93/VisionInspectAI/blob/8373bae3ef9537f05cd279c56c13abe1aec0f9e7/config/screw_config.yaml</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627" name="Google Shape;62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h643a9da4f58e0660_0_5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h643a9da4f58e0660_0_59: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h643a9da4f58e0660_0_59: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h1cf66d82b0b9bf53_1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h1cf66d82b0b9bf53_1_2: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h1cf66d82b0b9bf53_1_2: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h643a9da4f58e0660_0_6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h643a9da4f58e0660_0_69: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h643a9da4f58e0660_0_69: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5" name="Google Shape;69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13:15–14:30 (75 seconds). Total presentation: 15:00.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This is a frame from the repository's recorded demonstration. Walk from left to right: the original hazelnut image contains a printed mark, the anomaly map highlights an unusual region, the defect-type view identifies print, and the final overlay places the response back onto the product. Below, the application reports a defective verdict, an anomaly score, and high severity. The score is a distance-based anomaly measure, not a calibrated probability. Likewise, the displayed 100 percent classifier confidence on this individual example is not overall accuracy. The current app supports automatic category detection, a manual override, and optional defect typing. Use this screenshot as the demonstration within the timing budget. A live run would require the trained checkpoints and metric files, which the repository excludes. The linked source video remains available for a longer walkthrough outside the 15-minute talk.</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https://github.com/YeeFei93/VisionInspectAI/blob/8373bae3ef9537f05cd279c56c13abe1aec0f9e7/VisionInspectAI%20quick%20demo.mp4</a:t>
            </a:r>
            <a:endParaRPr/>
          </a:p>
          <a:p>
            <a:pPr marL="0" lvl="0" indent="0" algn="l" rtl="0">
              <a:spcBef>
                <a:spcPts val="0"/>
              </a:spcBef>
              <a:spcAft>
                <a:spcPts val="0"/>
              </a:spcAft>
              <a:buNone/>
            </a:pPr>
            <a:r>
              <a:rPr lang="en-US" sz="1200"/>
              <a:t>https://github.com/YeeFei93/VisionInspectAI/blob/8373bae3ef9537f05cd279c56c13abe1aec0f9e7/app/streamlit_app.py</a:t>
            </a:r>
            <a:endParaRPr/>
          </a:p>
          <a:p>
            <a:pPr marL="0" lvl="0" indent="0" algn="l" rtl="0">
              <a:spcBef>
                <a:spcPts val="0"/>
              </a:spcBef>
              <a:spcAft>
                <a:spcPts val="0"/>
              </a:spcAft>
              <a:buNone/>
            </a:pPr>
            <a:r>
              <a:rPr lang="en-US" sz="1200"/>
              <a:t>https://github.com/YeeFei93/VisionInspectAI/blob/8373bae3ef9537f05cd279c56c13abe1aec0f9e7/src/inference/inspection_pipeline.py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696" name="Google Shape;69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h62dfe8351d842ea3_0_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h62dfe8351d842ea3_0_6: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h62dfe8351d842ea3_0_6: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h7ea9e1c411d3302d_0_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0" name="Google Shape;710;h7ea9e1c411d3302d_0_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4</a:t>
            </a:r>
            <a:r>
              <a:rPr lang="en-US" sz="1200"/>
              <a:t>:</a:t>
            </a:r>
            <a:r>
              <a:rPr lang="en-US"/>
              <a:t>1</a:t>
            </a:r>
            <a:r>
              <a:rPr lang="en-US" sz="1200"/>
              <a:t>5–</a:t>
            </a:r>
            <a:r>
              <a:rPr lang="en-US"/>
              <a:t>5</a:t>
            </a:r>
            <a:r>
              <a:rPr lang="en-US" sz="1200"/>
              <a:t>:</a:t>
            </a:r>
            <a:r>
              <a:rPr lang="en-US"/>
              <a:t>1</a:t>
            </a:r>
            <a:r>
              <a:rPr lang="en-US" sz="1200"/>
              <a:t>5 (60 seconds). Total presentation: 15:00.</a:t>
            </a:r>
            <a:endParaRPr/>
          </a:p>
          <a:p>
            <a:pPr marL="0" lvl="0" indent="0" algn="l" rtl="0">
              <a:spcBef>
                <a:spcPts val="0"/>
              </a:spcBef>
              <a:spcAft>
                <a:spcPts val="0"/>
              </a:spcAft>
              <a:buNone/>
            </a:pPr>
            <a:endParaRPr/>
          </a:p>
          <a:p>
            <a:pPr marL="0" lvl="0" indent="0" algn="l" rtl="0">
              <a:spcBef>
                <a:spcPts val="0"/>
              </a:spcBef>
              <a:spcAft>
                <a:spcPts val="0"/>
              </a:spcAft>
              <a:buNone/>
            </a:pPr>
            <a:r>
              <a:rPr lang="en-US"/>
              <a:t>We started off first with a baseline normal/defective classifier to compare model parameters and performances across a small subset of 5 categories. </a:t>
            </a:r>
            <a:r>
              <a:rPr lang="en-US" sz="1200"/>
              <a:t>Five neural architectures (simple convolution NN, EfficientNet-B0, ResNet18, ConvNe</a:t>
            </a:r>
            <a:r>
              <a:rPr lang="en-US"/>
              <a:t>Xt-Tiny, Vision Transformer) </a:t>
            </a:r>
            <a:r>
              <a:rPr lang="en-US" sz="1200"/>
              <a:t>share the same </a:t>
            </a:r>
            <a:r>
              <a:rPr lang="en-US"/>
              <a:t>test data </a:t>
            </a:r>
            <a:r>
              <a:rPr lang="en-US" sz="1200"/>
              <a:t>binary split and a maximum ten-epoch training budget. Simple CNN model trains from scratch while the other </a:t>
            </a:r>
            <a:r>
              <a:rPr lang="en-US">
                <a:solidFill>
                  <a:schemeClr val="dk1"/>
                </a:solidFill>
              </a:rPr>
              <a:t>four use ImageNet transfer learning.</a:t>
            </a:r>
            <a:r>
              <a:rPr lang="en-US" sz="1200"/>
              <a:t> </a:t>
            </a:r>
            <a:endParaRPr sz="1200"/>
          </a:p>
          <a:p>
            <a:pPr marL="0" lvl="0" indent="0" algn="l" rtl="0">
              <a:spcBef>
                <a:spcPts val="0"/>
              </a:spcBef>
              <a:spcAft>
                <a:spcPts val="0"/>
              </a:spcAft>
              <a:buNone/>
            </a:pPr>
            <a:r>
              <a:rPr lang="en-US"/>
              <a:t>Given the model parameters and validation accuracy comparisons, ResNet18 seems to perform best across the models and categories. </a:t>
            </a:r>
            <a:endParaRPr/>
          </a:p>
          <a:p>
            <a:pPr marL="0" lvl="0" indent="0" algn="l" rtl="0">
              <a:spcBef>
                <a:spcPts val="0"/>
              </a:spcBef>
              <a:spcAft>
                <a:spcPts val="0"/>
              </a:spcAft>
              <a:buNone/>
            </a:pPr>
            <a:endParaRPr/>
          </a:p>
          <a:p>
            <a:pPr marL="0" lvl="0" indent="0" algn="l" rtl="0">
              <a:spcBef>
                <a:spcPts val="0"/>
              </a:spcBef>
              <a:spcAft>
                <a:spcPts val="0"/>
              </a:spcAft>
              <a:buNone/>
            </a:pPr>
            <a:r>
              <a:rPr lang="en-US"/>
              <a:t>We </a:t>
            </a:r>
            <a:r>
              <a:rPr lang="en-US" sz="1200"/>
              <a:t>also compare</a:t>
            </a:r>
            <a:r>
              <a:rPr lang="en-US"/>
              <a:t>d</a:t>
            </a:r>
            <a:r>
              <a:rPr lang="en-US" sz="1200"/>
              <a:t> classical approaches: PCA plus Linear </a:t>
            </a:r>
            <a:r>
              <a:rPr lang="en-US"/>
              <a:t>Discriminant Analysis (</a:t>
            </a:r>
            <a:r>
              <a:rPr lang="en-US" sz="1200"/>
              <a:t>LDA), Radial-Based </a:t>
            </a:r>
            <a:r>
              <a:rPr lang="en-US"/>
              <a:t>Function (</a:t>
            </a:r>
            <a:r>
              <a:rPr lang="en-US" sz="1200"/>
              <a:t>RBF) NNs, General Regression NNs (GRNN), and </a:t>
            </a:r>
            <a:r>
              <a:rPr lang="en-US"/>
              <a:t>Self-Organizing Maps (SOM) </a:t>
            </a:r>
            <a:r>
              <a:rPr lang="en-US" sz="1200"/>
              <a:t>on frozen ResNet18 embeddings. They did poorer in </a:t>
            </a:r>
            <a:r>
              <a:rPr lang="en-US"/>
              <a:t>general</a:t>
            </a:r>
            <a:r>
              <a:rPr lang="en-US" sz="1200"/>
              <a:t> than just the baseline ResNet</a:t>
            </a:r>
            <a:r>
              <a:rPr lang="en-US"/>
              <a:t>18 classifiers. </a:t>
            </a:r>
            <a:r>
              <a:rPr lang="en-US" sz="1200"/>
              <a:t>These experiments explore whether simpler models suit limited data and whether the feature space separates categories or defect types.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https://github.com/YeeFei93/VisionInspectAI/blob/8373bae3ef9537f05cd279c56c13abe1aec0f9e7/src/models/baseline_classifier.py</a:t>
            </a:r>
            <a:endParaRPr/>
          </a:p>
          <a:p>
            <a:pPr marL="0" lvl="0" indent="0" algn="l" rtl="0">
              <a:spcBef>
                <a:spcPts val="0"/>
              </a:spcBef>
              <a:spcAft>
                <a:spcPts val="0"/>
              </a:spcAft>
              <a:buNone/>
            </a:pPr>
            <a:r>
              <a:rPr lang="en-US" sz="1200"/>
              <a:t>https://github.com/YeeFei93/VisionInspectAI/blob/8373bae3ef9537f05cd279c56c13abe1aec0f9e7/src/models/train_kernel_classifiers.py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711" name="Google Shape;711;h7ea9e1c411d3302d_0_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h48043f3f66c9ba31_0_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0" name="Google Shape;720;h48043f3f66c9ba31_0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7:00</a:t>
            </a:r>
            <a:r>
              <a:rPr lang="en-US" sz="1200"/>
              <a:t>–7:</a:t>
            </a:r>
            <a:r>
              <a:rPr lang="en-US"/>
              <a:t>30</a:t>
            </a:r>
            <a:r>
              <a:rPr lang="en-US" sz="1200"/>
              <a:t> (</a:t>
            </a:r>
            <a:r>
              <a:rPr lang="en-US"/>
              <a:t>3</a:t>
            </a:r>
            <a:r>
              <a:rPr lang="en-US" sz="1200"/>
              <a:t>0 seconds). Total presentation: 15:00.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a:solidFill>
                  <a:schemeClr val="dk1"/>
                </a:solidFill>
              </a:rPr>
              <a:t>Unlike the baseline normal/defective and category classifiers, a fine-grained defect-type classifier's accuracy depends heavily on how visually distinguishable that category's specific defect types are from each other, not just on how many classes or how many total images there are. We can see performance varies between object and textures, and the quantity of train and validation datasets does not appear to affect performance.</a:t>
            </a:r>
            <a:endParaRPr>
              <a:solidFill>
                <a:schemeClr val="dk1"/>
              </a:solidFill>
            </a:endParaRPr>
          </a:p>
          <a:p>
            <a:pPr marL="0" lvl="0" indent="0" algn="l" rtl="0">
              <a:spcBef>
                <a:spcPts val="0"/>
              </a:spcBef>
              <a:spcAft>
                <a:spcPts val="0"/>
              </a:spcAft>
              <a:buNone/>
            </a:pPr>
            <a:r>
              <a:rPr lang="en-US">
                <a:solidFill>
                  <a:schemeClr val="dk1"/>
                </a:solidFill>
              </a:rPr>
              <a:t>What matters is whether the defect types are sufficiently distinct from each other, and also if we have sufficient training dataset for that.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Screw (0.444) and grid (0.222) are cases where the defect types are inherently subtle or overlapping even with more training data; leather (0.964) and tile (0.923) succeed because their defect types are visually distinct phenomena. The task is fundamentally harder than object-category detection (100% accuracy across all eight categories) or binary normal/defective classification (both are coarser-grained decisions with better natural class separation).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As we complete the supervised deep learning techniques, we realized that our solution still lacks the ability to identify the location of the defects. Hence the need for our next unsupervised deep learning method to do so.</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https://github.com/YeeFei93/VisionInspectAI/blob/8373bae3ef9537f05cd279c56c13abe1aec0f9e7/src/models/baseline_classifier.py</a:t>
            </a:r>
            <a:endParaRPr/>
          </a:p>
          <a:p>
            <a:pPr marL="0" lvl="0" indent="0" algn="l" rtl="0">
              <a:spcBef>
                <a:spcPts val="0"/>
              </a:spcBef>
              <a:spcAft>
                <a:spcPts val="0"/>
              </a:spcAft>
              <a:buNone/>
            </a:pPr>
            <a:r>
              <a:rPr lang="en-US" sz="1200"/>
              <a:t>https://github.com/YeeFei93/VisionInspectAI/blob/8373bae3ef9537f05cd279c56c13abe1aec0f9e7/src/models/train_kernel_classifiers.py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721" name="Google Shape;721;h48043f3f66c9ba31_0_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h48043f3f66c9ba31_0_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0" name="Google Shape;750;h48043f3f66c9ba31_0_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a:t>
            </a:r>
            <a:r>
              <a:rPr lang="en-US"/>
              <a:t>7:00</a:t>
            </a:r>
            <a:r>
              <a:rPr lang="en-US" sz="1200"/>
              <a:t>–7:</a:t>
            </a:r>
            <a:r>
              <a:rPr lang="en-US"/>
              <a:t>30</a:t>
            </a:r>
            <a:r>
              <a:rPr lang="en-US" sz="1200"/>
              <a:t> (</a:t>
            </a:r>
            <a:r>
              <a:rPr lang="en-US"/>
              <a:t>3</a:t>
            </a:r>
            <a:r>
              <a:rPr lang="en-US" sz="1200"/>
              <a:t>0 seconds). Total presentation: 15:00.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a:solidFill>
                  <a:schemeClr val="dk1"/>
                </a:solidFill>
              </a:rPr>
              <a:t>Unlike the baseline normal/defective and category classifiers, a fine-grained defect-type classifier's accuracy depends heavily on how visually distinguishable that category's specific defect types are from each other, not just on how many classes or how many total images there are. We can see performance varies between object and textures, and the quantity of train and validation datasets does not appear to affect performance.</a:t>
            </a:r>
            <a:endParaRPr>
              <a:solidFill>
                <a:schemeClr val="dk1"/>
              </a:solidFill>
            </a:endParaRPr>
          </a:p>
          <a:p>
            <a:pPr marL="0" lvl="0" indent="0" algn="l" rtl="0">
              <a:spcBef>
                <a:spcPts val="0"/>
              </a:spcBef>
              <a:spcAft>
                <a:spcPts val="0"/>
              </a:spcAft>
              <a:buNone/>
            </a:pPr>
            <a:r>
              <a:rPr lang="en-US">
                <a:solidFill>
                  <a:schemeClr val="dk1"/>
                </a:solidFill>
              </a:rPr>
              <a:t>What matters is whether the defect types are sufficiently distinct from each other, and also if we have sufficient training dataset for that.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Screw (0.444) and grid (0.222) are cases where the defect types are inherently subtle or overlapping even with more training data; leather (0.964) and tile (0.923) succeed because their defect types are visually distinct phenomena. The task is fundamentally harder than object-category detection (100% accuracy across all eight categories) or binary normal/defective classification (both are coarser-grained decisions with better natural class separation).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As we complete the supervised deep learning techniques, we realized that our solution still lacks the ability to identify the location of the defects. Hence the need for our next unsupervised deep learning method to do so.</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https://github.com/YeeFei93/VisionInspectAI/blob/8373bae3ef9537f05cd279c56c13abe1aec0f9e7/README.md</a:t>
            </a:r>
            <a:endParaRPr/>
          </a:p>
          <a:p>
            <a:pPr marL="0" lvl="0" indent="0" algn="l" rtl="0">
              <a:spcBef>
                <a:spcPts val="0"/>
              </a:spcBef>
              <a:spcAft>
                <a:spcPts val="0"/>
              </a:spcAft>
              <a:buNone/>
            </a:pPr>
            <a:r>
              <a:rPr lang="en-US" sz="1200"/>
              <a:t>https://github.com/YeeFei93/VisionInspectAI/blob/8373bae3ef9537f05cd279c56c13abe1aec0f9e7/src/models/baseline_classifier.py</a:t>
            </a:r>
            <a:endParaRPr/>
          </a:p>
          <a:p>
            <a:pPr marL="0" lvl="0" indent="0" algn="l" rtl="0">
              <a:spcBef>
                <a:spcPts val="0"/>
              </a:spcBef>
              <a:spcAft>
                <a:spcPts val="0"/>
              </a:spcAft>
              <a:buNone/>
            </a:pPr>
            <a:r>
              <a:rPr lang="en-US" sz="1200"/>
              <a:t>https://github.com/YeeFei93/VisionInspectAI/blob/8373bae3ef9537f05cd279c56c13abe1aec0f9e7/src/models/train_kernel_classifiers.py</a:t>
            </a:r>
            <a:endParaRPr/>
          </a:p>
          <a:p>
            <a:pPr marL="0" lvl="0" indent="0" algn="l" rtl="0">
              <a:spcBef>
                <a:spcPts val="0"/>
              </a:spcBef>
              <a:spcAft>
                <a:spcPts val="0"/>
              </a:spcAft>
              <a:buNone/>
            </a:pPr>
            <a:r>
              <a:rPr lang="en-US" sz="1200"/>
              <a:t>Repository snapshot: 8373bae3ef9537f05cd279c56c13abe1aec0f9e7, reviewed 25 September 2026. Reported experimental metrics come from README tables, not a new model run.</a:t>
            </a:r>
            <a:endParaRPr/>
          </a:p>
        </p:txBody>
      </p:sp>
      <p:sp>
        <p:nvSpPr>
          <p:cNvPr id="751" name="Google Shape;751;h48043f3f66c9ba31_0_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comments" Target="../comments/comment1.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mvtec.com/research-teaching/datasets/mvtec-ad"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arxiv.org/pdf/2106.08265" TargetMode="External"/><Relationship Id="rId4" Type="http://schemas.openxmlformats.org/officeDocument/2006/relationships/hyperlink" Target="https://medium.com/@kdk199604/patchcore-rethinking-cold-start-industrial-anomaly-detection-with-patch-level-memory-c2d62678365b"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34.png"/><Relationship Id="rId12"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30.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png"/><Relationship Id="rId3" Type="http://schemas.openxmlformats.org/officeDocument/2006/relationships/image" Target="../media/image10.png"/><Relationship Id="rId7" Type="http://schemas.openxmlformats.org/officeDocument/2006/relationships/image" Target="../media/image43.png"/><Relationship Id="rId12"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6.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11.png"/><Relationship Id="rId1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93A"/>
        </a:solidFill>
        <a:effectLst/>
      </p:bgPr>
    </p:bg>
    <p:spTree>
      <p:nvGrpSpPr>
        <p:cNvPr id="1" name="Shape 15"/>
        <p:cNvGrpSpPr/>
        <p:nvPr/>
      </p:nvGrpSpPr>
      <p:grpSpPr>
        <a:xfrm>
          <a:off x="0" y="0"/>
          <a:ext cx="0" cy="0"/>
          <a:chOff x="0" y="0"/>
          <a:chExt cx="0" cy="0"/>
        </a:xfrm>
      </p:grpSpPr>
      <p:sp>
        <p:nvSpPr>
          <p:cNvPr id="16" name="Google Shape;16;p1"/>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FFFFFF"/>
                </a:solidFill>
                <a:latin typeface="Verdana"/>
                <a:ea typeface="Verdana"/>
                <a:cs typeface="Verdana"/>
                <a:sym typeface="Verdana"/>
              </a:rPr>
              <a:t>VisionInspectAI</a:t>
            </a:r>
            <a:endParaRPr/>
          </a:p>
        </p:txBody>
      </p:sp>
      <p:sp>
        <p:nvSpPr>
          <p:cNvPr id="17" name="Google Shape;17;p1"/>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A9BDC9"/>
                </a:solidFill>
                <a:latin typeface="Verdana"/>
                <a:ea typeface="Verdana"/>
                <a:cs typeface="Verdana"/>
                <a:sym typeface="Verdana"/>
              </a:rPr>
              <a:t>01</a:t>
            </a:r>
            <a:endParaRPr/>
          </a:p>
        </p:txBody>
      </p:sp>
      <p:sp>
        <p:nvSpPr>
          <p:cNvPr id="18" name="Google Shape;18;p1"/>
          <p:cNvSpPr/>
          <p:nvPr/>
        </p:nvSpPr>
        <p:spPr>
          <a:xfrm>
            <a:off x="609600" y="2286000"/>
            <a:ext cx="10287000" cy="1238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50" b="0">
                <a:solidFill>
                  <a:srgbClr val="FFFFFF"/>
                </a:solidFill>
                <a:latin typeface="Verdana"/>
                <a:ea typeface="Verdana"/>
                <a:cs typeface="Verdana"/>
                <a:sym typeface="Verdana"/>
              </a:rPr>
              <a:t>Visual defect detection and classification</a:t>
            </a:r>
            <a:endParaRPr/>
          </a:p>
          <a:p>
            <a:pPr marL="0" marR="0" lvl="0" indent="0" algn="l" rtl="0">
              <a:spcBef>
                <a:spcPts val="0"/>
              </a:spcBef>
              <a:spcAft>
                <a:spcPts val="0"/>
              </a:spcAft>
              <a:buNone/>
            </a:pPr>
            <a:r>
              <a:rPr lang="en-US" sz="2850" b="0">
                <a:solidFill>
                  <a:srgbClr val="FFFFFF"/>
                </a:solidFill>
                <a:latin typeface="Verdana"/>
                <a:ea typeface="Verdana"/>
                <a:cs typeface="Verdana"/>
                <a:sym typeface="Verdana"/>
              </a:rPr>
              <a:t>for industrial manufacturing products</a:t>
            </a:r>
            <a:endParaRPr/>
          </a:p>
        </p:txBody>
      </p:sp>
      <p:sp>
        <p:nvSpPr>
          <p:cNvPr id="19" name="Google Shape;19;p1"/>
          <p:cNvSpPr/>
          <p:nvPr/>
        </p:nvSpPr>
        <p:spPr>
          <a:xfrm>
            <a:off x="609600" y="4381500"/>
            <a:ext cx="9525000" cy="495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00" b="0">
                <a:solidFill>
                  <a:srgbClr val="75D2D5"/>
                </a:solidFill>
                <a:latin typeface="Verdana"/>
                <a:ea typeface="Verdana"/>
                <a:cs typeface="Verdana"/>
                <a:sym typeface="Verdana"/>
              </a:rPr>
              <a:t>Project Final </a:t>
            </a:r>
            <a:r>
              <a:rPr lang="en-US" sz="2100">
                <a:solidFill>
                  <a:srgbClr val="75D2D5"/>
                </a:solidFill>
                <a:latin typeface="Verdana"/>
                <a:ea typeface="Verdana"/>
                <a:cs typeface="Verdana"/>
                <a:sym typeface="Verdana"/>
              </a:rPr>
              <a:t>P</a:t>
            </a:r>
            <a:r>
              <a:rPr lang="en-US" sz="2100" b="0">
                <a:solidFill>
                  <a:srgbClr val="75D2D5"/>
                </a:solidFill>
                <a:latin typeface="Verdana"/>
                <a:ea typeface="Verdana"/>
                <a:cs typeface="Verdana"/>
                <a:sym typeface="Verdana"/>
              </a:rPr>
              <a:t>resentation, </a:t>
            </a:r>
            <a:r>
              <a:rPr lang="en-US" sz="2100">
                <a:solidFill>
                  <a:srgbClr val="75D2D5"/>
                </a:solidFill>
                <a:latin typeface="Verdana"/>
                <a:ea typeface="Verdana"/>
                <a:cs typeface="Verdana"/>
                <a:sym typeface="Verdana"/>
              </a:rPr>
              <a:t>Group 19</a:t>
            </a:r>
            <a:endParaRPr/>
          </a:p>
        </p:txBody>
      </p:sp>
      <p:sp>
        <p:nvSpPr>
          <p:cNvPr id="20" name="Google Shape;20;p1"/>
          <p:cNvSpPr/>
          <p:nvPr/>
        </p:nvSpPr>
        <p:spPr>
          <a:xfrm>
            <a:off x="609600" y="5095875"/>
            <a:ext cx="8572500" cy="38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25">
                <a:solidFill>
                  <a:srgbClr val="A9BDC9"/>
                </a:solidFill>
                <a:latin typeface="Verdana"/>
                <a:ea typeface="Verdana"/>
                <a:cs typeface="Verdana"/>
                <a:sym typeface="Verdana"/>
              </a:rPr>
              <a:t>Loh Kian Chee, A0339775J</a:t>
            </a:r>
            <a:endParaRPr sz="1725">
              <a:solidFill>
                <a:srgbClr val="A9BDC9"/>
              </a:solidFill>
              <a:latin typeface="Verdana"/>
              <a:ea typeface="Verdana"/>
              <a:cs typeface="Verdana"/>
              <a:sym typeface="Verdana"/>
            </a:endParaRPr>
          </a:p>
          <a:p>
            <a:pPr marL="0" marR="0" lvl="0" indent="0" algn="l" rtl="0">
              <a:spcBef>
                <a:spcPts val="0"/>
              </a:spcBef>
              <a:spcAft>
                <a:spcPts val="0"/>
              </a:spcAft>
              <a:buClr>
                <a:srgbClr val="000000"/>
              </a:buClr>
              <a:buFont typeface="Arial"/>
              <a:buNone/>
            </a:pPr>
            <a:r>
              <a:rPr lang="en-US" sz="1725">
                <a:solidFill>
                  <a:srgbClr val="A9BDC9"/>
                </a:solidFill>
                <a:latin typeface="Verdana"/>
                <a:ea typeface="Verdana"/>
                <a:cs typeface="Verdana"/>
                <a:sym typeface="Verdana"/>
              </a:rPr>
              <a:t>Sim Yee Fei, A0339751W</a:t>
            </a:r>
            <a:endParaRPr sz="1725">
              <a:solidFill>
                <a:srgbClr val="A9BDC9"/>
              </a:solidFill>
              <a:latin typeface="Verdana"/>
              <a:ea typeface="Verdana"/>
              <a:cs typeface="Verdana"/>
              <a:sym typeface="Verdana"/>
            </a:endParaRPr>
          </a:p>
          <a:p>
            <a:pPr marL="0" marR="0" lvl="0" indent="0" algn="l" rtl="0">
              <a:spcBef>
                <a:spcPts val="0"/>
              </a:spcBef>
              <a:spcAft>
                <a:spcPts val="0"/>
              </a:spcAft>
              <a:buNone/>
            </a:pPr>
            <a:endParaRPr sz="1725">
              <a:solidFill>
                <a:srgbClr val="A9BDC9"/>
              </a:solidFill>
              <a:latin typeface="Verdana"/>
              <a:ea typeface="Verdana"/>
              <a:cs typeface="Verdana"/>
              <a:sym typeface="Verdana"/>
            </a:endParaRPr>
          </a:p>
          <a:p>
            <a:pPr marL="0" marR="0" lvl="0" indent="0" algn="l" rtl="0">
              <a:spcBef>
                <a:spcPts val="0"/>
              </a:spcBef>
              <a:spcAft>
                <a:spcPts val="0"/>
              </a:spcAft>
              <a:buNone/>
            </a:pPr>
            <a:r>
              <a:rPr lang="en-US" sz="1725">
                <a:solidFill>
                  <a:srgbClr val="A9BDC9"/>
                </a:solidFill>
                <a:latin typeface="Verdana"/>
                <a:ea typeface="Verdana"/>
                <a:cs typeface="Verdana"/>
                <a:sym typeface="Verdana"/>
              </a:rPr>
              <a:t>31 October 2026</a:t>
            </a:r>
            <a:endParaRPr sz="1725">
              <a:solidFill>
                <a:srgbClr val="A9BDC9"/>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h7ea9e1c411d3302d_0_5" descr="Beautify this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pic>
        <p:nvPicPr>
          <p:cNvPr id="32" name="Google Shape;32;h281b0b1e5829137b_0_5"/>
          <p:cNvPicPr preferRelativeResize="0"/>
          <p:nvPr/>
        </p:nvPicPr>
        <p:blipFill>
          <a:blip r:embed="rId3">
            <a:alphaModFix/>
          </a:blip>
          <a:stretch>
            <a:fillRect/>
          </a:stretch>
        </p:blipFill>
        <p:spPr>
          <a:xfrm>
            <a:off x="740950" y="1362075"/>
            <a:ext cx="6741997" cy="4937800"/>
          </a:xfrm>
          <a:prstGeom prst="rect">
            <a:avLst/>
          </a:prstGeom>
          <a:noFill/>
          <a:ln>
            <a:noFill/>
          </a:ln>
        </p:spPr>
      </p:pic>
      <p:sp>
        <p:nvSpPr>
          <p:cNvPr id="33" name="Google Shape;33;h281b0b1e5829137b_0_5"/>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MVTec AD Dataset</a:t>
            </a:r>
            <a:endParaRPr/>
          </a:p>
        </p:txBody>
      </p:sp>
      <p:sp>
        <p:nvSpPr>
          <p:cNvPr id="34" name="Google Shape;34;h281b0b1e5829137b_0_5"/>
          <p:cNvSpPr/>
          <p:nvPr/>
        </p:nvSpPr>
        <p:spPr>
          <a:xfrm>
            <a:off x="7822200" y="1362075"/>
            <a:ext cx="3760200" cy="4421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rgbClr val="062D64"/>
                </a:solidFill>
                <a:highlight>
                  <a:srgbClr val="FFFFFF"/>
                </a:highlight>
                <a:latin typeface="Verdana"/>
                <a:ea typeface="Verdana"/>
                <a:cs typeface="Verdana"/>
                <a:sym typeface="Verdana"/>
              </a:rPr>
              <a:t>MVTec AD</a:t>
            </a:r>
            <a:r>
              <a:rPr lang="en-US" sz="1800">
                <a:solidFill>
                  <a:srgbClr val="062D64"/>
                </a:solidFill>
                <a:highlight>
                  <a:srgbClr val="FFFFFF"/>
                </a:highlight>
                <a:latin typeface="Verdana"/>
                <a:ea typeface="Verdana"/>
                <a:cs typeface="Verdana"/>
                <a:sym typeface="Verdana"/>
              </a:rPr>
              <a:t> is a dataset for benchmarking anomaly detection methods with a focus on industrial inspection. </a:t>
            </a:r>
            <a:endParaRPr sz="1800">
              <a:solidFill>
                <a:srgbClr val="062D64"/>
              </a:solidFill>
              <a:highlight>
                <a:srgbClr val="FFFFFF"/>
              </a:highlight>
              <a:latin typeface="Verdana"/>
              <a:ea typeface="Verdana"/>
              <a:cs typeface="Verdana"/>
              <a:sym typeface="Verdana"/>
            </a:endParaRPr>
          </a:p>
          <a:p>
            <a:pPr marL="0" marR="0" lvl="0" indent="0" algn="l" rtl="0">
              <a:spcBef>
                <a:spcPts val="0"/>
              </a:spcBef>
              <a:spcAft>
                <a:spcPts val="0"/>
              </a:spcAft>
              <a:buNone/>
            </a:pPr>
            <a:endParaRPr sz="1800">
              <a:solidFill>
                <a:srgbClr val="062D64"/>
              </a:solidFill>
              <a:highlight>
                <a:srgbClr val="FFFFFF"/>
              </a:highlight>
              <a:latin typeface="Verdana"/>
              <a:ea typeface="Verdana"/>
              <a:cs typeface="Verdana"/>
              <a:sym typeface="Verdana"/>
            </a:endParaRPr>
          </a:p>
          <a:p>
            <a:pPr marL="0" marR="0" lvl="0" indent="0" algn="l" rtl="0">
              <a:spcBef>
                <a:spcPts val="0"/>
              </a:spcBef>
              <a:spcAft>
                <a:spcPts val="0"/>
              </a:spcAft>
              <a:buNone/>
            </a:pPr>
            <a:r>
              <a:rPr lang="en-US" sz="1800">
                <a:solidFill>
                  <a:srgbClr val="062D64"/>
                </a:solidFill>
                <a:highlight>
                  <a:srgbClr val="FFFFFF"/>
                </a:highlight>
                <a:latin typeface="Verdana"/>
                <a:ea typeface="Verdana"/>
                <a:cs typeface="Verdana"/>
                <a:sym typeface="Verdana"/>
              </a:rPr>
              <a:t>It contains over 5000 high-resolution images divided into fifteen different object and texture categories. </a:t>
            </a:r>
            <a:endParaRPr sz="1800">
              <a:solidFill>
                <a:srgbClr val="062D64"/>
              </a:solidFill>
              <a:highlight>
                <a:srgbClr val="FFFFFF"/>
              </a:highlight>
              <a:latin typeface="Verdana"/>
              <a:ea typeface="Verdana"/>
              <a:cs typeface="Verdana"/>
              <a:sym typeface="Verdana"/>
            </a:endParaRPr>
          </a:p>
          <a:p>
            <a:pPr marL="0" marR="0" lvl="0" indent="0" algn="l" rtl="0">
              <a:spcBef>
                <a:spcPts val="0"/>
              </a:spcBef>
              <a:spcAft>
                <a:spcPts val="0"/>
              </a:spcAft>
              <a:buNone/>
            </a:pPr>
            <a:endParaRPr sz="1800">
              <a:solidFill>
                <a:srgbClr val="062D64"/>
              </a:solidFill>
              <a:highlight>
                <a:srgbClr val="FFFFFF"/>
              </a:highlight>
              <a:latin typeface="Verdana"/>
              <a:ea typeface="Verdana"/>
              <a:cs typeface="Verdana"/>
              <a:sym typeface="Verdana"/>
            </a:endParaRPr>
          </a:p>
          <a:p>
            <a:pPr marL="0" marR="0" lvl="0" indent="0" algn="l" rtl="0">
              <a:spcBef>
                <a:spcPts val="0"/>
              </a:spcBef>
              <a:spcAft>
                <a:spcPts val="0"/>
              </a:spcAft>
              <a:buNone/>
            </a:pPr>
            <a:r>
              <a:rPr lang="en-US" sz="1800">
                <a:solidFill>
                  <a:srgbClr val="062D64"/>
                </a:solidFill>
                <a:highlight>
                  <a:srgbClr val="FFFFFF"/>
                </a:highlight>
                <a:latin typeface="Verdana"/>
                <a:ea typeface="Verdana"/>
                <a:cs typeface="Verdana"/>
                <a:sym typeface="Verdana"/>
              </a:rPr>
              <a:t>Each category comprises a set of defect-free training images and a test set of images with various kinds of defects.</a:t>
            </a:r>
            <a:endParaRPr sz="1800">
              <a:latin typeface="Verdana"/>
              <a:ea typeface="Verdana"/>
              <a:cs typeface="Verdana"/>
              <a:sym typeface="Verdana"/>
            </a:endParaRPr>
          </a:p>
        </p:txBody>
      </p:sp>
      <p:sp>
        <p:nvSpPr>
          <p:cNvPr id="35" name="Google Shape;35;h281b0b1e5829137b_0_5"/>
          <p:cNvSpPr txBox="1"/>
          <p:nvPr/>
        </p:nvSpPr>
        <p:spPr>
          <a:xfrm>
            <a:off x="7822200" y="5961175"/>
            <a:ext cx="37602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sz="800" i="1">
                <a:latin typeface="Verdana"/>
                <a:ea typeface="Verdana"/>
                <a:cs typeface="Verdana"/>
                <a:sym typeface="Verdana"/>
              </a:rPr>
              <a:t>https://www.mvtec.com/research-teaching/datasets/mvtec-ad</a:t>
            </a:r>
            <a:endParaRPr sz="800" i="1">
              <a:latin typeface="Verdana"/>
              <a:ea typeface="Verdana"/>
              <a:cs typeface="Verdana"/>
              <a:sym typeface="Verdana"/>
            </a:endParaRPr>
          </a:p>
        </p:txBody>
      </p:sp>
      <p:sp>
        <p:nvSpPr>
          <p:cNvPr id="36" name="Google Shape;36;h281b0b1e5829137b_0_5"/>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
        <p:cNvGrpSpPr/>
        <p:nvPr/>
      </p:nvGrpSpPr>
      <p:grpSpPr>
        <a:xfrm>
          <a:off x="0" y="0"/>
          <a:ext cx="0" cy="0"/>
          <a:chOff x="0" y="0"/>
          <a:chExt cx="0" cy="0"/>
        </a:xfrm>
      </p:grpSpPr>
      <p:sp>
        <p:nvSpPr>
          <p:cNvPr id="42" name="Google Shape;42;p2"/>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Project Objectives</a:t>
            </a:r>
            <a:endParaRPr/>
          </a:p>
        </p:txBody>
      </p:sp>
      <p:sp>
        <p:nvSpPr>
          <p:cNvPr id="43" name="Google Shape;43;p2"/>
          <p:cNvSpPr/>
          <p:nvPr/>
        </p:nvSpPr>
        <p:spPr>
          <a:xfrm>
            <a:off x="609600" y="1762125"/>
            <a:ext cx="485775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Detect Anomalies</a:t>
            </a:r>
            <a:endParaRPr/>
          </a:p>
        </p:txBody>
      </p:sp>
      <p:sp>
        <p:nvSpPr>
          <p:cNvPr id="44" name="Google Shape;44;p2"/>
          <p:cNvSpPr/>
          <p:nvPr/>
        </p:nvSpPr>
        <p:spPr>
          <a:xfrm>
            <a:off x="609600" y="2314575"/>
            <a:ext cx="4857750" cy="152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Learn normal appearance (unsupervised) and flag images that differ from it.</a:t>
            </a:r>
            <a:endParaRPr/>
          </a:p>
        </p:txBody>
      </p:sp>
      <p:sp>
        <p:nvSpPr>
          <p:cNvPr id="45" name="Google Shape;45;p2"/>
          <p:cNvSpPr/>
          <p:nvPr/>
        </p:nvSpPr>
        <p:spPr>
          <a:xfrm>
            <a:off x="6572250" y="1762125"/>
            <a:ext cx="485775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Localize the Defect</a:t>
            </a:r>
            <a:endParaRPr/>
          </a:p>
        </p:txBody>
      </p:sp>
      <p:sp>
        <p:nvSpPr>
          <p:cNvPr id="46" name="Google Shape;46;p2"/>
          <p:cNvSpPr/>
          <p:nvPr/>
        </p:nvSpPr>
        <p:spPr>
          <a:xfrm>
            <a:off x="6572250" y="2314575"/>
            <a:ext cx="4857750" cy="152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Show an anomaly heatmap and an overlay for visual review.</a:t>
            </a:r>
            <a:endParaRPr/>
          </a:p>
        </p:txBody>
      </p:sp>
      <p:sp>
        <p:nvSpPr>
          <p:cNvPr id="47" name="Google Shape;47;p2"/>
          <p:cNvSpPr/>
          <p:nvPr/>
        </p:nvSpPr>
        <p:spPr>
          <a:xfrm>
            <a:off x="609600" y="3886200"/>
            <a:ext cx="485775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Explain Results</a:t>
            </a:r>
            <a:endParaRPr/>
          </a:p>
        </p:txBody>
      </p:sp>
      <p:sp>
        <p:nvSpPr>
          <p:cNvPr id="48" name="Google Shape;48;p2"/>
          <p:cNvSpPr/>
          <p:nvPr/>
        </p:nvSpPr>
        <p:spPr>
          <a:xfrm>
            <a:off x="609600" y="4438650"/>
            <a:ext cx="4857750" cy="152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Report object category, anomaly score, severity and likely defect type.</a:t>
            </a:r>
            <a:endParaRPr/>
          </a:p>
        </p:txBody>
      </p:sp>
      <p:sp>
        <p:nvSpPr>
          <p:cNvPr id="49" name="Google Shape;49;p2"/>
          <p:cNvSpPr/>
          <p:nvPr/>
        </p:nvSpPr>
        <p:spPr>
          <a:xfrm>
            <a:off x="6572250" y="3886200"/>
            <a:ext cx="485775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Compare Approaches</a:t>
            </a:r>
            <a:endParaRPr/>
          </a:p>
        </p:txBody>
      </p:sp>
      <p:sp>
        <p:nvSpPr>
          <p:cNvPr id="50" name="Google Shape;50;p2"/>
          <p:cNvSpPr/>
          <p:nvPr/>
        </p:nvSpPr>
        <p:spPr>
          <a:xfrm>
            <a:off x="6572250" y="4438650"/>
            <a:ext cx="4857750" cy="1524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Study supervised and </a:t>
            </a:r>
            <a:r>
              <a:rPr lang="en-US" sz="2025">
                <a:solidFill>
                  <a:srgbClr val="12293A"/>
                </a:solidFill>
                <a:latin typeface="Verdana"/>
                <a:ea typeface="Verdana"/>
                <a:cs typeface="Verdana"/>
                <a:sym typeface="Verdana"/>
              </a:rPr>
              <a:t>unsupervised</a:t>
            </a:r>
            <a:r>
              <a:rPr lang="en-US" sz="2025" b="0">
                <a:solidFill>
                  <a:srgbClr val="12293A"/>
                </a:solidFill>
                <a:latin typeface="Verdana"/>
                <a:ea typeface="Verdana"/>
                <a:cs typeface="Verdana"/>
                <a:sym typeface="Verdana"/>
              </a:rPr>
              <a:t> deep learning classifiers, classical approaches, data augmentation and ensemble </a:t>
            </a:r>
            <a:r>
              <a:rPr lang="en-US" sz="2025">
                <a:solidFill>
                  <a:srgbClr val="12293A"/>
                </a:solidFill>
                <a:latin typeface="Verdana"/>
                <a:ea typeface="Verdana"/>
                <a:cs typeface="Verdana"/>
                <a:sym typeface="Verdana"/>
              </a:rPr>
              <a:t>performances.</a:t>
            </a:r>
            <a:endParaRPr/>
          </a:p>
        </p:txBody>
      </p:sp>
      <p:sp>
        <p:nvSpPr>
          <p:cNvPr id="51" name="Google Shape;51;p2"/>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h3d51a6db47a0baff_0_1"/>
          <p:cNvSpPr/>
          <p:nvPr/>
        </p:nvSpPr>
        <p:spPr>
          <a:xfrm>
            <a:off x="609600" y="409575"/>
            <a:ext cx="60960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Project Scope</a:t>
            </a:r>
            <a:endParaRPr/>
          </a:p>
        </p:txBody>
      </p:sp>
      <p:sp>
        <p:nvSpPr>
          <p:cNvPr id="58" name="Google Shape;58;h3d51a6db47a0baff_0_1"/>
          <p:cNvSpPr/>
          <p:nvPr/>
        </p:nvSpPr>
        <p:spPr>
          <a:xfrm>
            <a:off x="609600" y="1227652"/>
            <a:ext cx="51435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Fifteen Configured Categories</a:t>
            </a:r>
            <a:endParaRPr/>
          </a:p>
        </p:txBody>
      </p:sp>
      <p:sp>
        <p:nvSpPr>
          <p:cNvPr id="59" name="Google Shape;59;h3d51a6db47a0baff_0_1"/>
          <p:cNvSpPr/>
          <p:nvPr/>
        </p:nvSpPr>
        <p:spPr>
          <a:xfrm>
            <a:off x="609600" y="1780102"/>
            <a:ext cx="5816400" cy="2390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1" u="sng">
                <a:solidFill>
                  <a:srgbClr val="12293A"/>
                </a:solidFill>
                <a:latin typeface="Verdana"/>
                <a:ea typeface="Verdana"/>
                <a:cs typeface="Verdana"/>
                <a:sym typeface="Verdana"/>
              </a:rPr>
              <a:t>Objects</a:t>
            </a:r>
            <a:r>
              <a:rPr lang="en-US" sz="2025" b="0">
                <a:solidFill>
                  <a:srgbClr val="12293A"/>
                </a:solidFill>
                <a:latin typeface="Verdana"/>
                <a:ea typeface="Verdana"/>
                <a:cs typeface="Verdana"/>
                <a:sym typeface="Verdana"/>
              </a:rPr>
              <a:t>: </a:t>
            </a:r>
            <a:br>
              <a:rPr lang="en-US" sz="2025" b="0">
                <a:solidFill>
                  <a:srgbClr val="12293A"/>
                </a:solidFill>
                <a:latin typeface="Verdana"/>
                <a:ea typeface="Verdana"/>
                <a:cs typeface="Verdana"/>
                <a:sym typeface="Verdana"/>
              </a:rPr>
            </a:br>
            <a:r>
              <a:rPr lang="en-US" sz="1625">
                <a:solidFill>
                  <a:srgbClr val="12293A"/>
                </a:solidFill>
                <a:latin typeface="Verdana"/>
                <a:ea typeface="Verdana"/>
                <a:cs typeface="Verdana"/>
                <a:sym typeface="Verdana"/>
              </a:rPr>
              <a:t>transistor, </a:t>
            </a:r>
            <a:r>
              <a:rPr lang="en-US" sz="1625" b="0">
                <a:solidFill>
                  <a:srgbClr val="12293A"/>
                </a:solidFill>
                <a:latin typeface="Verdana"/>
                <a:ea typeface="Verdana"/>
                <a:cs typeface="Verdana"/>
                <a:sym typeface="Verdana"/>
              </a:rPr>
              <a:t>screw, hazelnut,</a:t>
            </a:r>
            <a:r>
              <a:rPr lang="en-US" sz="1625">
                <a:solidFill>
                  <a:srgbClr val="12293A"/>
                </a:solidFill>
                <a:latin typeface="Verdana"/>
                <a:ea typeface="Verdana"/>
                <a:cs typeface="Verdana"/>
                <a:sym typeface="Verdana"/>
              </a:rPr>
              <a:t> bottle, cable, capsule, metal nut, pill, toothbrush, zipper</a:t>
            </a:r>
            <a:endParaRPr sz="1625">
              <a:solidFill>
                <a:srgbClr val="12293A"/>
              </a:solidFill>
              <a:latin typeface="Verdana"/>
              <a:ea typeface="Verdana"/>
              <a:cs typeface="Verdana"/>
              <a:sym typeface="Verdana"/>
            </a:endParaRPr>
          </a:p>
          <a:p>
            <a:pPr marL="0" marR="0" lvl="0" indent="0" algn="l" rtl="0">
              <a:spcBef>
                <a:spcPts val="0"/>
              </a:spcBef>
              <a:spcAft>
                <a:spcPts val="0"/>
              </a:spcAft>
              <a:buNone/>
            </a:pPr>
            <a:endParaRPr sz="2025">
              <a:solidFill>
                <a:srgbClr val="12293A"/>
              </a:solidFill>
              <a:latin typeface="Verdana"/>
              <a:ea typeface="Verdana"/>
              <a:cs typeface="Verdana"/>
              <a:sym typeface="Verdana"/>
            </a:endParaRPr>
          </a:p>
          <a:p>
            <a:pPr marL="0" marR="0" lvl="0" indent="0" algn="l" rtl="0">
              <a:spcBef>
                <a:spcPts val="0"/>
              </a:spcBef>
              <a:spcAft>
                <a:spcPts val="0"/>
              </a:spcAft>
              <a:buNone/>
            </a:pPr>
            <a:endParaRPr sz="2025">
              <a:solidFill>
                <a:srgbClr val="12293A"/>
              </a:solidFill>
              <a:latin typeface="Verdana"/>
              <a:ea typeface="Verdana"/>
              <a:cs typeface="Verdana"/>
              <a:sym typeface="Verdana"/>
            </a:endParaRPr>
          </a:p>
          <a:p>
            <a:pPr marL="0" marR="0" lvl="0" indent="0" algn="l" rtl="0">
              <a:spcBef>
                <a:spcPts val="0"/>
              </a:spcBef>
              <a:spcAft>
                <a:spcPts val="0"/>
              </a:spcAft>
              <a:buNone/>
            </a:pPr>
            <a:r>
              <a:rPr lang="en-US" sz="2025" b="1" u="sng">
                <a:solidFill>
                  <a:srgbClr val="12293A"/>
                </a:solidFill>
                <a:latin typeface="Verdana"/>
                <a:ea typeface="Verdana"/>
                <a:cs typeface="Verdana"/>
                <a:sym typeface="Verdana"/>
              </a:rPr>
              <a:t>Textures</a:t>
            </a:r>
            <a:r>
              <a:rPr lang="en-US" sz="2025" b="0">
                <a:solidFill>
                  <a:srgbClr val="12293A"/>
                </a:solidFill>
                <a:latin typeface="Verdana"/>
                <a:ea typeface="Verdana"/>
                <a:cs typeface="Verdana"/>
                <a:sym typeface="Verdana"/>
              </a:rPr>
              <a:t>: </a:t>
            </a:r>
            <a:br>
              <a:rPr lang="en-US" sz="2025" b="0">
                <a:solidFill>
                  <a:srgbClr val="12293A"/>
                </a:solidFill>
                <a:latin typeface="Verdana"/>
                <a:ea typeface="Verdana"/>
                <a:cs typeface="Verdana"/>
                <a:sym typeface="Verdana"/>
              </a:rPr>
            </a:br>
            <a:r>
              <a:rPr lang="en-US" sz="1625">
                <a:solidFill>
                  <a:srgbClr val="12293A"/>
                </a:solidFill>
                <a:latin typeface="Verdana"/>
                <a:ea typeface="Verdana"/>
                <a:cs typeface="Verdana"/>
                <a:sym typeface="Verdana"/>
              </a:rPr>
              <a:t>wood, tile, </a:t>
            </a:r>
            <a:r>
              <a:rPr lang="en-US" sz="1625" b="0">
                <a:solidFill>
                  <a:srgbClr val="12293A"/>
                </a:solidFill>
                <a:latin typeface="Verdana"/>
                <a:ea typeface="Verdana"/>
                <a:cs typeface="Verdana"/>
                <a:sym typeface="Verdana"/>
              </a:rPr>
              <a:t>carpet, leather, grid</a:t>
            </a:r>
            <a:endParaRPr sz="1000"/>
          </a:p>
        </p:txBody>
      </p:sp>
      <p:sp>
        <p:nvSpPr>
          <p:cNvPr id="60" name="Google Shape;60;h3d51a6db47a0baff_0_1"/>
          <p:cNvSpPr/>
          <p:nvPr/>
        </p:nvSpPr>
        <p:spPr>
          <a:xfrm>
            <a:off x="6705600" y="1227652"/>
            <a:ext cx="47625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Deliverables</a:t>
            </a:r>
            <a:endParaRPr/>
          </a:p>
        </p:txBody>
      </p:sp>
      <p:sp>
        <p:nvSpPr>
          <p:cNvPr id="61" name="Google Shape;61;h3d51a6db47a0baff_0_1"/>
          <p:cNvSpPr/>
          <p:nvPr/>
        </p:nvSpPr>
        <p:spPr>
          <a:xfrm>
            <a:off x="6705600" y="1780102"/>
            <a:ext cx="4762500" cy="200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Still-image inspection in Streamlit</a:t>
            </a:r>
            <a:endParaRPr/>
          </a:p>
          <a:p>
            <a:pPr marL="0" marR="0" lvl="0" indent="0" algn="l" rtl="0">
              <a:spcBef>
                <a:spcPts val="0"/>
              </a:spcBef>
              <a:spcAft>
                <a:spcPts val="0"/>
              </a:spcAft>
              <a:buNone/>
            </a:pPr>
            <a:endParaRPr sz="2025" b="0">
              <a:solidFill>
                <a:srgbClr val="12293A"/>
              </a:solidFill>
              <a:latin typeface="Verdana"/>
              <a:ea typeface="Verdana"/>
              <a:cs typeface="Verdana"/>
              <a:sym typeface="Verdana"/>
            </a:endParaRPr>
          </a:p>
          <a:p>
            <a:pPr marL="0" marR="0" lvl="0" indent="0" algn="l" rtl="0">
              <a:spcBef>
                <a:spcPts val="0"/>
              </a:spcBef>
              <a:spcAft>
                <a:spcPts val="0"/>
              </a:spcAft>
              <a:buNone/>
            </a:pPr>
            <a:r>
              <a:rPr lang="en-US" sz="2025" b="0">
                <a:solidFill>
                  <a:srgbClr val="12293A"/>
                </a:solidFill>
                <a:latin typeface="Verdana"/>
                <a:ea typeface="Verdana"/>
                <a:cs typeface="Verdana"/>
                <a:sym typeface="Verdana"/>
              </a:rPr>
              <a:t>Automatic category routing with a </a:t>
            </a:r>
            <a:r>
              <a:rPr lang="en-US" sz="2025">
                <a:solidFill>
                  <a:srgbClr val="12293A"/>
                </a:solidFill>
                <a:latin typeface="Verdana"/>
                <a:ea typeface="Verdana"/>
                <a:cs typeface="Verdana"/>
                <a:sym typeface="Verdana"/>
              </a:rPr>
              <a:t>various defect-type classification results, anomaly scores and heatmap overlay</a:t>
            </a:r>
            <a:endParaRPr/>
          </a:p>
        </p:txBody>
      </p:sp>
      <p:sp>
        <p:nvSpPr>
          <p:cNvPr id="62" name="Google Shape;62;h3d51a6db47a0baff_0_1"/>
          <p:cNvSpPr/>
          <p:nvPr/>
        </p:nvSpPr>
        <p:spPr>
          <a:xfrm>
            <a:off x="609600" y="4872000"/>
            <a:ext cx="9525000" cy="428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75" b="1">
                <a:solidFill>
                  <a:srgbClr val="007E87"/>
                </a:solidFill>
                <a:latin typeface="Verdana"/>
                <a:ea typeface="Verdana"/>
                <a:cs typeface="Verdana"/>
                <a:sym typeface="Verdana"/>
              </a:rPr>
              <a:t>In-Scope Boundary</a:t>
            </a:r>
            <a:endParaRPr/>
          </a:p>
        </p:txBody>
      </p:sp>
      <p:sp>
        <p:nvSpPr>
          <p:cNvPr id="63" name="Google Shape;63;h3d51a6db47a0baff_0_1"/>
          <p:cNvSpPr/>
          <p:nvPr/>
        </p:nvSpPr>
        <p:spPr>
          <a:xfrm>
            <a:off x="609600" y="5414925"/>
            <a:ext cx="10477500" cy="685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25" b="0">
                <a:solidFill>
                  <a:srgbClr val="12293A"/>
                </a:solidFill>
                <a:latin typeface="Verdana"/>
                <a:ea typeface="Verdana"/>
                <a:cs typeface="Verdana"/>
                <a:sym typeface="Verdana"/>
              </a:rPr>
              <a:t>Controlled MVTec images. Factory integration and unfamiliar capture conditions remain future work.</a:t>
            </a:r>
            <a:endParaRPr/>
          </a:p>
        </p:txBody>
      </p:sp>
      <p:sp>
        <p:nvSpPr>
          <p:cNvPr id="64" name="Google Shape;64;h3d51a6db47a0baff_0_1"/>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5</a:t>
            </a:r>
            <a:endParaRPr/>
          </a:p>
        </p:txBody>
      </p:sp>
      <p:pic>
        <p:nvPicPr>
          <p:cNvPr id="65" name="Google Shape;65;h3d51a6db47a0baff_0_1" title="000.png"/>
          <p:cNvPicPr preferRelativeResize="0"/>
          <p:nvPr/>
        </p:nvPicPr>
        <p:blipFill>
          <a:blip r:embed="rId3">
            <a:alphaModFix/>
          </a:blip>
          <a:stretch>
            <a:fillRect/>
          </a:stretch>
        </p:blipFill>
        <p:spPr>
          <a:xfrm>
            <a:off x="714620" y="2683854"/>
            <a:ext cx="457201" cy="457201"/>
          </a:xfrm>
          <a:prstGeom prst="rect">
            <a:avLst/>
          </a:prstGeom>
          <a:noFill/>
          <a:ln>
            <a:noFill/>
          </a:ln>
        </p:spPr>
      </p:pic>
      <p:pic>
        <p:nvPicPr>
          <p:cNvPr id="66" name="Google Shape;66;h3d51a6db47a0baff_0_1" title="000.png"/>
          <p:cNvPicPr preferRelativeResize="0"/>
          <p:nvPr/>
        </p:nvPicPr>
        <p:blipFill>
          <a:blip r:embed="rId4">
            <a:alphaModFix/>
          </a:blip>
          <a:stretch>
            <a:fillRect/>
          </a:stretch>
        </p:blipFill>
        <p:spPr>
          <a:xfrm>
            <a:off x="1171832" y="2683854"/>
            <a:ext cx="457201" cy="457201"/>
          </a:xfrm>
          <a:prstGeom prst="rect">
            <a:avLst/>
          </a:prstGeom>
          <a:noFill/>
          <a:ln>
            <a:noFill/>
          </a:ln>
        </p:spPr>
      </p:pic>
      <p:pic>
        <p:nvPicPr>
          <p:cNvPr id="67" name="Google Shape;67;h3d51a6db47a0baff_0_1" title="000.png"/>
          <p:cNvPicPr preferRelativeResize="0"/>
          <p:nvPr/>
        </p:nvPicPr>
        <p:blipFill>
          <a:blip r:embed="rId5">
            <a:alphaModFix/>
          </a:blip>
          <a:stretch>
            <a:fillRect/>
          </a:stretch>
        </p:blipFill>
        <p:spPr>
          <a:xfrm>
            <a:off x="1629020" y="2683854"/>
            <a:ext cx="457201" cy="457201"/>
          </a:xfrm>
          <a:prstGeom prst="rect">
            <a:avLst/>
          </a:prstGeom>
          <a:noFill/>
          <a:ln>
            <a:noFill/>
          </a:ln>
        </p:spPr>
      </p:pic>
      <p:pic>
        <p:nvPicPr>
          <p:cNvPr id="68" name="Google Shape;68;h3d51a6db47a0baff_0_1" title="000.png"/>
          <p:cNvPicPr preferRelativeResize="0"/>
          <p:nvPr/>
        </p:nvPicPr>
        <p:blipFill>
          <a:blip r:embed="rId6">
            <a:alphaModFix/>
          </a:blip>
          <a:stretch>
            <a:fillRect/>
          </a:stretch>
        </p:blipFill>
        <p:spPr>
          <a:xfrm>
            <a:off x="2086220" y="2683842"/>
            <a:ext cx="457200" cy="457200"/>
          </a:xfrm>
          <a:prstGeom prst="rect">
            <a:avLst/>
          </a:prstGeom>
          <a:noFill/>
          <a:ln>
            <a:noFill/>
          </a:ln>
        </p:spPr>
      </p:pic>
      <p:pic>
        <p:nvPicPr>
          <p:cNvPr id="69" name="Google Shape;69;h3d51a6db47a0baff_0_1" title="000.png"/>
          <p:cNvPicPr preferRelativeResize="0"/>
          <p:nvPr/>
        </p:nvPicPr>
        <p:blipFill>
          <a:blip r:embed="rId7">
            <a:alphaModFix/>
          </a:blip>
          <a:stretch>
            <a:fillRect/>
          </a:stretch>
        </p:blipFill>
        <p:spPr>
          <a:xfrm>
            <a:off x="714627" y="3854258"/>
            <a:ext cx="457201" cy="457201"/>
          </a:xfrm>
          <a:prstGeom prst="rect">
            <a:avLst/>
          </a:prstGeom>
          <a:noFill/>
          <a:ln>
            <a:noFill/>
          </a:ln>
        </p:spPr>
      </p:pic>
      <p:pic>
        <p:nvPicPr>
          <p:cNvPr id="70" name="Google Shape;70;h3d51a6db47a0baff_0_1" title="000.png"/>
          <p:cNvPicPr preferRelativeResize="0"/>
          <p:nvPr/>
        </p:nvPicPr>
        <p:blipFill>
          <a:blip r:embed="rId8">
            <a:alphaModFix/>
          </a:blip>
          <a:stretch>
            <a:fillRect/>
          </a:stretch>
        </p:blipFill>
        <p:spPr>
          <a:xfrm>
            <a:off x="1171827" y="3851208"/>
            <a:ext cx="457199" cy="457199"/>
          </a:xfrm>
          <a:prstGeom prst="rect">
            <a:avLst/>
          </a:prstGeom>
          <a:noFill/>
          <a:ln>
            <a:noFill/>
          </a:ln>
        </p:spPr>
      </p:pic>
      <p:pic>
        <p:nvPicPr>
          <p:cNvPr id="71" name="Google Shape;71;h3d51a6db47a0baff_0_1" title="000.png"/>
          <p:cNvPicPr preferRelativeResize="0"/>
          <p:nvPr/>
        </p:nvPicPr>
        <p:blipFill>
          <a:blip r:embed="rId9">
            <a:alphaModFix/>
          </a:blip>
          <a:stretch>
            <a:fillRect/>
          </a:stretch>
        </p:blipFill>
        <p:spPr>
          <a:xfrm>
            <a:off x="1629027" y="3854258"/>
            <a:ext cx="457201" cy="457201"/>
          </a:xfrm>
          <a:prstGeom prst="rect">
            <a:avLst/>
          </a:prstGeom>
          <a:noFill/>
          <a:ln>
            <a:noFill/>
          </a:ln>
        </p:spPr>
      </p:pic>
      <p:pic>
        <p:nvPicPr>
          <p:cNvPr id="72" name="Google Shape;72;h3d51a6db47a0baff_0_1" title="000.png"/>
          <p:cNvPicPr preferRelativeResize="0"/>
          <p:nvPr/>
        </p:nvPicPr>
        <p:blipFill>
          <a:blip r:embed="rId10">
            <a:alphaModFix/>
          </a:blip>
          <a:stretch>
            <a:fillRect/>
          </a:stretch>
        </p:blipFill>
        <p:spPr>
          <a:xfrm>
            <a:off x="2086227" y="3854258"/>
            <a:ext cx="457201" cy="457201"/>
          </a:xfrm>
          <a:prstGeom prst="rect">
            <a:avLst/>
          </a:prstGeom>
          <a:noFill/>
          <a:ln>
            <a:noFill/>
          </a:ln>
        </p:spPr>
      </p:pic>
      <p:pic>
        <p:nvPicPr>
          <p:cNvPr id="73" name="Google Shape;73;h3d51a6db47a0baff_0_1" title="000.png"/>
          <p:cNvPicPr preferRelativeResize="0"/>
          <p:nvPr/>
        </p:nvPicPr>
        <p:blipFill>
          <a:blip r:embed="rId11">
            <a:alphaModFix/>
          </a:blip>
          <a:stretch>
            <a:fillRect/>
          </a:stretch>
        </p:blipFill>
        <p:spPr>
          <a:xfrm>
            <a:off x="2543413" y="3854261"/>
            <a:ext cx="457201" cy="457196"/>
          </a:xfrm>
          <a:prstGeom prst="rect">
            <a:avLst/>
          </a:prstGeom>
          <a:noFill/>
          <a:ln>
            <a:noFill/>
          </a:ln>
        </p:spPr>
      </p:pic>
      <p:pic>
        <p:nvPicPr>
          <p:cNvPr id="74" name="Google Shape;74;h3d51a6db47a0baff_0_1" title="000.png"/>
          <p:cNvPicPr preferRelativeResize="0"/>
          <p:nvPr/>
        </p:nvPicPr>
        <p:blipFill>
          <a:blip r:embed="rId12">
            <a:alphaModFix/>
          </a:blip>
          <a:stretch>
            <a:fillRect/>
          </a:stretch>
        </p:blipFill>
        <p:spPr>
          <a:xfrm>
            <a:off x="2543425" y="2683843"/>
            <a:ext cx="457201" cy="457201"/>
          </a:xfrm>
          <a:prstGeom prst="rect">
            <a:avLst/>
          </a:prstGeom>
          <a:noFill/>
          <a:ln>
            <a:noFill/>
          </a:ln>
        </p:spPr>
      </p:pic>
      <p:pic>
        <p:nvPicPr>
          <p:cNvPr id="75" name="Google Shape;75;h3d51a6db47a0baff_0_1" title="000.png"/>
          <p:cNvPicPr preferRelativeResize="0"/>
          <p:nvPr/>
        </p:nvPicPr>
        <p:blipFill>
          <a:blip r:embed="rId13">
            <a:alphaModFix/>
          </a:blip>
          <a:stretch>
            <a:fillRect/>
          </a:stretch>
        </p:blipFill>
        <p:spPr>
          <a:xfrm>
            <a:off x="3000625" y="2683843"/>
            <a:ext cx="457200" cy="457200"/>
          </a:xfrm>
          <a:prstGeom prst="rect">
            <a:avLst/>
          </a:prstGeom>
          <a:noFill/>
          <a:ln>
            <a:noFill/>
          </a:ln>
        </p:spPr>
      </p:pic>
      <p:pic>
        <p:nvPicPr>
          <p:cNvPr id="76" name="Google Shape;76;h3d51a6db47a0baff_0_1" title="001.png"/>
          <p:cNvPicPr preferRelativeResize="0"/>
          <p:nvPr/>
        </p:nvPicPr>
        <p:blipFill>
          <a:blip r:embed="rId14">
            <a:alphaModFix/>
          </a:blip>
          <a:stretch>
            <a:fillRect/>
          </a:stretch>
        </p:blipFill>
        <p:spPr>
          <a:xfrm>
            <a:off x="3457825" y="2683843"/>
            <a:ext cx="457200" cy="457200"/>
          </a:xfrm>
          <a:prstGeom prst="rect">
            <a:avLst/>
          </a:prstGeom>
          <a:noFill/>
          <a:ln>
            <a:noFill/>
          </a:ln>
        </p:spPr>
      </p:pic>
      <p:pic>
        <p:nvPicPr>
          <p:cNvPr id="77" name="Google Shape;77;h3d51a6db47a0baff_0_1" title="000.png"/>
          <p:cNvPicPr preferRelativeResize="0"/>
          <p:nvPr/>
        </p:nvPicPr>
        <p:blipFill>
          <a:blip r:embed="rId15">
            <a:alphaModFix/>
          </a:blip>
          <a:stretch>
            <a:fillRect/>
          </a:stretch>
        </p:blipFill>
        <p:spPr>
          <a:xfrm>
            <a:off x="3915025" y="2683843"/>
            <a:ext cx="457200" cy="457200"/>
          </a:xfrm>
          <a:prstGeom prst="rect">
            <a:avLst/>
          </a:prstGeom>
          <a:noFill/>
          <a:ln>
            <a:noFill/>
          </a:ln>
        </p:spPr>
      </p:pic>
      <p:pic>
        <p:nvPicPr>
          <p:cNvPr id="78" name="Google Shape;78;h3d51a6db47a0baff_0_1" title="000.png"/>
          <p:cNvPicPr preferRelativeResize="0"/>
          <p:nvPr/>
        </p:nvPicPr>
        <p:blipFill>
          <a:blip r:embed="rId16">
            <a:alphaModFix/>
          </a:blip>
          <a:stretch>
            <a:fillRect/>
          </a:stretch>
        </p:blipFill>
        <p:spPr>
          <a:xfrm>
            <a:off x="4372225" y="2683842"/>
            <a:ext cx="457201" cy="457201"/>
          </a:xfrm>
          <a:prstGeom prst="rect">
            <a:avLst/>
          </a:prstGeom>
          <a:noFill/>
          <a:ln>
            <a:noFill/>
          </a:ln>
        </p:spPr>
      </p:pic>
      <p:pic>
        <p:nvPicPr>
          <p:cNvPr id="79" name="Google Shape;79;h3d51a6db47a0baff_0_1" title="000.png"/>
          <p:cNvPicPr preferRelativeResize="0"/>
          <p:nvPr/>
        </p:nvPicPr>
        <p:blipFill>
          <a:blip r:embed="rId17">
            <a:alphaModFix/>
          </a:blip>
          <a:stretch>
            <a:fillRect/>
          </a:stretch>
        </p:blipFill>
        <p:spPr>
          <a:xfrm>
            <a:off x="4829425" y="2683842"/>
            <a:ext cx="457201" cy="457201"/>
          </a:xfrm>
          <a:prstGeom prst="rect">
            <a:avLst/>
          </a:prstGeom>
          <a:noFill/>
          <a:ln>
            <a:noFill/>
          </a:ln>
        </p:spPr>
      </p:pic>
      <p:pic>
        <p:nvPicPr>
          <p:cNvPr id="80" name="Google Shape;80;h3d51a6db47a0baff_0_1"/>
          <p:cNvPicPr preferRelativeResize="0"/>
          <p:nvPr/>
        </p:nvPicPr>
        <p:blipFill>
          <a:blip r:embed="rId18">
            <a:alphaModFix/>
          </a:blip>
          <a:stretch>
            <a:fillRect/>
          </a:stretch>
        </p:blipFill>
        <p:spPr>
          <a:xfrm>
            <a:off x="6802826" y="3781699"/>
            <a:ext cx="3835310" cy="1470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h59843ea5be7b33af_0_0"/>
          <p:cNvSpPr txBox="1"/>
          <p:nvPr/>
        </p:nvSpPr>
        <p:spPr>
          <a:xfrm>
            <a:off x="609600" y="333375"/>
            <a:ext cx="10972800" cy="666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800" b="1">
                <a:solidFill>
                  <a:srgbClr val="12293A"/>
                </a:solidFill>
                <a:latin typeface="Verdana"/>
                <a:ea typeface="Verdana"/>
                <a:cs typeface="Verdana"/>
                <a:sym typeface="Verdana"/>
              </a:rPr>
              <a:t>Dataset Category Breakdown</a:t>
            </a:r>
            <a:endParaRPr sz="2800" b="1">
              <a:solidFill>
                <a:srgbClr val="12293A"/>
              </a:solidFill>
              <a:latin typeface="Verdana"/>
              <a:ea typeface="Verdana"/>
              <a:cs typeface="Verdana"/>
              <a:sym typeface="Verdana"/>
            </a:endParaRPr>
          </a:p>
          <a:p>
            <a:pPr marL="0" lvl="0" indent="0" algn="l" rtl="0">
              <a:spcBef>
                <a:spcPts val="0"/>
              </a:spcBef>
              <a:spcAft>
                <a:spcPts val="0"/>
              </a:spcAft>
              <a:buNone/>
            </a:pPr>
            <a:r>
              <a:rPr lang="en-US" sz="1400" b="0">
                <a:solidFill>
                  <a:srgbClr val="536674"/>
                </a:solidFill>
                <a:latin typeface="Verdana"/>
                <a:ea typeface="Verdana"/>
                <a:cs typeface="Verdana"/>
                <a:sym typeface="Verdana"/>
              </a:rPr>
              <a:t>Complete record manifest across all 15 categories</a:t>
            </a:r>
            <a:endParaRPr sz="1400" b="0">
              <a:solidFill>
                <a:srgbClr val="536674"/>
              </a:solidFill>
              <a:latin typeface="Verdana"/>
              <a:ea typeface="Verdana"/>
              <a:cs typeface="Verdana"/>
              <a:sym typeface="Verdana"/>
            </a:endParaRPr>
          </a:p>
        </p:txBody>
      </p:sp>
      <p:grpSp>
        <p:nvGrpSpPr>
          <p:cNvPr id="105" name="Google Shape;105;h59843ea5be7b33af_0_0"/>
          <p:cNvGrpSpPr/>
          <p:nvPr/>
        </p:nvGrpSpPr>
        <p:grpSpPr>
          <a:xfrm>
            <a:off x="609600" y="1190625"/>
            <a:ext cx="4000500" cy="1238400"/>
            <a:chOff x="0" y="0"/>
            <a:chExt cx="4000500" cy="1238400"/>
          </a:xfrm>
        </p:grpSpPr>
        <p:sp>
          <p:nvSpPr>
            <p:cNvPr id="106" name="Google Shape;106;h59843ea5be7b33af_0_0"/>
            <p:cNvSpPr/>
            <p:nvPr/>
          </p:nvSpPr>
          <p:spPr>
            <a:xfrm>
              <a:off x="0" y="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107" name="Google Shape;107;h59843ea5be7b33af_0_0"/>
            <p:cNvSpPr txBox="1"/>
            <p:nvPr/>
          </p:nvSpPr>
          <p:spPr>
            <a:xfrm>
              <a:off x="228600" y="190500"/>
              <a:ext cx="35433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E0F2F1"/>
                  </a:solidFill>
                  <a:latin typeface="Verdana"/>
                  <a:ea typeface="Verdana"/>
                  <a:cs typeface="Verdana"/>
                  <a:sym typeface="Verdana"/>
                </a:rPr>
                <a:t>TOTAL MANIFEST RECORDS</a:t>
              </a:r>
              <a:endParaRPr sz="1300" b="1">
                <a:solidFill>
                  <a:srgbClr val="E0F2F1"/>
                </a:solidFill>
                <a:latin typeface="Verdana"/>
                <a:ea typeface="Verdana"/>
                <a:cs typeface="Verdana"/>
                <a:sym typeface="Verdana"/>
              </a:endParaRPr>
            </a:p>
            <a:p>
              <a:pPr marL="0" lvl="0" indent="0" algn="l" rtl="0">
                <a:spcBef>
                  <a:spcPts val="0"/>
                </a:spcBef>
                <a:spcAft>
                  <a:spcPts val="0"/>
                </a:spcAft>
                <a:buNone/>
              </a:pPr>
              <a:r>
                <a:rPr lang="en-US" sz="3900" b="1">
                  <a:solidFill>
                    <a:srgbClr val="FFFFFF"/>
                  </a:solidFill>
                  <a:latin typeface="Verdana"/>
                  <a:ea typeface="Verdana"/>
                  <a:cs typeface="Verdana"/>
                  <a:sym typeface="Verdana"/>
                </a:rPr>
                <a:t>5,354</a:t>
              </a:r>
              <a:endParaRPr sz="3900" b="1">
                <a:solidFill>
                  <a:srgbClr val="FFFFFF"/>
                </a:solidFill>
                <a:latin typeface="Verdana"/>
                <a:ea typeface="Verdana"/>
                <a:cs typeface="Verdana"/>
                <a:sym typeface="Verdana"/>
              </a:endParaRPr>
            </a:p>
            <a:p>
              <a:pPr marL="0" lvl="0" indent="0" algn="l" rtl="0">
                <a:spcBef>
                  <a:spcPts val="0"/>
                </a:spcBef>
                <a:spcAft>
                  <a:spcPts val="0"/>
                </a:spcAft>
                <a:buNone/>
              </a:pPr>
              <a:r>
                <a:rPr lang="en-US" sz="1300" b="0">
                  <a:solidFill>
                    <a:srgbClr val="E0F2F1"/>
                  </a:solidFill>
                  <a:latin typeface="Verdana"/>
                  <a:ea typeface="Verdana"/>
                  <a:cs typeface="Verdana"/>
                  <a:sym typeface="Verdana"/>
                </a:rPr>
                <a:t>Across 15 distinct dataset categories</a:t>
              </a:r>
              <a:endParaRPr sz="1300" b="0">
                <a:solidFill>
                  <a:srgbClr val="E0F2F1"/>
                </a:solidFill>
                <a:latin typeface="Verdana"/>
                <a:ea typeface="Verdana"/>
                <a:cs typeface="Verdana"/>
                <a:sym typeface="Verdana"/>
              </a:endParaRPr>
            </a:p>
          </p:txBody>
        </p:sp>
      </p:grpSp>
      <p:grpSp>
        <p:nvGrpSpPr>
          <p:cNvPr id="108" name="Google Shape;108;h59843ea5be7b33af_0_0"/>
          <p:cNvGrpSpPr/>
          <p:nvPr/>
        </p:nvGrpSpPr>
        <p:grpSpPr>
          <a:xfrm>
            <a:off x="4800600" y="1190625"/>
            <a:ext cx="6781800" cy="1238400"/>
            <a:chOff x="0" y="0"/>
            <a:chExt cx="6781800" cy="1238400"/>
          </a:xfrm>
        </p:grpSpPr>
        <p:sp>
          <p:nvSpPr>
            <p:cNvPr id="109" name="Google Shape;109;h59843ea5be7b33af_0_0"/>
            <p:cNvSpPr/>
            <p:nvPr/>
          </p:nvSpPr>
          <p:spPr>
            <a:xfrm>
              <a:off x="0" y="0"/>
              <a:ext cx="6781800" cy="1238400"/>
            </a:xfrm>
            <a:prstGeom prst="roundRect">
              <a:avLst>
                <a:gd name="adj" fmla="val 6153"/>
              </a:avLst>
            </a:prstGeom>
            <a:solidFill>
              <a:srgbClr val="F0F4F8"/>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110" name="Google Shape;110;h59843ea5be7b33af_0_0"/>
            <p:cNvSpPr txBox="1"/>
            <p:nvPr/>
          </p:nvSpPr>
          <p:spPr>
            <a:xfrm>
              <a:off x="228600" y="171450"/>
              <a:ext cx="6324600" cy="8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536674"/>
                  </a:solidFill>
                  <a:latin typeface="Verdana"/>
                  <a:ea typeface="Verdana"/>
                  <a:cs typeface="Verdana"/>
                  <a:sym typeface="Verdana"/>
                </a:rPr>
                <a:t>TRAIN VS. TEST DATASET SPLIT</a:t>
              </a:r>
              <a:endParaRPr sz="1300" b="1">
                <a:solidFill>
                  <a:srgbClr val="536674"/>
                </a:solidFill>
                <a:latin typeface="Verdana"/>
                <a:ea typeface="Verdana"/>
                <a:cs typeface="Verdana"/>
                <a:sym typeface="Verdana"/>
              </a:endParaRPr>
            </a:p>
            <a:p>
              <a:pPr marL="0" lvl="0" indent="0" algn="l" rtl="0">
                <a:spcBef>
                  <a:spcPts val="600"/>
                </a:spcBef>
                <a:spcAft>
                  <a:spcPts val="0"/>
                </a:spcAft>
                <a:buNone/>
              </a:pPr>
              <a:r>
                <a:rPr lang="en-US" sz="2000" b="1">
                  <a:solidFill>
                    <a:srgbClr val="007E87"/>
                  </a:solidFill>
                  <a:latin typeface="Verdana"/>
                  <a:ea typeface="Verdana"/>
                  <a:cs typeface="Verdana"/>
                  <a:sym typeface="Verdana"/>
                </a:rPr>
                <a:t>3,629 </a:t>
              </a:r>
              <a:r>
                <a:rPr lang="en-US" sz="1300" b="0">
                  <a:solidFill>
                    <a:srgbClr val="12293A"/>
                  </a:solidFill>
                  <a:latin typeface="Verdana"/>
                  <a:ea typeface="Verdana"/>
                  <a:cs typeface="Verdana"/>
                  <a:sym typeface="Verdana"/>
                </a:rPr>
                <a:t>Train (Normal) </a:t>
              </a:r>
              <a:r>
                <a:rPr lang="en-US" sz="2000" b="1">
                  <a:solidFill>
                    <a:srgbClr val="007E87"/>
                  </a:solidFill>
                  <a:latin typeface="Verdana"/>
                  <a:ea typeface="Verdana"/>
                  <a:cs typeface="Verdana"/>
                  <a:sym typeface="Verdana"/>
                </a:rPr>
                <a:t>: 1,725 </a:t>
              </a:r>
              <a:r>
                <a:rPr lang="en-US" sz="1200" b="0">
                  <a:solidFill>
                    <a:srgbClr val="12293A"/>
                  </a:solidFill>
                  <a:latin typeface="Verdana"/>
                  <a:ea typeface="Verdana"/>
                  <a:cs typeface="Verdana"/>
                  <a:sym typeface="Verdana"/>
                </a:rPr>
                <a:t>T</a:t>
              </a:r>
              <a:r>
                <a:rPr lang="en-US" sz="1300" b="0">
                  <a:solidFill>
                    <a:srgbClr val="12293A"/>
                  </a:solidFill>
                  <a:latin typeface="Verdana"/>
                  <a:ea typeface="Verdana"/>
                  <a:cs typeface="Verdana"/>
                  <a:sym typeface="Verdana"/>
                </a:rPr>
                <a:t>est (Defect + Normal)</a:t>
              </a:r>
              <a:endParaRPr sz="1700"/>
            </a:p>
            <a:p>
              <a:pPr marL="0" lvl="0" indent="0" algn="l" rtl="0">
                <a:spcBef>
                  <a:spcPts val="1200"/>
                </a:spcBef>
                <a:spcAft>
                  <a:spcPts val="0"/>
                </a:spcAft>
                <a:buNone/>
              </a:pPr>
              <a:r>
                <a:rPr lang="en-US" sz="1500" b="1">
                  <a:solidFill>
                    <a:srgbClr val="007E87"/>
                  </a:solidFill>
                  <a:latin typeface="Verdana"/>
                  <a:ea typeface="Verdana"/>
                  <a:cs typeface="Verdana"/>
                  <a:sym typeface="Verdana"/>
                </a:rPr>
                <a:t>≈ 2 : 1 Ratio</a:t>
              </a:r>
              <a:r>
                <a:rPr lang="en-US" sz="1500" b="0">
                  <a:solidFill>
                    <a:srgbClr val="536674"/>
                  </a:solidFill>
                  <a:latin typeface="Verdana"/>
                  <a:ea typeface="Verdana"/>
                  <a:cs typeface="Verdana"/>
                  <a:sym typeface="Verdana"/>
                </a:rPr>
                <a:t> </a:t>
              </a:r>
              <a:r>
                <a:rPr lang="en-US" sz="1300" b="0">
                  <a:solidFill>
                    <a:schemeClr val="dk2"/>
                  </a:solidFill>
                  <a:latin typeface="Verdana"/>
                  <a:ea typeface="Verdana"/>
                  <a:cs typeface="Verdana"/>
                  <a:sym typeface="Verdana"/>
                </a:rPr>
                <a:t>(67.8% Train / 32.2% Test Split)</a:t>
              </a:r>
              <a:endParaRPr sz="1300" b="0">
                <a:solidFill>
                  <a:schemeClr val="dk2"/>
                </a:solidFill>
                <a:latin typeface="Verdana"/>
                <a:ea typeface="Verdana"/>
                <a:cs typeface="Verdana"/>
                <a:sym typeface="Verdana"/>
              </a:endParaRPr>
            </a:p>
          </p:txBody>
        </p:sp>
      </p:grpSp>
      <p:grpSp>
        <p:nvGrpSpPr>
          <p:cNvPr id="111" name="Google Shape;111;h59843ea5be7b33af_0_0"/>
          <p:cNvGrpSpPr/>
          <p:nvPr/>
        </p:nvGrpSpPr>
        <p:grpSpPr>
          <a:xfrm>
            <a:off x="609600" y="2571750"/>
            <a:ext cx="5502394" cy="1047900"/>
            <a:chOff x="0" y="0"/>
            <a:chExt cx="3276600" cy="1047900"/>
          </a:xfrm>
        </p:grpSpPr>
        <p:sp>
          <p:nvSpPr>
            <p:cNvPr id="112" name="Google Shape;112;h59843ea5be7b33af_0_0"/>
            <p:cNvSpPr/>
            <p:nvPr/>
          </p:nvSpPr>
          <p:spPr>
            <a:xfrm>
              <a:off x="0" y="0"/>
              <a:ext cx="3276600" cy="1047900"/>
            </a:xfrm>
            <a:prstGeom prst="roundRect">
              <a:avLst>
                <a:gd name="adj" fmla="val 7272"/>
              </a:avLst>
            </a:prstGeom>
            <a:solidFill>
              <a:srgbClr val="F0F4F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3" name="Google Shape;113;h59843ea5be7b33af_0_0"/>
            <p:cNvSpPr txBox="1"/>
            <p:nvPr/>
          </p:nvSpPr>
          <p:spPr>
            <a:xfrm>
              <a:off x="190500" y="152400"/>
              <a:ext cx="28956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536674"/>
                  </a:solidFill>
                  <a:latin typeface="Verdana"/>
                  <a:ea typeface="Verdana"/>
                  <a:cs typeface="Verdana"/>
                  <a:sym typeface="Verdana"/>
                </a:rPr>
                <a:t>AVERAGE RECORDS / CATEGORY</a:t>
              </a:r>
              <a:endParaRPr b="1">
                <a:solidFill>
                  <a:srgbClr val="536674"/>
                </a:solidFill>
                <a:latin typeface="Verdana"/>
                <a:ea typeface="Verdana"/>
                <a:cs typeface="Verdana"/>
                <a:sym typeface="Verdana"/>
              </a:endParaRPr>
            </a:p>
            <a:p>
              <a:pPr marL="0" lvl="0" indent="0" algn="l" rtl="0">
                <a:spcBef>
                  <a:spcPts val="300"/>
                </a:spcBef>
                <a:spcAft>
                  <a:spcPts val="0"/>
                </a:spcAft>
                <a:buNone/>
              </a:pPr>
              <a:r>
                <a:rPr lang="en-US" sz="2100" b="1">
                  <a:solidFill>
                    <a:srgbClr val="007E87"/>
                  </a:solidFill>
                  <a:latin typeface="Verdana"/>
                  <a:ea typeface="Verdana"/>
                  <a:cs typeface="Verdana"/>
                  <a:sym typeface="Verdana"/>
                </a:rPr>
                <a:t>242 </a:t>
              </a:r>
              <a:r>
                <a:rPr lang="en-US" sz="1300" b="0">
                  <a:solidFill>
                    <a:srgbClr val="536674"/>
                  </a:solidFill>
                  <a:latin typeface="Verdana"/>
                  <a:ea typeface="Verdana"/>
                  <a:cs typeface="Verdana"/>
                  <a:sym typeface="Verdana"/>
                </a:rPr>
                <a:t>Train </a:t>
              </a:r>
              <a:r>
                <a:rPr lang="en-US" sz="1700">
                  <a:solidFill>
                    <a:srgbClr val="CBD5E1"/>
                  </a:solidFill>
                </a:rPr>
                <a:t>|</a:t>
              </a:r>
              <a:r>
                <a:rPr lang="en-US" sz="2100" b="1">
                  <a:solidFill>
                    <a:srgbClr val="007E87"/>
                  </a:solidFill>
                  <a:latin typeface="Verdana"/>
                  <a:ea typeface="Verdana"/>
                  <a:cs typeface="Verdana"/>
                  <a:sym typeface="Verdana"/>
                </a:rPr>
                <a:t> 115 </a:t>
              </a:r>
              <a:r>
                <a:rPr lang="en-US" sz="1300" b="0">
                  <a:solidFill>
                    <a:srgbClr val="536674"/>
                  </a:solidFill>
                  <a:latin typeface="Verdana"/>
                  <a:ea typeface="Verdana"/>
                  <a:cs typeface="Verdana"/>
                  <a:sym typeface="Verdana"/>
                </a:rPr>
                <a:t>Test</a:t>
              </a:r>
              <a:endParaRPr sz="1300" b="0">
                <a:solidFill>
                  <a:srgbClr val="536674"/>
                </a:solidFill>
                <a:latin typeface="Verdana"/>
                <a:ea typeface="Verdana"/>
                <a:cs typeface="Verdana"/>
                <a:sym typeface="Verdana"/>
              </a:endParaRPr>
            </a:p>
          </p:txBody>
        </p:sp>
      </p:grpSp>
      <p:grpSp>
        <p:nvGrpSpPr>
          <p:cNvPr id="114" name="Google Shape;114;h59843ea5be7b33af_0_0"/>
          <p:cNvGrpSpPr/>
          <p:nvPr/>
        </p:nvGrpSpPr>
        <p:grpSpPr>
          <a:xfrm>
            <a:off x="6321699" y="2571750"/>
            <a:ext cx="5260581" cy="1047900"/>
            <a:chOff x="0" y="0"/>
            <a:chExt cx="3276600" cy="1047900"/>
          </a:xfrm>
        </p:grpSpPr>
        <p:sp>
          <p:nvSpPr>
            <p:cNvPr id="115" name="Google Shape;115;h59843ea5be7b33af_0_0"/>
            <p:cNvSpPr/>
            <p:nvPr/>
          </p:nvSpPr>
          <p:spPr>
            <a:xfrm>
              <a:off x="0" y="0"/>
              <a:ext cx="3276600" cy="1047900"/>
            </a:xfrm>
            <a:prstGeom prst="roundRect">
              <a:avLst>
                <a:gd name="adj" fmla="val 7272"/>
              </a:avLst>
            </a:prstGeom>
            <a:solidFill>
              <a:srgbClr val="F0F4F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6" name="Google Shape;116;h59843ea5be7b33af_0_0"/>
            <p:cNvSpPr txBox="1"/>
            <p:nvPr/>
          </p:nvSpPr>
          <p:spPr>
            <a:xfrm>
              <a:off x="190500" y="152400"/>
              <a:ext cx="28956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536674"/>
                  </a:solidFill>
                  <a:latin typeface="Verdana"/>
                  <a:ea typeface="Verdana"/>
                  <a:cs typeface="Verdana"/>
                  <a:sym typeface="Verdana"/>
                </a:rPr>
                <a:t>GROUND TRUTH (GT) DEFECT MASKS</a:t>
              </a:r>
              <a:endParaRPr b="1">
                <a:solidFill>
                  <a:srgbClr val="536674"/>
                </a:solidFill>
                <a:latin typeface="Verdana"/>
                <a:ea typeface="Verdana"/>
                <a:cs typeface="Verdana"/>
                <a:sym typeface="Verdana"/>
              </a:endParaRPr>
            </a:p>
            <a:p>
              <a:pPr marL="0" lvl="0" indent="0" algn="l" rtl="0">
                <a:spcBef>
                  <a:spcPts val="300"/>
                </a:spcBef>
                <a:spcAft>
                  <a:spcPts val="0"/>
                </a:spcAft>
                <a:buNone/>
              </a:pPr>
              <a:r>
                <a:rPr lang="en-US" sz="2100" b="1">
                  <a:solidFill>
                    <a:srgbClr val="007E87"/>
                  </a:solidFill>
                  <a:latin typeface="Verdana"/>
                  <a:ea typeface="Verdana"/>
                  <a:cs typeface="Verdana"/>
                  <a:sym typeface="Verdana"/>
                </a:rPr>
                <a:t>84 </a:t>
              </a:r>
              <a:r>
                <a:rPr lang="en-US" sz="1300">
                  <a:solidFill>
                    <a:srgbClr val="536674"/>
                  </a:solidFill>
                  <a:latin typeface="Verdana"/>
                  <a:ea typeface="Verdana"/>
                  <a:cs typeface="Verdana"/>
                  <a:sym typeface="Verdana"/>
                </a:rPr>
                <a:t>± 33 per category</a:t>
              </a:r>
              <a:endParaRPr sz="1700">
                <a:solidFill>
                  <a:schemeClr val="dk1"/>
                </a:solidFill>
              </a:endParaRPr>
            </a:p>
            <a:p>
              <a:pPr marL="0" lvl="0" indent="0" algn="l" rtl="0">
                <a:spcBef>
                  <a:spcPts val="300"/>
                </a:spcBef>
                <a:spcAft>
                  <a:spcPts val="0"/>
                </a:spcAft>
                <a:buNone/>
              </a:pPr>
              <a:r>
                <a:rPr lang="en-US" sz="1300">
                  <a:solidFill>
                    <a:srgbClr val="12293A"/>
                  </a:solidFill>
                  <a:latin typeface="Verdana"/>
                  <a:ea typeface="Verdana"/>
                  <a:cs typeface="Verdana"/>
                  <a:sym typeface="Verdana"/>
                </a:rPr>
                <a:t>Total Mask Images: </a:t>
              </a:r>
              <a:r>
                <a:rPr lang="en-US" sz="1300" b="1">
                  <a:solidFill>
                    <a:schemeClr val="dk1"/>
                  </a:solidFill>
                  <a:latin typeface="Verdana"/>
                  <a:ea typeface="Verdana"/>
                  <a:cs typeface="Verdana"/>
                  <a:sym typeface="Verdana"/>
                </a:rPr>
                <a:t>1,258</a:t>
              </a:r>
              <a:endParaRPr sz="1300" b="1">
                <a:solidFill>
                  <a:schemeClr val="dk1"/>
                </a:solidFill>
                <a:latin typeface="Verdana"/>
                <a:ea typeface="Verdana"/>
                <a:cs typeface="Verdana"/>
                <a:sym typeface="Verdana"/>
              </a:endParaRPr>
            </a:p>
          </p:txBody>
        </p:sp>
      </p:grpSp>
      <p:grpSp>
        <p:nvGrpSpPr>
          <p:cNvPr id="117" name="Google Shape;117;h59843ea5be7b33af_0_0"/>
          <p:cNvGrpSpPr/>
          <p:nvPr/>
        </p:nvGrpSpPr>
        <p:grpSpPr>
          <a:xfrm>
            <a:off x="609600" y="3810000"/>
            <a:ext cx="10972800" cy="2724300"/>
            <a:chOff x="0" y="0"/>
            <a:chExt cx="10972800" cy="2724300"/>
          </a:xfrm>
        </p:grpSpPr>
        <p:sp>
          <p:nvSpPr>
            <p:cNvPr id="118" name="Google Shape;118;h59843ea5be7b33af_0_0"/>
            <p:cNvSpPr/>
            <p:nvPr/>
          </p:nvSpPr>
          <p:spPr>
            <a:xfrm>
              <a:off x="0" y="0"/>
              <a:ext cx="10972800" cy="247800"/>
            </a:xfrm>
            <a:prstGeom prst="roundRect">
              <a:avLst>
                <a:gd name="adj" fmla="val 15384"/>
              </a:avLst>
            </a:prstGeom>
            <a:solidFill>
              <a:srgbClr val="12293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h59843ea5be7b33af_0_0"/>
            <p:cNvSpPr txBox="1"/>
            <p:nvPr/>
          </p:nvSpPr>
          <p:spPr>
            <a:xfrm>
              <a:off x="152400" y="47625"/>
              <a:ext cx="1905000" cy="152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800" b="1">
                  <a:solidFill>
                    <a:srgbClr val="FFFFFF"/>
                  </a:solidFill>
                  <a:latin typeface="Verdana"/>
                  <a:ea typeface="Verdana"/>
                  <a:cs typeface="Verdana"/>
                  <a:sym typeface="Verdana"/>
                </a:rPr>
                <a:t>CATEGORY</a:t>
              </a:r>
              <a:endParaRPr/>
            </a:p>
          </p:txBody>
        </p:sp>
        <p:sp>
          <p:nvSpPr>
            <p:cNvPr id="120" name="Google Shape;120;h59843ea5be7b33af_0_0"/>
            <p:cNvSpPr txBox="1"/>
            <p:nvPr/>
          </p:nvSpPr>
          <p:spPr>
            <a:xfrm>
              <a:off x="7924800" y="47625"/>
              <a:ext cx="22479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800" b="1" i="0" u="none" strike="noStrike">
                  <a:solidFill>
                    <a:srgbClr val="FFFFFF"/>
                  </a:solidFill>
                  <a:latin typeface="Verdana"/>
                  <a:ea typeface="Verdana"/>
                  <a:cs typeface="Verdana"/>
                  <a:sym typeface="Verdana"/>
                </a:rPr>
                <a:t>GROUND TRUTH  (DEFECT MASK)</a:t>
              </a:r>
              <a:endParaRPr sz="800" b="1" i="0" u="none" strike="noStrike">
                <a:solidFill>
                  <a:srgbClr val="FFFFFF"/>
                </a:solidFill>
                <a:latin typeface="Verdana"/>
                <a:ea typeface="Verdana"/>
                <a:cs typeface="Verdana"/>
                <a:sym typeface="Verdana"/>
              </a:endParaRPr>
            </a:p>
          </p:txBody>
        </p:sp>
        <p:sp>
          <p:nvSpPr>
            <p:cNvPr id="121" name="Google Shape;121;h59843ea5be7b33af_0_0"/>
            <p:cNvSpPr txBox="1"/>
            <p:nvPr/>
          </p:nvSpPr>
          <p:spPr>
            <a:xfrm>
              <a:off x="5334000" y="47625"/>
              <a:ext cx="1714500" cy="152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800" b="1">
                  <a:solidFill>
                    <a:srgbClr val="FFFFFF"/>
                  </a:solidFill>
                  <a:latin typeface="Verdana"/>
                  <a:ea typeface="Verdana"/>
                  <a:cs typeface="Verdana"/>
                  <a:sym typeface="Verdana"/>
                </a:rPr>
                <a:t>TEST (DEFECT + NORMAL)</a:t>
              </a:r>
              <a:endParaRPr/>
            </a:p>
          </p:txBody>
        </p:sp>
        <p:sp>
          <p:nvSpPr>
            <p:cNvPr id="122" name="Google Shape;122;h59843ea5be7b33af_0_0"/>
            <p:cNvSpPr txBox="1"/>
            <p:nvPr/>
          </p:nvSpPr>
          <p:spPr>
            <a:xfrm>
              <a:off x="2476500" y="47625"/>
              <a:ext cx="1714500" cy="1524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800" b="1" i="0" u="none" strike="noStrike">
                  <a:solidFill>
                    <a:srgbClr val="FFFFFF"/>
                  </a:solidFill>
                  <a:latin typeface="Verdana"/>
                  <a:ea typeface="Verdana"/>
                  <a:cs typeface="Verdana"/>
                  <a:sym typeface="Verdana"/>
                </a:rPr>
                <a:t>TRAIN (NORMAL)</a:t>
              </a:r>
              <a:endParaRPr sz="800" b="1" i="0" u="none" strike="noStrike">
                <a:solidFill>
                  <a:srgbClr val="FFFFFF"/>
                </a:solidFill>
                <a:latin typeface="Verdana"/>
                <a:ea typeface="Verdana"/>
                <a:cs typeface="Verdana"/>
                <a:sym typeface="Verdana"/>
              </a:endParaRPr>
            </a:p>
          </p:txBody>
        </p:sp>
        <p:grpSp>
          <p:nvGrpSpPr>
            <p:cNvPr id="123" name="Google Shape;123;h59843ea5be7b33af_0_0"/>
            <p:cNvGrpSpPr/>
            <p:nvPr/>
          </p:nvGrpSpPr>
          <p:grpSpPr>
            <a:xfrm>
              <a:off x="0" y="266700"/>
              <a:ext cx="10972800" cy="152400"/>
              <a:chOff x="0" y="0"/>
              <a:chExt cx="10972800" cy="152400"/>
            </a:xfrm>
          </p:grpSpPr>
          <p:sp>
            <p:nvSpPr>
              <p:cNvPr id="124" name="Google Shape;124;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bottle</a:t>
                </a:r>
                <a:endParaRPr/>
              </a:p>
            </p:txBody>
          </p:sp>
          <p:sp>
            <p:nvSpPr>
              <p:cNvPr id="126" name="Google Shape;126;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63</a:t>
                </a:r>
                <a:endParaRPr sz="750" b="0" i="0" u="none" strike="noStrike">
                  <a:solidFill>
                    <a:srgbClr val="12293A"/>
                  </a:solidFill>
                  <a:latin typeface="Verdana"/>
                  <a:ea typeface="Verdana"/>
                  <a:cs typeface="Verdana"/>
                  <a:sym typeface="Verdana"/>
                </a:endParaRPr>
              </a:p>
            </p:txBody>
          </p:sp>
          <p:sp>
            <p:nvSpPr>
              <p:cNvPr id="127" name="Google Shape;127;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83</a:t>
                </a:r>
                <a:endParaRPr/>
              </a:p>
            </p:txBody>
          </p:sp>
          <p:sp>
            <p:nvSpPr>
              <p:cNvPr id="128" name="Google Shape;128;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209</a:t>
                </a:r>
                <a:endParaRPr sz="750" b="1" i="0" u="none" strike="noStrike">
                  <a:solidFill>
                    <a:srgbClr val="007E87"/>
                  </a:solidFill>
                  <a:latin typeface="Verdana"/>
                  <a:ea typeface="Verdana"/>
                  <a:cs typeface="Verdana"/>
                  <a:sym typeface="Verdana"/>
                </a:endParaRPr>
              </a:p>
            </p:txBody>
          </p:sp>
        </p:grpSp>
        <p:grpSp>
          <p:nvGrpSpPr>
            <p:cNvPr id="129" name="Google Shape;129;h59843ea5be7b33af_0_0"/>
            <p:cNvGrpSpPr/>
            <p:nvPr/>
          </p:nvGrpSpPr>
          <p:grpSpPr>
            <a:xfrm>
              <a:off x="0" y="419100"/>
              <a:ext cx="10972800" cy="152400"/>
              <a:chOff x="0" y="0"/>
              <a:chExt cx="10972800" cy="152400"/>
            </a:xfrm>
          </p:grpSpPr>
          <p:sp>
            <p:nvSpPr>
              <p:cNvPr id="130" name="Google Shape;130;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1" name="Google Shape;131;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cable</a:t>
                </a:r>
                <a:endParaRPr/>
              </a:p>
            </p:txBody>
          </p:sp>
          <p:sp>
            <p:nvSpPr>
              <p:cNvPr id="132" name="Google Shape;132;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92</a:t>
                </a:r>
                <a:endParaRPr sz="750" b="0" i="0" u="none" strike="noStrike">
                  <a:solidFill>
                    <a:srgbClr val="12293A"/>
                  </a:solidFill>
                  <a:latin typeface="Verdana"/>
                  <a:ea typeface="Verdana"/>
                  <a:cs typeface="Verdana"/>
                  <a:sym typeface="Verdana"/>
                </a:endParaRPr>
              </a:p>
            </p:txBody>
          </p:sp>
          <p:sp>
            <p:nvSpPr>
              <p:cNvPr id="133" name="Google Shape;133;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150</a:t>
                </a:r>
                <a:endParaRPr/>
              </a:p>
            </p:txBody>
          </p:sp>
          <p:sp>
            <p:nvSpPr>
              <p:cNvPr id="134" name="Google Shape;134;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224</a:t>
                </a:r>
                <a:endParaRPr sz="750" b="1" i="0" u="none" strike="noStrike">
                  <a:solidFill>
                    <a:srgbClr val="007E87"/>
                  </a:solidFill>
                  <a:latin typeface="Verdana"/>
                  <a:ea typeface="Verdana"/>
                  <a:cs typeface="Verdana"/>
                  <a:sym typeface="Verdana"/>
                </a:endParaRPr>
              </a:p>
            </p:txBody>
          </p:sp>
        </p:grpSp>
        <p:grpSp>
          <p:nvGrpSpPr>
            <p:cNvPr id="135" name="Google Shape;135;h59843ea5be7b33af_0_0"/>
            <p:cNvGrpSpPr/>
            <p:nvPr/>
          </p:nvGrpSpPr>
          <p:grpSpPr>
            <a:xfrm>
              <a:off x="0" y="571500"/>
              <a:ext cx="10972800" cy="152400"/>
              <a:chOff x="0" y="0"/>
              <a:chExt cx="10972800" cy="152400"/>
            </a:xfrm>
          </p:grpSpPr>
          <p:sp>
            <p:nvSpPr>
              <p:cNvPr id="136" name="Google Shape;136;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7" name="Google Shape;137;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capsule</a:t>
                </a:r>
                <a:endParaRPr/>
              </a:p>
            </p:txBody>
          </p:sp>
          <p:sp>
            <p:nvSpPr>
              <p:cNvPr id="138" name="Google Shape;138;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109</a:t>
                </a:r>
                <a:endParaRPr sz="750" b="0" i="0" u="none" strike="noStrike">
                  <a:solidFill>
                    <a:srgbClr val="12293A"/>
                  </a:solidFill>
                  <a:latin typeface="Verdana"/>
                  <a:ea typeface="Verdana"/>
                  <a:cs typeface="Verdana"/>
                  <a:sym typeface="Verdana"/>
                </a:endParaRPr>
              </a:p>
            </p:txBody>
          </p:sp>
          <p:sp>
            <p:nvSpPr>
              <p:cNvPr id="139" name="Google Shape;139;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132</a:t>
                </a:r>
                <a:endParaRPr/>
              </a:p>
            </p:txBody>
          </p:sp>
          <p:sp>
            <p:nvSpPr>
              <p:cNvPr id="140" name="Google Shape;140;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219</a:t>
                </a:r>
                <a:endParaRPr sz="750" b="1" i="0" u="none" strike="noStrike">
                  <a:solidFill>
                    <a:srgbClr val="007E87"/>
                  </a:solidFill>
                  <a:latin typeface="Verdana"/>
                  <a:ea typeface="Verdana"/>
                  <a:cs typeface="Verdana"/>
                  <a:sym typeface="Verdana"/>
                </a:endParaRPr>
              </a:p>
            </p:txBody>
          </p:sp>
        </p:grpSp>
        <p:grpSp>
          <p:nvGrpSpPr>
            <p:cNvPr id="141" name="Google Shape;141;h59843ea5be7b33af_0_0"/>
            <p:cNvGrpSpPr/>
            <p:nvPr/>
          </p:nvGrpSpPr>
          <p:grpSpPr>
            <a:xfrm>
              <a:off x="0" y="723900"/>
              <a:ext cx="10972800" cy="152400"/>
              <a:chOff x="0" y="0"/>
              <a:chExt cx="10972800" cy="152400"/>
            </a:xfrm>
          </p:grpSpPr>
          <p:sp>
            <p:nvSpPr>
              <p:cNvPr id="142" name="Google Shape;142;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3" name="Google Shape;143;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carpet</a:t>
                </a:r>
                <a:endParaRPr/>
              </a:p>
            </p:txBody>
          </p:sp>
          <p:sp>
            <p:nvSpPr>
              <p:cNvPr id="144" name="Google Shape;144;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89</a:t>
                </a:r>
                <a:endParaRPr sz="750" b="0" i="0" u="none" strike="noStrike">
                  <a:solidFill>
                    <a:srgbClr val="12293A"/>
                  </a:solidFill>
                  <a:latin typeface="Verdana"/>
                  <a:ea typeface="Verdana"/>
                  <a:cs typeface="Verdana"/>
                  <a:sym typeface="Verdana"/>
                </a:endParaRPr>
              </a:p>
            </p:txBody>
          </p:sp>
          <p:sp>
            <p:nvSpPr>
              <p:cNvPr id="145" name="Google Shape;145;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117</a:t>
                </a:r>
                <a:endParaRPr/>
              </a:p>
            </p:txBody>
          </p:sp>
          <p:sp>
            <p:nvSpPr>
              <p:cNvPr id="146" name="Google Shape;146;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280</a:t>
                </a:r>
                <a:endParaRPr sz="750" b="1" i="0" u="none" strike="noStrike">
                  <a:solidFill>
                    <a:srgbClr val="007E87"/>
                  </a:solidFill>
                  <a:latin typeface="Verdana"/>
                  <a:ea typeface="Verdana"/>
                  <a:cs typeface="Verdana"/>
                  <a:sym typeface="Verdana"/>
                </a:endParaRPr>
              </a:p>
            </p:txBody>
          </p:sp>
        </p:grpSp>
        <p:grpSp>
          <p:nvGrpSpPr>
            <p:cNvPr id="147" name="Google Shape;147;h59843ea5be7b33af_0_0"/>
            <p:cNvGrpSpPr/>
            <p:nvPr/>
          </p:nvGrpSpPr>
          <p:grpSpPr>
            <a:xfrm>
              <a:off x="0" y="876300"/>
              <a:ext cx="10972800" cy="152400"/>
              <a:chOff x="0" y="0"/>
              <a:chExt cx="10972800" cy="152400"/>
            </a:xfrm>
          </p:grpSpPr>
          <p:sp>
            <p:nvSpPr>
              <p:cNvPr id="148" name="Google Shape;148;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9" name="Google Shape;149;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grid</a:t>
                </a:r>
                <a:endParaRPr/>
              </a:p>
            </p:txBody>
          </p:sp>
          <p:sp>
            <p:nvSpPr>
              <p:cNvPr id="150" name="Google Shape;150;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57</a:t>
                </a:r>
                <a:endParaRPr sz="750" b="0" i="0" u="none" strike="noStrike">
                  <a:solidFill>
                    <a:srgbClr val="12293A"/>
                  </a:solidFill>
                  <a:latin typeface="Verdana"/>
                  <a:ea typeface="Verdana"/>
                  <a:cs typeface="Verdana"/>
                  <a:sym typeface="Verdana"/>
                </a:endParaRPr>
              </a:p>
            </p:txBody>
          </p:sp>
          <p:sp>
            <p:nvSpPr>
              <p:cNvPr id="151" name="Google Shape;151;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78</a:t>
                </a:r>
                <a:endParaRPr/>
              </a:p>
            </p:txBody>
          </p:sp>
          <p:sp>
            <p:nvSpPr>
              <p:cNvPr id="152" name="Google Shape;152;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264</a:t>
                </a:r>
                <a:endParaRPr sz="750" b="1" i="0" u="none" strike="noStrike">
                  <a:solidFill>
                    <a:srgbClr val="007E87"/>
                  </a:solidFill>
                  <a:latin typeface="Verdana"/>
                  <a:ea typeface="Verdana"/>
                  <a:cs typeface="Verdana"/>
                  <a:sym typeface="Verdana"/>
                </a:endParaRPr>
              </a:p>
            </p:txBody>
          </p:sp>
        </p:grpSp>
        <p:grpSp>
          <p:nvGrpSpPr>
            <p:cNvPr id="153" name="Google Shape;153;h59843ea5be7b33af_0_0"/>
            <p:cNvGrpSpPr/>
            <p:nvPr/>
          </p:nvGrpSpPr>
          <p:grpSpPr>
            <a:xfrm>
              <a:off x="0" y="1028700"/>
              <a:ext cx="10972800" cy="152400"/>
              <a:chOff x="0" y="0"/>
              <a:chExt cx="10972800" cy="152400"/>
            </a:xfrm>
          </p:grpSpPr>
          <p:sp>
            <p:nvSpPr>
              <p:cNvPr id="154" name="Google Shape;154;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5" name="Google Shape;155;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hazelnut</a:t>
                </a:r>
                <a:endParaRPr/>
              </a:p>
            </p:txBody>
          </p:sp>
          <p:sp>
            <p:nvSpPr>
              <p:cNvPr id="156" name="Google Shape;156;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70</a:t>
                </a:r>
                <a:endParaRPr sz="750" b="0" i="0" u="none" strike="noStrike">
                  <a:solidFill>
                    <a:srgbClr val="12293A"/>
                  </a:solidFill>
                  <a:latin typeface="Verdana"/>
                  <a:ea typeface="Verdana"/>
                  <a:cs typeface="Verdana"/>
                  <a:sym typeface="Verdana"/>
                </a:endParaRPr>
              </a:p>
            </p:txBody>
          </p:sp>
          <p:sp>
            <p:nvSpPr>
              <p:cNvPr id="157" name="Google Shape;157;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110</a:t>
                </a:r>
                <a:endParaRPr/>
              </a:p>
            </p:txBody>
          </p:sp>
          <p:sp>
            <p:nvSpPr>
              <p:cNvPr id="158" name="Google Shape;158;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391</a:t>
                </a:r>
                <a:endParaRPr sz="750" b="1" i="0" u="none" strike="noStrike">
                  <a:solidFill>
                    <a:srgbClr val="007E87"/>
                  </a:solidFill>
                  <a:latin typeface="Verdana"/>
                  <a:ea typeface="Verdana"/>
                  <a:cs typeface="Verdana"/>
                  <a:sym typeface="Verdana"/>
                </a:endParaRPr>
              </a:p>
            </p:txBody>
          </p:sp>
        </p:grpSp>
        <p:grpSp>
          <p:nvGrpSpPr>
            <p:cNvPr id="159" name="Google Shape;159;h59843ea5be7b33af_0_0"/>
            <p:cNvGrpSpPr/>
            <p:nvPr/>
          </p:nvGrpSpPr>
          <p:grpSpPr>
            <a:xfrm>
              <a:off x="0" y="1181100"/>
              <a:ext cx="10972800" cy="152400"/>
              <a:chOff x="0" y="0"/>
              <a:chExt cx="10972800" cy="152400"/>
            </a:xfrm>
          </p:grpSpPr>
          <p:sp>
            <p:nvSpPr>
              <p:cNvPr id="160" name="Google Shape;160;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 name="Google Shape;161;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leather</a:t>
                </a:r>
                <a:endParaRPr/>
              </a:p>
            </p:txBody>
          </p:sp>
          <p:sp>
            <p:nvSpPr>
              <p:cNvPr id="162" name="Google Shape;162;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92</a:t>
                </a:r>
                <a:endParaRPr sz="750" b="0" i="0" u="none" strike="noStrike">
                  <a:solidFill>
                    <a:srgbClr val="12293A"/>
                  </a:solidFill>
                  <a:latin typeface="Verdana"/>
                  <a:ea typeface="Verdana"/>
                  <a:cs typeface="Verdana"/>
                  <a:sym typeface="Verdana"/>
                </a:endParaRPr>
              </a:p>
            </p:txBody>
          </p:sp>
          <p:sp>
            <p:nvSpPr>
              <p:cNvPr id="163" name="Google Shape;163;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124</a:t>
                </a:r>
                <a:endParaRPr/>
              </a:p>
            </p:txBody>
          </p:sp>
          <p:sp>
            <p:nvSpPr>
              <p:cNvPr id="164" name="Google Shape;164;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245</a:t>
                </a:r>
                <a:endParaRPr sz="750" b="1" i="0" u="none" strike="noStrike">
                  <a:solidFill>
                    <a:srgbClr val="007E87"/>
                  </a:solidFill>
                  <a:latin typeface="Verdana"/>
                  <a:ea typeface="Verdana"/>
                  <a:cs typeface="Verdana"/>
                  <a:sym typeface="Verdana"/>
                </a:endParaRPr>
              </a:p>
            </p:txBody>
          </p:sp>
        </p:grpSp>
        <p:grpSp>
          <p:nvGrpSpPr>
            <p:cNvPr id="165" name="Google Shape;165;h59843ea5be7b33af_0_0"/>
            <p:cNvGrpSpPr/>
            <p:nvPr/>
          </p:nvGrpSpPr>
          <p:grpSpPr>
            <a:xfrm>
              <a:off x="0" y="1333500"/>
              <a:ext cx="10972800" cy="152400"/>
              <a:chOff x="0" y="0"/>
              <a:chExt cx="10972800" cy="152400"/>
            </a:xfrm>
          </p:grpSpPr>
          <p:sp>
            <p:nvSpPr>
              <p:cNvPr id="166" name="Google Shape;166;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7" name="Google Shape;167;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metal nut</a:t>
                </a:r>
                <a:endParaRPr/>
              </a:p>
            </p:txBody>
          </p:sp>
          <p:sp>
            <p:nvSpPr>
              <p:cNvPr id="168" name="Google Shape;168;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93</a:t>
                </a:r>
                <a:endParaRPr sz="750" b="0" i="0" u="none" strike="noStrike">
                  <a:solidFill>
                    <a:srgbClr val="12293A"/>
                  </a:solidFill>
                  <a:latin typeface="Verdana"/>
                  <a:ea typeface="Verdana"/>
                  <a:cs typeface="Verdana"/>
                  <a:sym typeface="Verdana"/>
                </a:endParaRPr>
              </a:p>
            </p:txBody>
          </p:sp>
          <p:sp>
            <p:nvSpPr>
              <p:cNvPr id="169" name="Google Shape;169;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115</a:t>
                </a:r>
                <a:endParaRPr/>
              </a:p>
            </p:txBody>
          </p:sp>
          <p:sp>
            <p:nvSpPr>
              <p:cNvPr id="170" name="Google Shape;170;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220</a:t>
                </a:r>
                <a:endParaRPr sz="750" b="1" i="0" u="none" strike="noStrike">
                  <a:solidFill>
                    <a:srgbClr val="007E87"/>
                  </a:solidFill>
                  <a:latin typeface="Verdana"/>
                  <a:ea typeface="Verdana"/>
                  <a:cs typeface="Verdana"/>
                  <a:sym typeface="Verdana"/>
                </a:endParaRPr>
              </a:p>
            </p:txBody>
          </p:sp>
        </p:grpSp>
        <p:grpSp>
          <p:nvGrpSpPr>
            <p:cNvPr id="171" name="Google Shape;171;h59843ea5be7b33af_0_0"/>
            <p:cNvGrpSpPr/>
            <p:nvPr/>
          </p:nvGrpSpPr>
          <p:grpSpPr>
            <a:xfrm>
              <a:off x="0" y="1485900"/>
              <a:ext cx="10972800" cy="152400"/>
              <a:chOff x="0" y="0"/>
              <a:chExt cx="10972800" cy="152400"/>
            </a:xfrm>
          </p:grpSpPr>
          <p:sp>
            <p:nvSpPr>
              <p:cNvPr id="172" name="Google Shape;172;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pill</a:t>
                </a:r>
                <a:endParaRPr/>
              </a:p>
            </p:txBody>
          </p:sp>
          <p:sp>
            <p:nvSpPr>
              <p:cNvPr id="174" name="Google Shape;174;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141</a:t>
                </a:r>
                <a:endParaRPr sz="750" b="0" i="0" u="none" strike="noStrike">
                  <a:solidFill>
                    <a:srgbClr val="12293A"/>
                  </a:solidFill>
                  <a:latin typeface="Verdana"/>
                  <a:ea typeface="Verdana"/>
                  <a:cs typeface="Verdana"/>
                  <a:sym typeface="Verdana"/>
                </a:endParaRPr>
              </a:p>
            </p:txBody>
          </p:sp>
          <p:sp>
            <p:nvSpPr>
              <p:cNvPr id="175" name="Google Shape;175;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167</a:t>
                </a:r>
                <a:endParaRPr/>
              </a:p>
            </p:txBody>
          </p:sp>
          <p:sp>
            <p:nvSpPr>
              <p:cNvPr id="176" name="Google Shape;176;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267</a:t>
                </a:r>
                <a:endParaRPr sz="750" b="1" i="0" u="none" strike="noStrike">
                  <a:solidFill>
                    <a:srgbClr val="007E87"/>
                  </a:solidFill>
                  <a:latin typeface="Verdana"/>
                  <a:ea typeface="Verdana"/>
                  <a:cs typeface="Verdana"/>
                  <a:sym typeface="Verdana"/>
                </a:endParaRPr>
              </a:p>
            </p:txBody>
          </p:sp>
        </p:grpSp>
        <p:grpSp>
          <p:nvGrpSpPr>
            <p:cNvPr id="177" name="Google Shape;177;h59843ea5be7b33af_0_0"/>
            <p:cNvGrpSpPr/>
            <p:nvPr/>
          </p:nvGrpSpPr>
          <p:grpSpPr>
            <a:xfrm>
              <a:off x="0" y="1638300"/>
              <a:ext cx="10972800" cy="152400"/>
              <a:chOff x="0" y="0"/>
              <a:chExt cx="10972800" cy="152400"/>
            </a:xfrm>
          </p:grpSpPr>
          <p:sp>
            <p:nvSpPr>
              <p:cNvPr id="178" name="Google Shape;178;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screw</a:t>
                </a:r>
                <a:endParaRPr/>
              </a:p>
            </p:txBody>
          </p:sp>
          <p:sp>
            <p:nvSpPr>
              <p:cNvPr id="180" name="Google Shape;180;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119</a:t>
                </a:r>
                <a:endParaRPr sz="750" b="0" i="0" u="none" strike="noStrike">
                  <a:solidFill>
                    <a:srgbClr val="12293A"/>
                  </a:solidFill>
                  <a:latin typeface="Verdana"/>
                  <a:ea typeface="Verdana"/>
                  <a:cs typeface="Verdana"/>
                  <a:sym typeface="Verdana"/>
                </a:endParaRPr>
              </a:p>
            </p:txBody>
          </p:sp>
          <p:sp>
            <p:nvSpPr>
              <p:cNvPr id="181" name="Google Shape;181;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160</a:t>
                </a:r>
                <a:endParaRPr/>
              </a:p>
            </p:txBody>
          </p:sp>
          <p:sp>
            <p:nvSpPr>
              <p:cNvPr id="182" name="Google Shape;182;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320</a:t>
                </a:r>
                <a:endParaRPr sz="750" b="1" i="0" u="none" strike="noStrike">
                  <a:solidFill>
                    <a:srgbClr val="007E87"/>
                  </a:solidFill>
                  <a:latin typeface="Verdana"/>
                  <a:ea typeface="Verdana"/>
                  <a:cs typeface="Verdana"/>
                  <a:sym typeface="Verdana"/>
                </a:endParaRPr>
              </a:p>
            </p:txBody>
          </p:sp>
        </p:grpSp>
        <p:grpSp>
          <p:nvGrpSpPr>
            <p:cNvPr id="183" name="Google Shape;183;h59843ea5be7b33af_0_0"/>
            <p:cNvGrpSpPr/>
            <p:nvPr/>
          </p:nvGrpSpPr>
          <p:grpSpPr>
            <a:xfrm>
              <a:off x="0" y="1790700"/>
              <a:ext cx="10972800" cy="152400"/>
              <a:chOff x="0" y="0"/>
              <a:chExt cx="10972800" cy="152400"/>
            </a:xfrm>
          </p:grpSpPr>
          <p:sp>
            <p:nvSpPr>
              <p:cNvPr id="184" name="Google Shape;184;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tile</a:t>
                </a:r>
                <a:endParaRPr/>
              </a:p>
            </p:txBody>
          </p:sp>
          <p:sp>
            <p:nvSpPr>
              <p:cNvPr id="186" name="Google Shape;186;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84</a:t>
                </a:r>
                <a:endParaRPr sz="750" b="0" i="0" u="none" strike="noStrike">
                  <a:solidFill>
                    <a:srgbClr val="12293A"/>
                  </a:solidFill>
                  <a:latin typeface="Verdana"/>
                  <a:ea typeface="Verdana"/>
                  <a:cs typeface="Verdana"/>
                  <a:sym typeface="Verdana"/>
                </a:endParaRPr>
              </a:p>
            </p:txBody>
          </p:sp>
          <p:sp>
            <p:nvSpPr>
              <p:cNvPr id="187" name="Google Shape;187;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117</a:t>
                </a:r>
                <a:endParaRPr/>
              </a:p>
            </p:txBody>
          </p:sp>
          <p:sp>
            <p:nvSpPr>
              <p:cNvPr id="188" name="Google Shape;188;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230</a:t>
                </a:r>
                <a:endParaRPr sz="750" b="1" i="0" u="none" strike="noStrike">
                  <a:solidFill>
                    <a:srgbClr val="007E87"/>
                  </a:solidFill>
                  <a:latin typeface="Verdana"/>
                  <a:ea typeface="Verdana"/>
                  <a:cs typeface="Verdana"/>
                  <a:sym typeface="Verdana"/>
                </a:endParaRPr>
              </a:p>
            </p:txBody>
          </p:sp>
        </p:grpSp>
        <p:grpSp>
          <p:nvGrpSpPr>
            <p:cNvPr id="189" name="Google Shape;189;h59843ea5be7b33af_0_0"/>
            <p:cNvGrpSpPr/>
            <p:nvPr/>
          </p:nvGrpSpPr>
          <p:grpSpPr>
            <a:xfrm>
              <a:off x="0" y="1943100"/>
              <a:ext cx="10972800" cy="152400"/>
              <a:chOff x="0" y="0"/>
              <a:chExt cx="10972800" cy="152400"/>
            </a:xfrm>
          </p:grpSpPr>
          <p:sp>
            <p:nvSpPr>
              <p:cNvPr id="190" name="Google Shape;190;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1" name="Google Shape;191;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toothbrush</a:t>
                </a:r>
                <a:endParaRPr/>
              </a:p>
            </p:txBody>
          </p:sp>
          <p:sp>
            <p:nvSpPr>
              <p:cNvPr id="192" name="Google Shape;192;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30</a:t>
                </a:r>
                <a:endParaRPr sz="750" b="0" i="0" u="none" strike="noStrike">
                  <a:solidFill>
                    <a:srgbClr val="12293A"/>
                  </a:solidFill>
                  <a:latin typeface="Verdana"/>
                  <a:ea typeface="Verdana"/>
                  <a:cs typeface="Verdana"/>
                  <a:sym typeface="Verdana"/>
                </a:endParaRPr>
              </a:p>
            </p:txBody>
          </p:sp>
          <p:sp>
            <p:nvSpPr>
              <p:cNvPr id="193" name="Google Shape;193;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42</a:t>
                </a:r>
                <a:endParaRPr/>
              </a:p>
            </p:txBody>
          </p:sp>
          <p:sp>
            <p:nvSpPr>
              <p:cNvPr id="194" name="Google Shape;194;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60</a:t>
                </a:r>
                <a:endParaRPr sz="750" b="1" i="0" u="none" strike="noStrike">
                  <a:solidFill>
                    <a:srgbClr val="007E87"/>
                  </a:solidFill>
                  <a:latin typeface="Verdana"/>
                  <a:ea typeface="Verdana"/>
                  <a:cs typeface="Verdana"/>
                  <a:sym typeface="Verdana"/>
                </a:endParaRPr>
              </a:p>
            </p:txBody>
          </p:sp>
        </p:grpSp>
        <p:grpSp>
          <p:nvGrpSpPr>
            <p:cNvPr id="195" name="Google Shape;195;h59843ea5be7b33af_0_0"/>
            <p:cNvGrpSpPr/>
            <p:nvPr/>
          </p:nvGrpSpPr>
          <p:grpSpPr>
            <a:xfrm>
              <a:off x="0" y="2095500"/>
              <a:ext cx="10972800" cy="152400"/>
              <a:chOff x="0" y="0"/>
              <a:chExt cx="10972800" cy="152400"/>
            </a:xfrm>
          </p:grpSpPr>
          <p:sp>
            <p:nvSpPr>
              <p:cNvPr id="196" name="Google Shape;196;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7" name="Google Shape;197;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transistor</a:t>
                </a:r>
                <a:endParaRPr/>
              </a:p>
            </p:txBody>
          </p:sp>
          <p:sp>
            <p:nvSpPr>
              <p:cNvPr id="198" name="Google Shape;198;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40</a:t>
                </a:r>
                <a:endParaRPr sz="750" b="0" i="0" u="none" strike="noStrike">
                  <a:solidFill>
                    <a:srgbClr val="12293A"/>
                  </a:solidFill>
                  <a:latin typeface="Verdana"/>
                  <a:ea typeface="Verdana"/>
                  <a:cs typeface="Verdana"/>
                  <a:sym typeface="Verdana"/>
                </a:endParaRPr>
              </a:p>
            </p:txBody>
          </p:sp>
          <p:sp>
            <p:nvSpPr>
              <p:cNvPr id="199" name="Google Shape;199;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100</a:t>
                </a:r>
                <a:endParaRPr/>
              </a:p>
            </p:txBody>
          </p:sp>
          <p:sp>
            <p:nvSpPr>
              <p:cNvPr id="200" name="Google Shape;200;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213</a:t>
                </a:r>
                <a:endParaRPr sz="750" b="1" i="0" u="none" strike="noStrike">
                  <a:solidFill>
                    <a:srgbClr val="007E87"/>
                  </a:solidFill>
                  <a:latin typeface="Verdana"/>
                  <a:ea typeface="Verdana"/>
                  <a:cs typeface="Verdana"/>
                  <a:sym typeface="Verdana"/>
                </a:endParaRPr>
              </a:p>
            </p:txBody>
          </p:sp>
        </p:grpSp>
        <p:grpSp>
          <p:nvGrpSpPr>
            <p:cNvPr id="201" name="Google Shape;201;h59843ea5be7b33af_0_0"/>
            <p:cNvGrpSpPr/>
            <p:nvPr/>
          </p:nvGrpSpPr>
          <p:grpSpPr>
            <a:xfrm>
              <a:off x="0" y="2247900"/>
              <a:ext cx="10972800" cy="152400"/>
              <a:chOff x="0" y="0"/>
              <a:chExt cx="10972800" cy="152400"/>
            </a:xfrm>
          </p:grpSpPr>
          <p:sp>
            <p:nvSpPr>
              <p:cNvPr id="202" name="Google Shape;202;h59843ea5be7b33af_0_0"/>
              <p:cNvSpPr/>
              <p:nvPr/>
            </p:nvSpPr>
            <p:spPr>
              <a:xfrm>
                <a:off x="0" y="0"/>
                <a:ext cx="10972800" cy="152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3" name="Google Shape;203;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wood</a:t>
                </a:r>
                <a:endParaRPr/>
              </a:p>
            </p:txBody>
          </p:sp>
          <p:sp>
            <p:nvSpPr>
              <p:cNvPr id="204" name="Google Shape;204;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60</a:t>
                </a:r>
                <a:endParaRPr sz="750" b="0" i="0" u="none" strike="noStrike">
                  <a:solidFill>
                    <a:srgbClr val="12293A"/>
                  </a:solidFill>
                  <a:latin typeface="Verdana"/>
                  <a:ea typeface="Verdana"/>
                  <a:cs typeface="Verdana"/>
                  <a:sym typeface="Verdana"/>
                </a:endParaRPr>
              </a:p>
            </p:txBody>
          </p:sp>
          <p:sp>
            <p:nvSpPr>
              <p:cNvPr id="205" name="Google Shape;205;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79</a:t>
                </a:r>
                <a:endParaRPr/>
              </a:p>
            </p:txBody>
          </p:sp>
          <p:sp>
            <p:nvSpPr>
              <p:cNvPr id="206" name="Google Shape;206;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247</a:t>
                </a:r>
                <a:endParaRPr sz="750" b="1" i="0" u="none" strike="noStrike">
                  <a:solidFill>
                    <a:srgbClr val="007E87"/>
                  </a:solidFill>
                  <a:latin typeface="Verdana"/>
                  <a:ea typeface="Verdana"/>
                  <a:cs typeface="Verdana"/>
                  <a:sym typeface="Verdana"/>
                </a:endParaRPr>
              </a:p>
            </p:txBody>
          </p:sp>
        </p:grpSp>
        <p:grpSp>
          <p:nvGrpSpPr>
            <p:cNvPr id="207" name="Google Shape;207;h59843ea5be7b33af_0_0"/>
            <p:cNvGrpSpPr/>
            <p:nvPr/>
          </p:nvGrpSpPr>
          <p:grpSpPr>
            <a:xfrm>
              <a:off x="0" y="2400300"/>
              <a:ext cx="10972800" cy="152400"/>
              <a:chOff x="0" y="0"/>
              <a:chExt cx="10972800" cy="152400"/>
            </a:xfrm>
          </p:grpSpPr>
          <p:sp>
            <p:nvSpPr>
              <p:cNvPr id="208" name="Google Shape;208;h59843ea5be7b33af_0_0"/>
              <p:cNvSpPr/>
              <p:nvPr/>
            </p:nvSpPr>
            <p:spPr>
              <a:xfrm>
                <a:off x="0" y="0"/>
                <a:ext cx="10972800" cy="1524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h59843ea5be7b33af_0_0"/>
              <p:cNvSpPr txBox="1"/>
              <p:nvPr/>
            </p:nvSpPr>
            <p:spPr>
              <a:xfrm>
                <a:off x="152400" y="9525"/>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a:solidFill>
                      <a:srgbClr val="12293A"/>
                    </a:solidFill>
                    <a:latin typeface="Verdana"/>
                    <a:ea typeface="Verdana"/>
                    <a:cs typeface="Verdana"/>
                    <a:sym typeface="Verdana"/>
                  </a:rPr>
                  <a:t>zipper</a:t>
                </a:r>
                <a:endParaRPr/>
              </a:p>
            </p:txBody>
          </p:sp>
          <p:sp>
            <p:nvSpPr>
              <p:cNvPr id="210" name="Google Shape;210;h59843ea5be7b33af_0_0"/>
              <p:cNvSpPr txBox="1"/>
              <p:nvPr/>
            </p:nvSpPr>
            <p:spPr>
              <a:xfrm>
                <a:off x="8191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0" i="0" u="none" strike="noStrike">
                    <a:solidFill>
                      <a:srgbClr val="12293A"/>
                    </a:solidFill>
                    <a:latin typeface="Verdana"/>
                    <a:ea typeface="Verdana"/>
                    <a:cs typeface="Verdana"/>
                    <a:sym typeface="Verdana"/>
                  </a:rPr>
                  <a:t>119</a:t>
                </a:r>
                <a:endParaRPr sz="750" b="0" i="0" u="none" strike="noStrike">
                  <a:solidFill>
                    <a:srgbClr val="12293A"/>
                  </a:solidFill>
                  <a:latin typeface="Verdana"/>
                  <a:ea typeface="Verdana"/>
                  <a:cs typeface="Verdana"/>
                  <a:sym typeface="Verdana"/>
                </a:endParaRPr>
              </a:p>
            </p:txBody>
          </p:sp>
          <p:sp>
            <p:nvSpPr>
              <p:cNvPr id="211" name="Google Shape;211;h59843ea5be7b33af_0_0"/>
              <p:cNvSpPr txBox="1"/>
              <p:nvPr/>
            </p:nvSpPr>
            <p:spPr>
              <a:xfrm>
                <a:off x="5334000" y="9525"/>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151</a:t>
                </a:r>
                <a:endParaRPr/>
              </a:p>
            </p:txBody>
          </p:sp>
          <p:sp>
            <p:nvSpPr>
              <p:cNvPr id="212" name="Google Shape;212;h59843ea5be7b33af_0_0"/>
              <p:cNvSpPr txBox="1"/>
              <p:nvPr/>
            </p:nvSpPr>
            <p:spPr>
              <a:xfrm>
                <a:off x="2476500" y="9525"/>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240</a:t>
                </a:r>
                <a:endParaRPr sz="750" b="1" i="0" u="none" strike="noStrike">
                  <a:solidFill>
                    <a:srgbClr val="007E87"/>
                  </a:solidFill>
                  <a:latin typeface="Verdana"/>
                  <a:ea typeface="Verdana"/>
                  <a:cs typeface="Verdana"/>
                  <a:sym typeface="Verdana"/>
                </a:endParaRPr>
              </a:p>
            </p:txBody>
          </p:sp>
        </p:grpSp>
        <p:grpSp>
          <p:nvGrpSpPr>
            <p:cNvPr id="213" name="Google Shape;213;h59843ea5be7b33af_0_0"/>
            <p:cNvGrpSpPr/>
            <p:nvPr/>
          </p:nvGrpSpPr>
          <p:grpSpPr>
            <a:xfrm>
              <a:off x="0" y="2552700"/>
              <a:ext cx="10972800" cy="171600"/>
              <a:chOff x="0" y="0"/>
              <a:chExt cx="10972800" cy="171600"/>
            </a:xfrm>
          </p:grpSpPr>
          <p:sp>
            <p:nvSpPr>
              <p:cNvPr id="214" name="Google Shape;214;h59843ea5be7b33af_0_0"/>
              <p:cNvSpPr/>
              <p:nvPr/>
            </p:nvSpPr>
            <p:spPr>
              <a:xfrm>
                <a:off x="0" y="0"/>
                <a:ext cx="10972800" cy="171600"/>
              </a:xfrm>
              <a:prstGeom prst="rect">
                <a:avLst/>
              </a:prstGeom>
              <a:solidFill>
                <a:srgbClr val="E0F2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h59843ea5be7b33af_0_0"/>
              <p:cNvSpPr txBox="1"/>
              <p:nvPr/>
            </p:nvSpPr>
            <p:spPr>
              <a:xfrm>
                <a:off x="152400" y="19050"/>
                <a:ext cx="19050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12293A"/>
                    </a:solidFill>
                    <a:latin typeface="Verdana"/>
                    <a:ea typeface="Verdana"/>
                    <a:cs typeface="Verdana"/>
                    <a:sym typeface="Verdana"/>
                  </a:rPr>
                  <a:t>Total</a:t>
                </a:r>
                <a:endParaRPr/>
              </a:p>
            </p:txBody>
          </p:sp>
          <p:sp>
            <p:nvSpPr>
              <p:cNvPr id="216" name="Google Shape;216;h59843ea5be7b33af_0_0"/>
              <p:cNvSpPr txBox="1"/>
              <p:nvPr/>
            </p:nvSpPr>
            <p:spPr>
              <a:xfrm>
                <a:off x="8191500" y="19050"/>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12293A"/>
                    </a:solidFill>
                    <a:latin typeface="Verdana"/>
                    <a:ea typeface="Verdana"/>
                    <a:cs typeface="Verdana"/>
                    <a:sym typeface="Verdana"/>
                  </a:rPr>
                  <a:t>1,258</a:t>
                </a:r>
                <a:endParaRPr sz="750" b="1" i="0" u="none" strike="noStrike">
                  <a:solidFill>
                    <a:srgbClr val="12293A"/>
                  </a:solidFill>
                  <a:latin typeface="Verdana"/>
                  <a:ea typeface="Verdana"/>
                  <a:cs typeface="Verdana"/>
                  <a:sym typeface="Verdana"/>
                </a:endParaRPr>
              </a:p>
            </p:txBody>
          </p:sp>
          <p:sp>
            <p:nvSpPr>
              <p:cNvPr id="217" name="Google Shape;217;h59843ea5be7b33af_0_0"/>
              <p:cNvSpPr txBox="1"/>
              <p:nvPr/>
            </p:nvSpPr>
            <p:spPr>
              <a:xfrm>
                <a:off x="5334000" y="19050"/>
                <a:ext cx="1714500" cy="133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a:solidFill>
                      <a:srgbClr val="007E87"/>
                    </a:solidFill>
                    <a:latin typeface="Verdana"/>
                    <a:ea typeface="Verdana"/>
                    <a:cs typeface="Verdana"/>
                    <a:sym typeface="Verdana"/>
                  </a:rPr>
                  <a:t>1,725</a:t>
                </a:r>
                <a:endParaRPr/>
              </a:p>
            </p:txBody>
          </p:sp>
          <p:sp>
            <p:nvSpPr>
              <p:cNvPr id="218" name="Google Shape;218;h59843ea5be7b33af_0_0"/>
              <p:cNvSpPr txBox="1"/>
              <p:nvPr/>
            </p:nvSpPr>
            <p:spPr>
              <a:xfrm>
                <a:off x="2476500" y="19050"/>
                <a:ext cx="1714500" cy="133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US" sz="750" b="1" i="0" u="none" strike="noStrike">
                    <a:solidFill>
                      <a:srgbClr val="007E87"/>
                    </a:solidFill>
                    <a:latin typeface="Verdana"/>
                    <a:ea typeface="Verdana"/>
                    <a:cs typeface="Verdana"/>
                    <a:sym typeface="Verdana"/>
                  </a:rPr>
                  <a:t>3,629</a:t>
                </a:r>
                <a:endParaRPr sz="750" b="1" i="0" u="none" strike="noStrike">
                  <a:solidFill>
                    <a:srgbClr val="007E87"/>
                  </a:solidFill>
                  <a:latin typeface="Verdana"/>
                  <a:ea typeface="Verdana"/>
                  <a:cs typeface="Verdana"/>
                  <a:sym typeface="Verdana"/>
                </a:endParaRPr>
              </a:p>
            </p:txBody>
          </p:sp>
        </p:grpSp>
      </p:grpSp>
      <p:sp>
        <p:nvSpPr>
          <p:cNvPr id="219" name="Google Shape;219;h59843ea5be7b33af_0_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6</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7"/>
        <p:cNvGrpSpPr/>
        <p:nvPr/>
      </p:nvGrpSpPr>
      <p:grpSpPr>
        <a:xfrm>
          <a:off x="0" y="0"/>
          <a:ext cx="0" cy="0"/>
          <a:chOff x="0" y="0"/>
          <a:chExt cx="0" cy="0"/>
        </a:xfrm>
      </p:grpSpPr>
      <p:sp>
        <p:nvSpPr>
          <p:cNvPr id="228" name="Google Shape;228;h2a3dbc10fe5cba62_0_266"/>
          <p:cNvSpPr/>
          <p:nvPr/>
        </p:nvSpPr>
        <p:spPr>
          <a:xfrm>
            <a:off x="0" y="0"/>
            <a:ext cx="12192000" cy="6858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29" name="Google Shape;229;h2a3dbc10fe5cba62_0_266" descr="The dotted lines should close the loop. keep all else unchanged."/>
          <p:cNvPicPr preferRelativeResize="0"/>
          <p:nvPr/>
        </p:nvPicPr>
        <p:blipFill>
          <a:blip r:embed="rId4">
            <a:alphaModFix/>
          </a:blip>
          <a:stretch>
            <a:fillRect/>
          </a:stretch>
        </p:blipFill>
        <p:spPr>
          <a:xfrm>
            <a:off x="2939325" y="1320525"/>
            <a:ext cx="8772175" cy="2682600"/>
          </a:xfrm>
          <a:prstGeom prst="rect">
            <a:avLst/>
          </a:prstGeom>
          <a:noFill/>
          <a:ln>
            <a:noFill/>
          </a:ln>
        </p:spPr>
      </p:pic>
      <p:grpSp>
        <p:nvGrpSpPr>
          <p:cNvPr id="230" name="Google Shape;230;h2a3dbc10fe5cba62_0_266"/>
          <p:cNvGrpSpPr/>
          <p:nvPr/>
        </p:nvGrpSpPr>
        <p:grpSpPr>
          <a:xfrm>
            <a:off x="609600" y="1487107"/>
            <a:ext cx="2095500" cy="2428800"/>
            <a:chOff x="0" y="0"/>
            <a:chExt cx="2095500" cy="2428800"/>
          </a:xfrm>
        </p:grpSpPr>
        <p:sp>
          <p:nvSpPr>
            <p:cNvPr id="231" name="Google Shape;231;h2a3dbc10fe5cba62_0_266"/>
            <p:cNvSpPr/>
            <p:nvPr/>
          </p:nvSpPr>
          <p:spPr>
            <a:xfrm>
              <a:off x="0" y="0"/>
              <a:ext cx="2095500" cy="2428800"/>
            </a:xfrm>
            <a:prstGeom prst="roundRect">
              <a:avLst>
                <a:gd name="adj" fmla="val 5454"/>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2" name="Google Shape;232;h2a3dbc10fe5cba62_0_266"/>
            <p:cNvSpPr/>
            <p:nvPr/>
          </p:nvSpPr>
          <p:spPr>
            <a:xfrm>
              <a:off x="0" y="0"/>
              <a:ext cx="2095500" cy="57300"/>
            </a:xfrm>
            <a:prstGeom prst="roundRect">
              <a:avLst>
                <a:gd name="adj" fmla="val 50000"/>
              </a:avLst>
            </a:prstGeom>
            <a:solidFill>
              <a:srgbClr val="64748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h2a3dbc10fe5cba62_0_266"/>
            <p:cNvSpPr txBox="1"/>
            <p:nvPr/>
          </p:nvSpPr>
          <p:spPr>
            <a:xfrm>
              <a:off x="152400" y="152400"/>
              <a:ext cx="17907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1. Input Image</a:t>
              </a:r>
              <a:endParaRPr sz="1300" b="1">
                <a:solidFill>
                  <a:srgbClr val="0F172A"/>
                </a:solidFill>
                <a:latin typeface="Verdana"/>
                <a:ea typeface="Verdana"/>
                <a:cs typeface="Verdana"/>
                <a:sym typeface="Verdana"/>
              </a:endParaRPr>
            </a:p>
            <a:p>
              <a:pPr marL="0" lvl="0" indent="0" algn="l" rtl="0">
                <a:spcBef>
                  <a:spcPts val="0"/>
                </a:spcBef>
                <a:spcAft>
                  <a:spcPts val="0"/>
                </a:spcAft>
                <a:buNone/>
              </a:pPr>
              <a:r>
                <a:rPr lang="en-US" sz="1000">
                  <a:solidFill>
                    <a:srgbClr val="64748B"/>
                  </a:solidFill>
                  <a:latin typeface="Verdana"/>
                  <a:ea typeface="Verdana"/>
                  <a:cs typeface="Verdana"/>
                  <a:sym typeface="Verdana"/>
                </a:rPr>
                <a:t>Streamlit Upload</a:t>
              </a:r>
              <a:endParaRPr sz="1000">
                <a:solidFill>
                  <a:srgbClr val="64748B"/>
                </a:solidFill>
                <a:latin typeface="Verdana"/>
                <a:ea typeface="Verdana"/>
                <a:cs typeface="Verdana"/>
                <a:sym typeface="Verdana"/>
              </a:endParaRPr>
            </a:p>
          </p:txBody>
        </p:sp>
        <p:pic>
          <p:nvPicPr>
            <p:cNvPr id="234" name="Google Shape;234;h2a3dbc10fe5cba62_0_266"/>
            <p:cNvPicPr preferRelativeResize="0"/>
            <p:nvPr/>
          </p:nvPicPr>
          <p:blipFill rotWithShape="1">
            <a:blip r:embed="rId5">
              <a:alphaModFix/>
            </a:blip>
            <a:srcRect/>
            <a:stretch/>
          </p:blipFill>
          <p:spPr>
            <a:xfrm>
              <a:off x="476250" y="685800"/>
              <a:ext cx="1143000" cy="1143000"/>
            </a:xfrm>
            <a:prstGeom prst="roundRect">
              <a:avLst>
                <a:gd name="adj" fmla="val 6666"/>
              </a:avLst>
            </a:prstGeom>
            <a:noFill/>
            <a:ln>
              <a:noFill/>
            </a:ln>
          </p:spPr>
        </p:pic>
        <p:sp>
          <p:nvSpPr>
            <p:cNvPr id="235" name="Google Shape;235;h2a3dbc10fe5cba62_0_266"/>
            <p:cNvSpPr txBox="1"/>
            <p:nvPr/>
          </p:nvSpPr>
          <p:spPr>
            <a:xfrm>
              <a:off x="152400" y="1905000"/>
              <a:ext cx="17907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a:solidFill>
                    <a:srgbClr val="64748B"/>
                  </a:solidFill>
                  <a:latin typeface="Verdana"/>
                  <a:ea typeface="Verdana"/>
                  <a:cs typeface="Verdana"/>
                  <a:sym typeface="Verdana"/>
                </a:rPr>
                <a:t>MVTec Anomaly Sample</a:t>
              </a:r>
              <a:endParaRPr sz="1050">
                <a:solidFill>
                  <a:srgbClr val="64748B"/>
                </a:solidFill>
                <a:latin typeface="Verdana"/>
                <a:ea typeface="Verdana"/>
                <a:cs typeface="Verdana"/>
                <a:sym typeface="Verdana"/>
              </a:endParaRPr>
            </a:p>
          </p:txBody>
        </p:sp>
      </p:grpSp>
      <p:grpSp>
        <p:nvGrpSpPr>
          <p:cNvPr id="236" name="Google Shape;236;h2a3dbc10fe5cba62_0_266"/>
          <p:cNvGrpSpPr/>
          <p:nvPr/>
        </p:nvGrpSpPr>
        <p:grpSpPr>
          <a:xfrm>
            <a:off x="3244218" y="1191825"/>
            <a:ext cx="2419331" cy="228600"/>
            <a:chOff x="0" y="0"/>
            <a:chExt cx="1714500" cy="228600"/>
          </a:xfrm>
        </p:grpSpPr>
        <p:sp>
          <p:nvSpPr>
            <p:cNvPr id="237" name="Google Shape;237;h2a3dbc10fe5cba62_0_266"/>
            <p:cNvSpPr/>
            <p:nvPr/>
          </p:nvSpPr>
          <p:spPr>
            <a:xfrm>
              <a:off x="0" y="0"/>
              <a:ext cx="1714500" cy="2286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8" name="Google Shape;238;h2a3dbc10fe5cba62_0_266"/>
            <p:cNvSpPr txBox="1"/>
            <p:nvPr/>
          </p:nvSpPr>
          <p:spPr>
            <a:xfrm>
              <a:off x="0" y="0"/>
              <a:ext cx="17145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50" b="1">
                  <a:solidFill>
                    <a:srgbClr val="FFFFFF"/>
                  </a:solidFill>
                  <a:latin typeface="Verdana"/>
                  <a:ea typeface="Verdana"/>
                  <a:cs typeface="Verdana"/>
                  <a:sym typeface="Verdana"/>
                </a:rPr>
                <a:t>INSPECTION PIPELINE</a:t>
              </a:r>
              <a:endParaRPr sz="850" b="1">
                <a:solidFill>
                  <a:srgbClr val="FFFFFF"/>
                </a:solidFill>
                <a:latin typeface="Verdana"/>
                <a:ea typeface="Verdana"/>
                <a:cs typeface="Verdana"/>
                <a:sym typeface="Verdana"/>
              </a:endParaRPr>
            </a:p>
          </p:txBody>
        </p:sp>
      </p:grpSp>
      <p:grpSp>
        <p:nvGrpSpPr>
          <p:cNvPr id="239" name="Google Shape;239;h2a3dbc10fe5cba62_0_266"/>
          <p:cNvGrpSpPr/>
          <p:nvPr/>
        </p:nvGrpSpPr>
        <p:grpSpPr>
          <a:xfrm>
            <a:off x="2781300" y="2615350"/>
            <a:ext cx="238050" cy="95400"/>
            <a:chOff x="0" y="-47625"/>
            <a:chExt cx="238050" cy="95400"/>
          </a:xfrm>
        </p:grpSpPr>
        <p:sp>
          <p:nvSpPr>
            <p:cNvPr id="240" name="Google Shape;240;h2a3dbc10fe5cba62_0_266"/>
            <p:cNvSpPr/>
            <p:nvPr/>
          </p:nvSpPr>
          <p:spPr>
            <a:xfrm>
              <a:off x="0" y="0"/>
              <a:ext cx="209700" cy="0"/>
            </a:xfrm>
            <a:custGeom>
              <a:avLst/>
              <a:gdLst/>
              <a:ahLst/>
              <a:cxnLst/>
              <a:rect l="l" t="t" r="r" b="b"/>
              <a:pathLst>
                <a:path w="120000" h="120000" fill="none" extrusionOk="0">
                  <a:moveTo>
                    <a:pt x="0" y="0"/>
                  </a:moveTo>
                  <a:lnTo>
                    <a:pt x="120000" y="0"/>
                  </a:lnTo>
                </a:path>
              </a:pathLst>
            </a:custGeom>
            <a:solidFill>
              <a:srgbClr val="FFFFFF"/>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1" name="Google Shape;241;h2a3dbc10fe5cba62_0_266"/>
            <p:cNvSpPr/>
            <p:nvPr/>
          </p:nvSpPr>
          <p:spPr>
            <a:xfrm>
              <a:off x="171450" y="-47625"/>
              <a:ext cx="66600" cy="954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242" name="Google Shape;242;h2a3dbc10fe5cba62_0_266"/>
          <p:cNvGrpSpPr/>
          <p:nvPr/>
        </p:nvGrpSpPr>
        <p:grpSpPr>
          <a:xfrm>
            <a:off x="5600700" y="2615350"/>
            <a:ext cx="238050" cy="95400"/>
            <a:chOff x="0" y="-47625"/>
            <a:chExt cx="238050" cy="95400"/>
          </a:xfrm>
        </p:grpSpPr>
        <p:sp>
          <p:nvSpPr>
            <p:cNvPr id="243" name="Google Shape;243;h2a3dbc10fe5cba62_0_266"/>
            <p:cNvSpPr/>
            <p:nvPr/>
          </p:nvSpPr>
          <p:spPr>
            <a:xfrm>
              <a:off x="0" y="0"/>
              <a:ext cx="209700" cy="0"/>
            </a:xfrm>
            <a:custGeom>
              <a:avLst/>
              <a:gdLst/>
              <a:ahLst/>
              <a:cxnLst/>
              <a:rect l="l" t="t" r="r" b="b"/>
              <a:pathLst>
                <a:path w="120000" h="120000" fill="none" extrusionOk="0">
                  <a:moveTo>
                    <a:pt x="0" y="0"/>
                  </a:moveTo>
                  <a:lnTo>
                    <a:pt x="120000" y="0"/>
                  </a:lnTo>
                </a:path>
              </a:pathLst>
            </a:custGeom>
            <a:solidFill>
              <a:srgbClr val="FFFFFF"/>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h2a3dbc10fe5cba62_0_266"/>
            <p:cNvSpPr/>
            <p:nvPr/>
          </p:nvSpPr>
          <p:spPr>
            <a:xfrm>
              <a:off x="171450" y="-47625"/>
              <a:ext cx="66600" cy="954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245" name="Google Shape;245;h2a3dbc10fe5cba62_0_266"/>
          <p:cNvGrpSpPr/>
          <p:nvPr/>
        </p:nvGrpSpPr>
        <p:grpSpPr>
          <a:xfrm>
            <a:off x="3095625" y="1487107"/>
            <a:ext cx="2428800" cy="2428800"/>
            <a:chOff x="0" y="0"/>
            <a:chExt cx="2428800" cy="2428800"/>
          </a:xfrm>
        </p:grpSpPr>
        <p:sp>
          <p:nvSpPr>
            <p:cNvPr id="246" name="Google Shape;246;h2a3dbc10fe5cba62_0_266"/>
            <p:cNvSpPr/>
            <p:nvPr/>
          </p:nvSpPr>
          <p:spPr>
            <a:xfrm>
              <a:off x="0" y="0"/>
              <a:ext cx="2428800" cy="2428800"/>
            </a:xfrm>
            <a:prstGeom prst="roundRect">
              <a:avLst>
                <a:gd name="adj" fmla="val 470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7" name="Google Shape;247;h2a3dbc10fe5cba62_0_266"/>
            <p:cNvSpPr/>
            <p:nvPr/>
          </p:nvSpPr>
          <p:spPr>
            <a:xfrm>
              <a:off x="0" y="0"/>
              <a:ext cx="24288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8" name="Google Shape;248;h2a3dbc10fe5cba62_0_266"/>
            <p:cNvSpPr txBox="1"/>
            <p:nvPr/>
          </p:nvSpPr>
          <p:spPr>
            <a:xfrm>
              <a:off x="171450" y="152400"/>
              <a:ext cx="20859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2. Category Classifier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284C7"/>
                  </a:solidFill>
                  <a:latin typeface="Verdana"/>
                  <a:ea typeface="Verdana"/>
                  <a:cs typeface="Verdana"/>
                  <a:sym typeface="Verdana"/>
                </a:rPr>
                <a:t>Supervised Learning</a:t>
              </a:r>
              <a:endParaRPr sz="1000" b="1">
                <a:solidFill>
                  <a:srgbClr val="0284C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Model:</a:t>
              </a:r>
              <a:r>
                <a:rPr lang="en-US" sz="1000">
                  <a:solidFill>
                    <a:srgbClr val="334155"/>
                  </a:solidFill>
                  <a:latin typeface="Verdana"/>
                  <a:ea typeface="Verdana"/>
                  <a:cs typeface="Verdana"/>
                  <a:sym typeface="Verdana"/>
                </a:rPr>
                <a:t> ResNet18</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Function:</a:t>
              </a:r>
              <a:r>
                <a:rPr lang="en-US" sz="1000">
                  <a:solidFill>
                    <a:srgbClr val="334155"/>
                  </a:solidFill>
                  <a:latin typeface="Verdana"/>
                  <a:ea typeface="Verdana"/>
                  <a:cs typeface="Verdana"/>
                  <a:sym typeface="Verdana"/>
                </a:rPr>
                <a:t> Routes input to 15 category artifacts</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Inspection:</a:t>
              </a:r>
              <a:r>
                <a:rPr lang="en-US" sz="1000">
                  <a:solidFill>
                    <a:srgbClr val="334155"/>
                  </a:solidFill>
                  <a:latin typeface="Verdana"/>
                  <a:ea typeface="Verdana"/>
                  <a:cs typeface="Verdana"/>
                  <a:sym typeface="Verdana"/>
                </a:rPr>
                <a:t> Automatic routing when confidence &gt; 60%</a:t>
              </a:r>
              <a:endParaRPr sz="1000">
                <a:solidFill>
                  <a:srgbClr val="334155"/>
                </a:solidFill>
                <a:latin typeface="Verdana"/>
                <a:ea typeface="Verdana"/>
                <a:cs typeface="Verdana"/>
                <a:sym typeface="Verdana"/>
              </a:endParaRPr>
            </a:p>
          </p:txBody>
        </p:sp>
      </p:grpSp>
      <p:grpSp>
        <p:nvGrpSpPr>
          <p:cNvPr id="249" name="Google Shape;249;h2a3dbc10fe5cba62_0_266"/>
          <p:cNvGrpSpPr/>
          <p:nvPr/>
        </p:nvGrpSpPr>
        <p:grpSpPr>
          <a:xfrm>
            <a:off x="5886450" y="1487107"/>
            <a:ext cx="2428800" cy="2428800"/>
            <a:chOff x="0" y="0"/>
            <a:chExt cx="2428800" cy="2428800"/>
          </a:xfrm>
        </p:grpSpPr>
        <p:sp>
          <p:nvSpPr>
            <p:cNvPr id="250" name="Google Shape;250;h2a3dbc10fe5cba62_0_266"/>
            <p:cNvSpPr/>
            <p:nvPr/>
          </p:nvSpPr>
          <p:spPr>
            <a:xfrm>
              <a:off x="0" y="0"/>
              <a:ext cx="2428800" cy="2428800"/>
            </a:xfrm>
            <a:prstGeom prst="roundRect">
              <a:avLst>
                <a:gd name="adj" fmla="val 470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 name="Google Shape;251;h2a3dbc10fe5cba62_0_266"/>
            <p:cNvSpPr/>
            <p:nvPr/>
          </p:nvSpPr>
          <p:spPr>
            <a:xfrm>
              <a:off x="0" y="0"/>
              <a:ext cx="2428800" cy="57300"/>
            </a:xfrm>
            <a:prstGeom prst="roundRect">
              <a:avLst>
                <a:gd name="adj" fmla="val 50000"/>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2" name="Google Shape;252;h2a3dbc10fe5cba62_0_266"/>
            <p:cNvSpPr txBox="1"/>
            <p:nvPr/>
          </p:nvSpPr>
          <p:spPr>
            <a:xfrm>
              <a:off x="171450" y="152400"/>
              <a:ext cx="20859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3. Anomaly Detector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07E87"/>
                  </a:solidFill>
                  <a:latin typeface="Verdana"/>
                  <a:ea typeface="Verdana"/>
                  <a:cs typeface="Verdana"/>
                  <a:sym typeface="Verdana"/>
                </a:rPr>
                <a:t>Unsupervised PatchCore</a:t>
              </a:r>
              <a:endParaRPr sz="1000" b="1">
                <a:solidFill>
                  <a:srgbClr val="007E8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Heatmap:</a:t>
              </a:r>
              <a:r>
                <a:rPr lang="en-US" sz="1000">
                  <a:solidFill>
                    <a:srgbClr val="334155"/>
                  </a:solidFill>
                  <a:latin typeface="Verdana"/>
                  <a:ea typeface="Verdana"/>
                  <a:cs typeface="Verdana"/>
                  <a:sym typeface="Verdana"/>
                </a:rPr>
                <a:t> Localizes defect regions</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0F172A"/>
                  </a:solidFill>
                  <a:latin typeface="Verdana"/>
                  <a:ea typeface="Verdana"/>
                  <a:cs typeface="Verdana"/>
                  <a:sym typeface="Verdana"/>
                </a:rPr>
                <a:t>Image Threshold:</a:t>
              </a:r>
              <a:r>
                <a:rPr lang="en-US" sz="1000">
                  <a:solidFill>
                    <a:srgbClr val="334155"/>
                  </a:solidFill>
                  <a:latin typeface="Verdana"/>
                  <a:ea typeface="Verdana"/>
                  <a:cs typeface="Verdana"/>
                  <a:sym typeface="Verdana"/>
                </a:rPr>
                <a:t> Triggers defect type classifier if anomaly score &gt; limit</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334155"/>
                  </a:solidFill>
                  <a:latin typeface="Verdana"/>
                  <a:ea typeface="Verdana"/>
                  <a:cs typeface="Verdana"/>
                  <a:sym typeface="Verdana"/>
                </a:rPr>
                <a:t>Pixel Threshold:</a:t>
              </a:r>
              <a:r>
                <a:rPr lang="en-US" sz="1000">
                  <a:solidFill>
                    <a:srgbClr val="334155"/>
                  </a:solidFill>
                  <a:latin typeface="Verdana"/>
                  <a:ea typeface="Verdana"/>
                  <a:cs typeface="Verdana"/>
                  <a:sym typeface="Verdana"/>
                </a:rPr>
                <a:t> Triggers area-based severity scores and defect crops</a:t>
              </a:r>
              <a:endParaRPr sz="1000">
                <a:solidFill>
                  <a:srgbClr val="334155"/>
                </a:solidFill>
                <a:latin typeface="Verdana"/>
                <a:ea typeface="Verdana"/>
                <a:cs typeface="Verdana"/>
                <a:sym typeface="Verdana"/>
              </a:endParaRPr>
            </a:p>
          </p:txBody>
        </p:sp>
      </p:grpSp>
      <p:grpSp>
        <p:nvGrpSpPr>
          <p:cNvPr id="253" name="Google Shape;253;h2a3dbc10fe5cba62_0_266"/>
          <p:cNvGrpSpPr/>
          <p:nvPr/>
        </p:nvGrpSpPr>
        <p:grpSpPr>
          <a:xfrm>
            <a:off x="8391525" y="2472475"/>
            <a:ext cx="495300" cy="323850"/>
            <a:chOff x="0" y="0"/>
            <a:chExt cx="495300" cy="323850"/>
          </a:xfrm>
        </p:grpSpPr>
        <p:sp>
          <p:nvSpPr>
            <p:cNvPr id="254" name="Google Shape;254;h2a3dbc10fe5cba62_0_266"/>
            <p:cNvSpPr/>
            <p:nvPr/>
          </p:nvSpPr>
          <p:spPr>
            <a:xfrm>
              <a:off x="0" y="0"/>
              <a:ext cx="495300" cy="190500"/>
            </a:xfrm>
            <a:prstGeom prst="roundRect">
              <a:avLst>
                <a:gd name="adj" fmla="val 50000"/>
              </a:avLst>
            </a:prstGeom>
            <a:solidFill>
              <a:srgbClr val="FEE2E2"/>
            </a:solidFill>
            <a:ln w="9525" cap="flat"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h2a3dbc10fe5cba62_0_266"/>
            <p:cNvSpPr txBox="1"/>
            <p:nvPr/>
          </p:nvSpPr>
          <p:spPr>
            <a:xfrm>
              <a:off x="0" y="0"/>
              <a:ext cx="4953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991B1B"/>
                  </a:solidFill>
                  <a:latin typeface="Verdana"/>
                  <a:ea typeface="Verdana"/>
                  <a:cs typeface="Verdana"/>
                  <a:sym typeface="Verdana"/>
                </a:rPr>
                <a:t>Anomaly</a:t>
              </a:r>
              <a:endParaRPr sz="750" b="1">
                <a:solidFill>
                  <a:srgbClr val="991B1B"/>
                </a:solidFill>
                <a:latin typeface="Verdana"/>
                <a:ea typeface="Verdana"/>
                <a:cs typeface="Verdana"/>
                <a:sym typeface="Verdana"/>
              </a:endParaRPr>
            </a:p>
          </p:txBody>
        </p:sp>
        <p:pic>
          <p:nvPicPr>
            <p:cNvPr id="256" name="Google Shape;256;h2a3dbc10fe5cba62_0_266"/>
            <p:cNvPicPr preferRelativeResize="0"/>
            <p:nvPr/>
          </p:nvPicPr>
          <p:blipFill rotWithShape="1">
            <a:blip r:embed="rId6">
              <a:alphaModFix/>
            </a:blip>
            <a:srcRect/>
            <a:stretch/>
          </p:blipFill>
          <p:spPr>
            <a:xfrm>
              <a:off x="19050" y="276225"/>
              <a:ext cx="438300" cy="19200"/>
            </a:xfrm>
            <a:prstGeom prst="rect">
              <a:avLst/>
            </a:prstGeom>
            <a:noFill/>
            <a:ln>
              <a:noFill/>
            </a:ln>
          </p:spPr>
        </p:pic>
        <p:sp>
          <p:nvSpPr>
            <p:cNvPr id="257" name="Google Shape;257;h2a3dbc10fe5cba62_0_266"/>
            <p:cNvSpPr/>
            <p:nvPr/>
          </p:nvSpPr>
          <p:spPr>
            <a:xfrm>
              <a:off x="428625" y="247650"/>
              <a:ext cx="66600" cy="762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19050" cap="rnd"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258" name="Google Shape;258;h2a3dbc10fe5cba62_0_266"/>
          <p:cNvGrpSpPr/>
          <p:nvPr/>
        </p:nvGrpSpPr>
        <p:grpSpPr>
          <a:xfrm>
            <a:off x="8963025" y="1487107"/>
            <a:ext cx="2619300" cy="2428800"/>
            <a:chOff x="0" y="0"/>
            <a:chExt cx="2619300" cy="2428800"/>
          </a:xfrm>
        </p:grpSpPr>
        <p:sp>
          <p:nvSpPr>
            <p:cNvPr id="259" name="Google Shape;259;h2a3dbc10fe5cba62_0_266"/>
            <p:cNvSpPr/>
            <p:nvPr/>
          </p:nvSpPr>
          <p:spPr>
            <a:xfrm>
              <a:off x="0" y="0"/>
              <a:ext cx="2619300" cy="2428800"/>
            </a:xfrm>
            <a:prstGeom prst="roundRect">
              <a:avLst>
                <a:gd name="adj" fmla="val 470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h2a3dbc10fe5cba62_0_266"/>
            <p:cNvSpPr/>
            <p:nvPr/>
          </p:nvSpPr>
          <p:spPr>
            <a:xfrm>
              <a:off x="0" y="0"/>
              <a:ext cx="26193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1" name="Google Shape;261;h2a3dbc10fe5cba62_0_266"/>
            <p:cNvSpPr txBox="1"/>
            <p:nvPr/>
          </p:nvSpPr>
          <p:spPr>
            <a:xfrm>
              <a:off x="171450" y="152400"/>
              <a:ext cx="22764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4. Defect Type Classifier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284C7"/>
                  </a:solidFill>
                  <a:latin typeface="Verdana"/>
                  <a:ea typeface="Verdana"/>
                  <a:cs typeface="Verdana"/>
                  <a:sym typeface="Verdana"/>
                </a:rPr>
                <a:t>Supervised / Ensemble Models</a:t>
              </a:r>
              <a:endParaRPr sz="1000" b="1">
                <a:solidFill>
                  <a:srgbClr val="0284C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12 Types:</a:t>
              </a:r>
              <a:r>
                <a:rPr lang="en-US" sz="1000">
                  <a:solidFill>
                    <a:srgbClr val="334155"/>
                  </a:solidFill>
                  <a:latin typeface="Verdana"/>
                  <a:ea typeface="Verdana"/>
                  <a:cs typeface="Verdana"/>
                  <a:sym typeface="Verdana"/>
                </a:rPr>
                <a:t> ConvNeXt-Tiny</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Cable:</a:t>
              </a:r>
              <a:r>
                <a:rPr lang="en-US" sz="1000">
                  <a:solidFill>
                    <a:srgbClr val="334155"/>
                  </a:solidFill>
                  <a:latin typeface="Verdana"/>
                  <a:ea typeface="Verdana"/>
                  <a:cs typeface="Verdana"/>
                  <a:sym typeface="Verdana"/>
                </a:rPr>
                <a:t> EfficientNet-B0</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Pill:</a:t>
              </a:r>
              <a:r>
                <a:rPr lang="en-US" sz="1000">
                  <a:solidFill>
                    <a:srgbClr val="334155"/>
                  </a:solidFill>
                  <a:latin typeface="Verdana"/>
                  <a:ea typeface="Verdana"/>
                  <a:cs typeface="Verdana"/>
                  <a:sym typeface="Verdana"/>
                </a:rPr>
                <a:t> 4-Model Soft-Vote Ensemble</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0F172A"/>
                  </a:solidFill>
                  <a:latin typeface="Verdana"/>
                  <a:ea typeface="Verdana"/>
                  <a:cs typeface="Verdana"/>
                  <a:sym typeface="Verdana"/>
                </a:rPr>
                <a:t>Toothbrush: </a:t>
              </a:r>
              <a:r>
                <a:rPr lang="en-US" sz="1000">
                  <a:solidFill>
                    <a:srgbClr val="0F172A"/>
                  </a:solidFill>
                  <a:latin typeface="Verdana"/>
                  <a:ea typeface="Verdana"/>
                  <a:cs typeface="Verdana"/>
                  <a:sym typeface="Verdana"/>
                </a:rPr>
                <a:t>N/A, no defect type classifications</a:t>
              </a:r>
              <a:endParaRPr sz="1000">
                <a:solidFill>
                  <a:srgbClr val="334155"/>
                </a:solidFill>
                <a:latin typeface="Verdana"/>
                <a:ea typeface="Verdana"/>
                <a:cs typeface="Verdana"/>
                <a:sym typeface="Verdana"/>
              </a:endParaRPr>
            </a:p>
          </p:txBody>
        </p:sp>
      </p:grpSp>
      <p:grpSp>
        <p:nvGrpSpPr>
          <p:cNvPr id="262" name="Google Shape;262;h2a3dbc10fe5cba62_0_266"/>
          <p:cNvGrpSpPr/>
          <p:nvPr/>
        </p:nvGrpSpPr>
        <p:grpSpPr>
          <a:xfrm>
            <a:off x="609600" y="4610450"/>
            <a:ext cx="10972800" cy="1695318"/>
            <a:chOff x="0" y="0"/>
            <a:chExt cx="10972800" cy="2190900"/>
          </a:xfrm>
        </p:grpSpPr>
        <p:sp>
          <p:nvSpPr>
            <p:cNvPr id="263" name="Google Shape;263;h2a3dbc10fe5cba62_0_266"/>
            <p:cNvSpPr/>
            <p:nvPr/>
          </p:nvSpPr>
          <p:spPr>
            <a:xfrm>
              <a:off x="0" y="0"/>
              <a:ext cx="10972800" cy="2190900"/>
            </a:xfrm>
            <a:prstGeom prst="roundRect">
              <a:avLst>
                <a:gd name="adj" fmla="val 6086"/>
              </a:avLst>
            </a:prstGeom>
            <a:solidFill>
              <a:srgbClr val="F0FDF4"/>
            </a:solidFill>
            <a:ln w="14300"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4" name="Google Shape;264;h2a3dbc10fe5cba62_0_266"/>
            <p:cNvSpPr/>
            <p:nvPr/>
          </p:nvSpPr>
          <p:spPr>
            <a:xfrm>
              <a:off x="0" y="0"/>
              <a:ext cx="10972800" cy="57300"/>
            </a:xfrm>
            <a:prstGeom prst="roundRect">
              <a:avLst>
                <a:gd name="adj" fmla="val 50000"/>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5" name="Google Shape;265;h2a3dbc10fe5cba62_0_266"/>
            <p:cNvSpPr txBox="1"/>
            <p:nvPr/>
          </p:nvSpPr>
          <p:spPr>
            <a:xfrm>
              <a:off x="228600" y="152400"/>
              <a:ext cx="10515600" cy="3048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350" b="1">
                  <a:solidFill>
                    <a:srgbClr val="14532D"/>
                  </a:solidFill>
                  <a:latin typeface="Verdana"/>
                  <a:ea typeface="Verdana"/>
                  <a:cs typeface="Verdana"/>
                  <a:sym typeface="Verdana"/>
                </a:rPr>
                <a:t>5. Inspection Result (Streamlit App Output)</a:t>
              </a:r>
              <a:endParaRPr>
                <a:latin typeface="Verdana"/>
                <a:ea typeface="Verdana"/>
                <a:cs typeface="Verdana"/>
                <a:sym typeface="Verdana"/>
              </a:endParaRPr>
            </a:p>
          </p:txBody>
        </p:sp>
        <p:grpSp>
          <p:nvGrpSpPr>
            <p:cNvPr id="266" name="Google Shape;266;h2a3dbc10fe5cba62_0_266"/>
            <p:cNvGrpSpPr/>
            <p:nvPr/>
          </p:nvGrpSpPr>
          <p:grpSpPr>
            <a:xfrm>
              <a:off x="228600" y="571500"/>
              <a:ext cx="3333900" cy="1381200"/>
              <a:chOff x="0" y="0"/>
              <a:chExt cx="3333900" cy="1381200"/>
            </a:xfrm>
          </p:grpSpPr>
          <p:sp>
            <p:nvSpPr>
              <p:cNvPr id="267" name="Google Shape;267;h2a3dbc10fe5cba62_0_266"/>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h2a3dbc10fe5cba62_0_266"/>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Category Classification</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Identified object/texture class</a:t>
                </a:r>
                <a:endParaRPr sz="1000">
                  <a:solidFill>
                    <a:srgbClr val="334155"/>
                  </a:solidFill>
                  <a:latin typeface="Verdana"/>
                  <a:ea typeface="Verdana"/>
                  <a:cs typeface="Verdana"/>
                  <a:sym typeface="Verdana"/>
                </a:endParaRPr>
              </a:p>
            </p:txBody>
          </p:sp>
        </p:grpSp>
        <p:grpSp>
          <p:nvGrpSpPr>
            <p:cNvPr id="269" name="Google Shape;269;h2a3dbc10fe5cba62_0_266"/>
            <p:cNvGrpSpPr/>
            <p:nvPr/>
          </p:nvGrpSpPr>
          <p:grpSpPr>
            <a:xfrm>
              <a:off x="3819525" y="571500"/>
              <a:ext cx="3333900" cy="1381200"/>
              <a:chOff x="0" y="0"/>
              <a:chExt cx="3333900" cy="1381200"/>
            </a:xfrm>
          </p:grpSpPr>
          <p:sp>
            <p:nvSpPr>
              <p:cNvPr id="270" name="Google Shape;270;h2a3dbc10fe5cba62_0_266"/>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h2a3dbc10fe5cba62_0_266"/>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Anomaly Score &amp; Heatmap</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Visual defect localization overlay</a:t>
                </a:r>
                <a:endParaRPr sz="1000">
                  <a:solidFill>
                    <a:srgbClr val="334155"/>
                  </a:solidFill>
                  <a:latin typeface="Verdana"/>
                  <a:ea typeface="Verdana"/>
                  <a:cs typeface="Verdana"/>
                  <a:sym typeface="Verdana"/>
                </a:endParaRPr>
              </a:p>
            </p:txBody>
          </p:sp>
        </p:grpSp>
        <p:grpSp>
          <p:nvGrpSpPr>
            <p:cNvPr id="272" name="Google Shape;272;h2a3dbc10fe5cba62_0_266"/>
            <p:cNvGrpSpPr/>
            <p:nvPr/>
          </p:nvGrpSpPr>
          <p:grpSpPr>
            <a:xfrm>
              <a:off x="7410450" y="571500"/>
              <a:ext cx="3333900" cy="1381200"/>
              <a:chOff x="0" y="0"/>
              <a:chExt cx="3333900" cy="1381200"/>
            </a:xfrm>
          </p:grpSpPr>
          <p:sp>
            <p:nvSpPr>
              <p:cNvPr id="273" name="Google Shape;273;h2a3dbc10fe5cba62_0_266"/>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h2a3dbc10fe5cba62_0_266"/>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Defect &amp; Severity Analysis</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Defect type &amp; severity grading</a:t>
                </a:r>
                <a:endParaRPr sz="1000">
                  <a:solidFill>
                    <a:srgbClr val="334155"/>
                  </a:solidFill>
                  <a:latin typeface="Verdana"/>
                  <a:ea typeface="Verdana"/>
                  <a:cs typeface="Verdana"/>
                  <a:sym typeface="Verdana"/>
                </a:endParaRPr>
              </a:p>
            </p:txBody>
          </p:sp>
        </p:grpSp>
      </p:grpSp>
      <p:cxnSp>
        <p:nvCxnSpPr>
          <p:cNvPr id="275" name="Google Shape;275;h2a3dbc10fe5cba62_0_266"/>
          <p:cNvCxnSpPr>
            <a:stCxn id="250" idx="2"/>
            <a:endCxn id="264" idx="0"/>
          </p:cNvCxnSpPr>
          <p:nvPr/>
        </p:nvCxnSpPr>
        <p:spPr>
          <a:xfrm rot="5400000">
            <a:off x="6251100" y="3760657"/>
            <a:ext cx="694500" cy="1005000"/>
          </a:xfrm>
          <a:prstGeom prst="bentConnector3">
            <a:avLst>
              <a:gd name="adj1" fmla="val 50003"/>
            </a:avLst>
          </a:prstGeom>
          <a:noFill/>
          <a:ln w="19050" cap="flat" cmpd="sng">
            <a:solidFill>
              <a:schemeClr val="accent1"/>
            </a:solidFill>
            <a:prstDash val="solid"/>
            <a:round/>
            <a:headEnd type="none" w="med" len="med"/>
            <a:tailEnd type="triangle" w="med" len="med"/>
          </a:ln>
        </p:spPr>
      </p:cxnSp>
      <p:cxnSp>
        <p:nvCxnSpPr>
          <p:cNvPr id="276" name="Google Shape;276;h2a3dbc10fe5cba62_0_266"/>
          <p:cNvCxnSpPr>
            <a:stCxn id="259" idx="2"/>
            <a:endCxn id="264" idx="0"/>
          </p:cNvCxnSpPr>
          <p:nvPr/>
        </p:nvCxnSpPr>
        <p:spPr>
          <a:xfrm rot="5400000">
            <a:off x="7837125" y="2174857"/>
            <a:ext cx="694500" cy="4176600"/>
          </a:xfrm>
          <a:prstGeom prst="bentConnector3">
            <a:avLst>
              <a:gd name="adj1" fmla="val 50003"/>
            </a:avLst>
          </a:prstGeom>
          <a:noFill/>
          <a:ln w="19050" cap="flat" cmpd="sng">
            <a:solidFill>
              <a:schemeClr val="accent1"/>
            </a:solidFill>
            <a:prstDash val="solid"/>
            <a:round/>
            <a:headEnd type="none" w="med" len="med"/>
            <a:tailEnd type="none" w="med" len="med"/>
          </a:ln>
        </p:spPr>
      </p:cxnSp>
      <p:sp>
        <p:nvSpPr>
          <p:cNvPr id="277" name="Google Shape;277;h2a3dbc10fe5cba62_0_266"/>
          <p:cNvSpPr txBox="1"/>
          <p:nvPr/>
        </p:nvSpPr>
        <p:spPr>
          <a:xfrm>
            <a:off x="609600" y="381000"/>
            <a:ext cx="109728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150" b="1">
                <a:solidFill>
                  <a:srgbClr val="12293A"/>
                </a:solidFill>
                <a:latin typeface="Verdana"/>
                <a:ea typeface="Verdana"/>
                <a:cs typeface="Verdana"/>
                <a:sym typeface="Verdana"/>
              </a:rPr>
              <a:t>System Architecture</a:t>
            </a:r>
            <a:endParaRPr sz="3150" b="1">
              <a:solidFill>
                <a:srgbClr val="12293A"/>
              </a:solidFill>
              <a:latin typeface="Verdana"/>
              <a:ea typeface="Verdana"/>
              <a:cs typeface="Verdana"/>
              <a:sym typeface="Verdana"/>
            </a:endParaRPr>
          </a:p>
          <a:p>
            <a:pPr marL="0" lvl="0" indent="0" algn="l" rtl="0">
              <a:spcBef>
                <a:spcPts val="450"/>
              </a:spcBef>
              <a:spcAft>
                <a:spcPts val="0"/>
              </a:spcAft>
              <a:buNone/>
            </a:pPr>
            <a:r>
              <a:rPr lang="en-US" sz="1240" b="0">
                <a:solidFill>
                  <a:srgbClr val="007E87"/>
                </a:solidFill>
                <a:latin typeface="Verdana"/>
                <a:ea typeface="Verdana"/>
                <a:cs typeface="Verdana"/>
                <a:sym typeface="Verdana"/>
              </a:rPr>
              <a:t>End-to-End Visual Inspection &amp; Anomaly Detection Pipeline</a:t>
            </a:r>
            <a:endParaRPr sz="1240" b="0">
              <a:solidFill>
                <a:srgbClr val="007E87"/>
              </a:solidFill>
              <a:latin typeface="Verdana"/>
              <a:ea typeface="Verdana"/>
              <a:cs typeface="Verdana"/>
              <a:sym typeface="Verdana"/>
            </a:endParaRPr>
          </a:p>
        </p:txBody>
      </p:sp>
      <p:sp>
        <p:nvSpPr>
          <p:cNvPr id="278" name="Google Shape;278;h2a3dbc10fe5cba62_0_266"/>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7</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1"/>
        <p:cNvGrpSpPr/>
        <p:nvPr/>
      </p:nvGrpSpPr>
      <p:grpSpPr>
        <a:xfrm>
          <a:off x="0" y="0"/>
          <a:ext cx="0" cy="0"/>
          <a:chOff x="0" y="0"/>
          <a:chExt cx="0" cy="0"/>
        </a:xfrm>
      </p:grpSpPr>
      <p:sp>
        <p:nvSpPr>
          <p:cNvPr id="362" name="Google Shape;362;h62dfe8351d842ea3_0_13"/>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8</a:t>
            </a:r>
            <a:endParaRPr/>
          </a:p>
        </p:txBody>
      </p:sp>
      <p:graphicFrame>
        <p:nvGraphicFramePr>
          <p:cNvPr id="363" name="Google Shape;363;h62dfe8351d842ea3_0_13"/>
          <p:cNvGraphicFramePr/>
          <p:nvPr/>
        </p:nvGraphicFramePr>
        <p:xfrm>
          <a:off x="609588" y="1362088"/>
          <a:ext cx="10331300" cy="4976270"/>
        </p:xfrm>
        <a:graphic>
          <a:graphicData uri="http://schemas.openxmlformats.org/drawingml/2006/table">
            <a:tbl>
              <a:tblPr>
                <a:noFill/>
                <a:tableStyleId>{89359D83-5457-4402-8951-C3CEC1CC7011}</a:tableStyleId>
              </a:tblPr>
              <a:tblGrid>
                <a:gridCol w="2666450">
                  <a:extLst>
                    <a:ext uri="{9D8B030D-6E8A-4147-A177-3AD203B41FA5}">
                      <a16:colId xmlns:a16="http://schemas.microsoft.com/office/drawing/2014/main" val="20000"/>
                    </a:ext>
                  </a:extLst>
                </a:gridCol>
                <a:gridCol w="3832425">
                  <a:extLst>
                    <a:ext uri="{9D8B030D-6E8A-4147-A177-3AD203B41FA5}">
                      <a16:colId xmlns:a16="http://schemas.microsoft.com/office/drawing/2014/main" val="20001"/>
                    </a:ext>
                  </a:extLst>
                </a:gridCol>
                <a:gridCol w="3832425">
                  <a:extLst>
                    <a:ext uri="{9D8B030D-6E8A-4147-A177-3AD203B41FA5}">
                      <a16:colId xmlns:a16="http://schemas.microsoft.com/office/drawing/2014/main" val="20002"/>
                    </a:ext>
                  </a:extLst>
                </a:gridCol>
              </a:tblGrid>
              <a:tr h="629175">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Product (Transistor)</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7E87"/>
                    </a:solidFill>
                  </a:tcPr>
                </a:tc>
                <a:tc gridSpan="2">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Supervised Classifiers</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7E87"/>
                    </a:solidFill>
                  </a:tcPr>
                </a:tc>
                <a:tc hMerge="1">
                  <a:txBody>
                    <a:bodyPr/>
                    <a:lstStyle/>
                    <a:p>
                      <a:endParaRPr lang="en-US"/>
                    </a:p>
                  </a:txBody>
                  <a:tcPr/>
                </a:tc>
                <a:extLst>
                  <a:ext uri="{0D108BD9-81ED-4DB2-BD59-A6C34878D82A}">
                    <a16:rowId xmlns:a16="http://schemas.microsoft.com/office/drawing/2014/main" val="10000"/>
                  </a:ext>
                </a:extLst>
              </a:tr>
              <a:tr h="629175">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Aspect</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Category Classification</a:t>
                      </a:r>
                      <a:endParaRPr sz="1800" b="1">
                        <a:solidFill>
                          <a:schemeClr val="lt1"/>
                        </a:solidFill>
                        <a:latin typeface="Verdana"/>
                        <a:ea typeface="Verdana"/>
                        <a:cs typeface="Verdana"/>
                        <a:sym typeface="Verdana"/>
                      </a:endParaRPr>
                    </a:p>
                    <a:p>
                      <a:pPr marL="0" lvl="0" indent="0" algn="ctr" rtl="0">
                        <a:spcBef>
                          <a:spcPts val="0"/>
                        </a:spcBef>
                        <a:spcAft>
                          <a:spcPts val="0"/>
                        </a:spcAft>
                        <a:buNone/>
                      </a:pPr>
                      <a:r>
                        <a:rPr lang="en-US" sz="1800" b="1">
                          <a:solidFill>
                            <a:schemeClr val="lt1"/>
                          </a:solidFill>
                          <a:latin typeface="Verdana"/>
                          <a:ea typeface="Verdana"/>
                          <a:cs typeface="Verdana"/>
                          <a:sym typeface="Verdana"/>
                        </a:rPr>
                        <a:t>(ResNet18, 15-way)</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lvl="0" indent="0" algn="ctr" rtl="0">
                        <a:spcBef>
                          <a:spcPts val="0"/>
                        </a:spcBef>
                        <a:spcAft>
                          <a:spcPts val="0"/>
                        </a:spcAft>
                        <a:buNone/>
                      </a:pP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extLst>
                  <a:ext uri="{0D108BD9-81ED-4DB2-BD59-A6C34878D82A}">
                    <a16:rowId xmlns:a16="http://schemas.microsoft.com/office/drawing/2014/main" val="10001"/>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Input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Normal training images only</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Split Method</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MVTec's split (train/test) </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l" rtl="0">
                        <a:spcBef>
                          <a:spcPts val="0"/>
                        </a:spcBef>
                        <a:spcAft>
                          <a:spcPts val="0"/>
                        </a:spcAft>
                        <a:buNone/>
                      </a:pP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3"/>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Training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213 normal transistor </a:t>
                      </a:r>
                      <a:br>
                        <a:rPr lang="en-US" sz="1800">
                          <a:solidFill>
                            <a:srgbClr val="12293A"/>
                          </a:solidFill>
                          <a:latin typeface="Verdana"/>
                          <a:ea typeface="Verdana"/>
                          <a:cs typeface="Verdana"/>
                          <a:sym typeface="Verdana"/>
                        </a:rPr>
                      </a:br>
                      <a:r>
                        <a:rPr lang="en-US" sz="1800">
                          <a:solidFill>
                            <a:srgbClr val="12293A"/>
                          </a:solidFill>
                          <a:latin typeface="Verdana"/>
                          <a:ea typeface="Verdana"/>
                          <a:cs typeface="Verdana"/>
                          <a:sym typeface="Verdana"/>
                        </a:rPr>
                        <a:t>training images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9882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Validation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None/>
                      </a:pPr>
                      <a:r>
                        <a:rPr lang="en-US" sz="1800">
                          <a:solidFill>
                            <a:schemeClr val="dk2"/>
                          </a:solidFill>
                          <a:latin typeface="Verdana"/>
                          <a:ea typeface="Verdana"/>
                          <a:cs typeface="Verdana"/>
                          <a:sym typeface="Verdana"/>
                        </a:rPr>
                        <a:t>100 test images: </a:t>
                      </a:r>
                      <a:br>
                        <a:rPr lang="en-US" sz="1800">
                          <a:solidFill>
                            <a:schemeClr val="dk2"/>
                          </a:solidFill>
                          <a:latin typeface="Verdana"/>
                          <a:ea typeface="Verdana"/>
                          <a:cs typeface="Verdana"/>
                          <a:sym typeface="Verdana"/>
                        </a:rPr>
                      </a:br>
                      <a:r>
                        <a:rPr lang="en-US" sz="1800">
                          <a:solidFill>
                            <a:schemeClr val="dk2"/>
                          </a:solidFill>
                          <a:latin typeface="Verdana"/>
                          <a:ea typeface="Verdana"/>
                          <a:cs typeface="Verdana"/>
                          <a:sym typeface="Verdana"/>
                        </a:rPr>
                        <a:t>60 normal &amp; 40 defective</a:t>
                      </a:r>
                      <a:endParaRPr sz="18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l" rtl="0">
                        <a:spcBef>
                          <a:spcPts val="0"/>
                        </a:spcBef>
                        <a:spcAft>
                          <a:spcPts val="0"/>
                        </a:spcAft>
                        <a:buNone/>
                      </a:pP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5"/>
                  </a:ext>
                </a:extLst>
              </a:tr>
              <a:tr h="89882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Confidence Limits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solidFill>
                            <a:schemeClr val="dk2"/>
                          </a:solidFill>
                          <a:latin typeface="Verdana"/>
                          <a:ea typeface="Verdana"/>
                          <a:cs typeface="Verdana"/>
                          <a:sym typeface="Verdana"/>
                        </a:rPr>
                        <a:t>At least 60%</a:t>
                      </a:r>
                      <a:endParaRPr sz="18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364" name="Google Shape;364;h62dfe8351d842ea3_0_13"/>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Supervised Deep Learning Techniques</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2000">
                <a:solidFill>
                  <a:srgbClr val="12293A"/>
                </a:solidFill>
                <a:latin typeface="Verdana"/>
                <a:ea typeface="Verdana"/>
                <a:cs typeface="Verdana"/>
                <a:sym typeface="Verdana"/>
              </a:rPr>
              <a:t>Data Splits and Evaluation Boundaries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9"/>
        <p:cNvGrpSpPr/>
        <p:nvPr/>
      </p:nvGrpSpPr>
      <p:grpSpPr>
        <a:xfrm>
          <a:off x="0" y="0"/>
          <a:ext cx="0" cy="0"/>
          <a:chOff x="0" y="0"/>
          <a:chExt cx="0" cy="0"/>
        </a:xfrm>
      </p:grpSpPr>
      <p:sp>
        <p:nvSpPr>
          <p:cNvPr id="370" name="Google Shape;370;h635942e35c3231f0_0_8"/>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a:t>
            </a:r>
            <a:r>
              <a:rPr lang="en-US" sz="1350">
                <a:solidFill>
                  <a:srgbClr val="536674"/>
                </a:solidFill>
                <a:latin typeface="Verdana"/>
                <a:ea typeface="Verdana"/>
                <a:cs typeface="Verdana"/>
                <a:sym typeface="Verdana"/>
              </a:rPr>
              <a:t>8</a:t>
            </a:r>
            <a:endParaRPr/>
          </a:p>
        </p:txBody>
      </p:sp>
      <p:graphicFrame>
        <p:nvGraphicFramePr>
          <p:cNvPr id="371" name="Google Shape;371;h635942e35c3231f0_0_8"/>
          <p:cNvGraphicFramePr/>
          <p:nvPr/>
        </p:nvGraphicFramePr>
        <p:xfrm>
          <a:off x="609588" y="1362088"/>
          <a:ext cx="3000000" cy="3000000"/>
        </p:xfrm>
        <a:graphic>
          <a:graphicData uri="http://schemas.openxmlformats.org/drawingml/2006/table">
            <a:tbl>
              <a:tblPr>
                <a:noFill/>
                <a:tableStyleId>{89359D83-5457-4402-8951-C3CEC1CC7011}</a:tableStyleId>
              </a:tblPr>
              <a:tblGrid>
                <a:gridCol w="2666450">
                  <a:extLst>
                    <a:ext uri="{9D8B030D-6E8A-4147-A177-3AD203B41FA5}">
                      <a16:colId xmlns:a16="http://schemas.microsoft.com/office/drawing/2014/main" val="20000"/>
                    </a:ext>
                  </a:extLst>
                </a:gridCol>
                <a:gridCol w="3832425">
                  <a:extLst>
                    <a:ext uri="{9D8B030D-6E8A-4147-A177-3AD203B41FA5}">
                      <a16:colId xmlns:a16="http://schemas.microsoft.com/office/drawing/2014/main" val="20001"/>
                    </a:ext>
                  </a:extLst>
                </a:gridCol>
                <a:gridCol w="3832425">
                  <a:extLst>
                    <a:ext uri="{9D8B030D-6E8A-4147-A177-3AD203B41FA5}">
                      <a16:colId xmlns:a16="http://schemas.microsoft.com/office/drawing/2014/main" val="20002"/>
                    </a:ext>
                  </a:extLst>
                </a:gridCol>
              </a:tblGrid>
              <a:tr h="629175">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Product (Transistor)</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7E87"/>
                    </a:solidFill>
                  </a:tcPr>
                </a:tc>
                <a:tc gridSpan="2">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Supervised Classifiers</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7E87"/>
                    </a:solidFill>
                  </a:tcPr>
                </a:tc>
                <a:tc hMerge="1">
                  <a:txBody>
                    <a:bodyPr/>
                    <a:lstStyle/>
                    <a:p>
                      <a:endParaRPr lang="en-US"/>
                    </a:p>
                  </a:txBody>
                  <a:tcPr/>
                </a:tc>
                <a:extLst>
                  <a:ext uri="{0D108BD9-81ED-4DB2-BD59-A6C34878D82A}">
                    <a16:rowId xmlns:a16="http://schemas.microsoft.com/office/drawing/2014/main" val="10000"/>
                  </a:ext>
                </a:extLst>
              </a:tr>
              <a:tr h="629175">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Aspect</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Category Classification</a:t>
                      </a:r>
                      <a:endParaRPr sz="1800" b="1">
                        <a:solidFill>
                          <a:schemeClr val="lt1"/>
                        </a:solidFill>
                        <a:latin typeface="Verdana"/>
                        <a:ea typeface="Verdana"/>
                        <a:cs typeface="Verdana"/>
                        <a:sym typeface="Verdana"/>
                      </a:endParaRPr>
                    </a:p>
                    <a:p>
                      <a:pPr marL="0" lvl="0" indent="0" algn="ctr" rtl="0">
                        <a:spcBef>
                          <a:spcPts val="0"/>
                        </a:spcBef>
                        <a:spcAft>
                          <a:spcPts val="0"/>
                        </a:spcAft>
                        <a:buNone/>
                      </a:pPr>
                      <a:r>
                        <a:rPr lang="en-US" sz="1800" b="1">
                          <a:solidFill>
                            <a:schemeClr val="lt1"/>
                          </a:solidFill>
                          <a:latin typeface="Verdana"/>
                          <a:ea typeface="Verdana"/>
                          <a:cs typeface="Verdana"/>
                          <a:sym typeface="Verdana"/>
                        </a:rPr>
                        <a:t>(ResNet18, 15-way)</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lvl="0" indent="0" algn="ctr" rtl="0">
                        <a:spcBef>
                          <a:spcPts val="0"/>
                        </a:spcBef>
                        <a:spcAft>
                          <a:spcPts val="0"/>
                        </a:spcAft>
                        <a:buNone/>
                      </a:pPr>
                      <a:r>
                        <a:rPr lang="en-US" sz="1800" b="1">
                          <a:solidFill>
                            <a:schemeClr val="lt1"/>
                          </a:solidFill>
                          <a:latin typeface="Verdana"/>
                          <a:ea typeface="Verdana"/>
                          <a:cs typeface="Verdana"/>
                          <a:sym typeface="Verdana"/>
                        </a:rPr>
                        <a:t>Defect Type Classification</a:t>
                      </a:r>
                      <a:endParaRPr sz="1800" b="1">
                        <a:solidFill>
                          <a:schemeClr val="lt1"/>
                        </a:solidFill>
                        <a:latin typeface="Verdana"/>
                        <a:ea typeface="Verdana"/>
                        <a:cs typeface="Verdana"/>
                        <a:sym typeface="Verdana"/>
                      </a:endParaRPr>
                    </a:p>
                    <a:p>
                      <a:pPr marL="0" lvl="0" indent="0" algn="ctr" rtl="0">
                        <a:spcBef>
                          <a:spcPts val="0"/>
                        </a:spcBef>
                        <a:spcAft>
                          <a:spcPts val="0"/>
                        </a:spcAft>
                        <a:buNone/>
                      </a:pPr>
                      <a:r>
                        <a:rPr lang="en-US" sz="1800" b="1">
                          <a:solidFill>
                            <a:schemeClr val="lt1"/>
                          </a:solidFill>
                          <a:latin typeface="Verdana"/>
                          <a:ea typeface="Verdana"/>
                          <a:cs typeface="Verdana"/>
                          <a:sym typeface="Verdana"/>
                        </a:rPr>
                        <a:t>(ResNet18, N-way)</a:t>
                      </a:r>
                      <a:endParaRPr sz="18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extLst>
                  <a:ext uri="{0D108BD9-81ED-4DB2-BD59-A6C34878D82A}">
                    <a16:rowId xmlns:a16="http://schemas.microsoft.com/office/drawing/2014/main" val="10001"/>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Input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Normal training images only</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rgbClr val="12293A"/>
                        </a:buClr>
                        <a:buSzPts val="1800"/>
                        <a:buFont typeface="Verdana"/>
                        <a:buNone/>
                      </a:pPr>
                      <a:r>
                        <a:rPr lang="en-US" sz="1800">
                          <a:solidFill>
                            <a:srgbClr val="980000"/>
                          </a:solidFill>
                          <a:latin typeface="Verdana"/>
                          <a:ea typeface="Verdana"/>
                          <a:cs typeface="Verdana"/>
                          <a:sym typeface="Verdana"/>
                        </a:rPr>
                        <a:t>Defective test images only</a:t>
                      </a:r>
                      <a:endParaRPr sz="1800">
                        <a:solidFill>
                          <a:srgbClr val="980000"/>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Split Method</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MVTec's split (train/test) </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Clr>
                          <a:srgbClr val="12293A"/>
                        </a:buClr>
                        <a:buSzPts val="1800"/>
                        <a:buFont typeface="Verdana"/>
                        <a:buNone/>
                      </a:pPr>
                      <a:r>
                        <a:rPr lang="en-US" sz="1800">
                          <a:solidFill>
                            <a:srgbClr val="12293A"/>
                          </a:solidFill>
                          <a:latin typeface="Verdana"/>
                          <a:ea typeface="Verdana"/>
                          <a:cs typeface="Verdana"/>
                          <a:sym typeface="Verdana"/>
                        </a:rPr>
                        <a:t>Random stratified split (80/20) </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3"/>
                  </a:ext>
                </a:extLst>
              </a:tr>
              <a:tr h="62917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Training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213 normal transistor</a:t>
                      </a:r>
                      <a:br>
                        <a:rPr lang="en-US" sz="1800">
                          <a:solidFill>
                            <a:srgbClr val="12293A"/>
                          </a:solidFill>
                          <a:latin typeface="Verdana"/>
                          <a:ea typeface="Verdana"/>
                          <a:cs typeface="Verdana"/>
                          <a:sym typeface="Verdana"/>
                        </a:rPr>
                      </a:br>
                      <a:r>
                        <a:rPr lang="en-US" sz="1800">
                          <a:solidFill>
                            <a:srgbClr val="12293A"/>
                          </a:solidFill>
                          <a:latin typeface="Verdana"/>
                          <a:ea typeface="Verdana"/>
                          <a:cs typeface="Verdana"/>
                          <a:sym typeface="Verdana"/>
                        </a:rPr>
                        <a:t>training images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32 defective training images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9882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Validation Data</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100 test images: </a:t>
                      </a:r>
                      <a:br>
                        <a:rPr lang="en-US" sz="1800">
                          <a:solidFill>
                            <a:srgbClr val="12293A"/>
                          </a:solidFill>
                          <a:latin typeface="Verdana"/>
                          <a:ea typeface="Verdana"/>
                          <a:cs typeface="Verdana"/>
                          <a:sym typeface="Verdana"/>
                        </a:rPr>
                      </a:br>
                      <a:r>
                        <a:rPr lang="en-US" sz="1800">
                          <a:solidFill>
                            <a:srgbClr val="12293A"/>
                          </a:solidFill>
                          <a:latin typeface="Verdana"/>
                          <a:ea typeface="Verdana"/>
                          <a:cs typeface="Verdana"/>
                          <a:sym typeface="Verdana"/>
                        </a:rPr>
                        <a:t>60 normal &amp; </a:t>
                      </a:r>
                      <a:r>
                        <a:rPr lang="en-US" sz="1800">
                          <a:solidFill>
                            <a:srgbClr val="980000"/>
                          </a:solidFill>
                          <a:latin typeface="Verdana"/>
                          <a:ea typeface="Verdana"/>
                          <a:cs typeface="Verdana"/>
                          <a:sym typeface="Verdana"/>
                        </a:rPr>
                        <a:t>40 defective</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marR="0" lvl="0" indent="0" algn="ctr" rtl="0">
                        <a:spcBef>
                          <a:spcPts val="0"/>
                        </a:spcBef>
                        <a:spcAft>
                          <a:spcPts val="0"/>
                        </a:spcAft>
                        <a:buNone/>
                      </a:pPr>
                      <a:r>
                        <a:rPr lang="en-US" sz="1800">
                          <a:solidFill>
                            <a:srgbClr val="12293A"/>
                          </a:solidFill>
                          <a:latin typeface="Verdana"/>
                          <a:ea typeface="Verdana"/>
                          <a:cs typeface="Verdana"/>
                          <a:sym typeface="Verdana"/>
                        </a:rPr>
                        <a:t>8 defective test images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5"/>
                  </a:ext>
                </a:extLst>
              </a:tr>
              <a:tr h="898825">
                <a:tc>
                  <a:txBody>
                    <a:bodyPr/>
                    <a:lstStyle/>
                    <a:p>
                      <a:pPr marL="0" lvl="0" indent="0" algn="ctr" rtl="0">
                        <a:spcBef>
                          <a:spcPts val="0"/>
                        </a:spcBef>
                        <a:spcAft>
                          <a:spcPts val="0"/>
                        </a:spcAft>
                        <a:buNone/>
                      </a:pPr>
                      <a:r>
                        <a:rPr lang="en-US" sz="1800">
                          <a:solidFill>
                            <a:srgbClr val="12293A"/>
                          </a:solidFill>
                          <a:latin typeface="Verdana"/>
                          <a:ea typeface="Verdana"/>
                          <a:cs typeface="Verdana"/>
                          <a:sym typeface="Verdana"/>
                        </a:rPr>
                        <a:t>Confidence Limits</a:t>
                      </a:r>
                      <a:endParaRPr sz="18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800">
                          <a:solidFill>
                            <a:schemeClr val="dk2"/>
                          </a:solidFill>
                          <a:latin typeface="Verdana"/>
                          <a:ea typeface="Verdana"/>
                          <a:cs typeface="Verdana"/>
                          <a:sym typeface="Verdana"/>
                        </a:rPr>
                        <a:t>At least 60%</a:t>
                      </a:r>
                      <a:endParaRPr sz="18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800">
                          <a:solidFill>
                            <a:schemeClr val="dk2"/>
                          </a:solidFill>
                          <a:latin typeface="Verdana"/>
                          <a:ea typeface="Verdana"/>
                          <a:cs typeface="Verdana"/>
                          <a:sym typeface="Verdana"/>
                        </a:rPr>
                        <a:t>At least 60%</a:t>
                      </a:r>
                      <a:endParaRPr sz="18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grpSp>
        <p:nvGrpSpPr>
          <p:cNvPr id="372" name="Google Shape;372;h635942e35c3231f0_0_8"/>
          <p:cNvGrpSpPr/>
          <p:nvPr/>
        </p:nvGrpSpPr>
        <p:grpSpPr>
          <a:xfrm>
            <a:off x="6712572" y="3119587"/>
            <a:ext cx="1315475" cy="2043484"/>
            <a:chOff x="5206550" y="3890800"/>
            <a:chExt cx="1315475" cy="2043484"/>
          </a:xfrm>
        </p:grpSpPr>
        <p:cxnSp>
          <p:nvCxnSpPr>
            <p:cNvPr id="373" name="Google Shape;373;h635942e35c3231f0_0_8"/>
            <p:cNvCxnSpPr/>
            <p:nvPr/>
          </p:nvCxnSpPr>
          <p:spPr>
            <a:xfrm flipH="1">
              <a:off x="5206550" y="4098584"/>
              <a:ext cx="517800" cy="1835700"/>
            </a:xfrm>
            <a:prstGeom prst="straightConnector1">
              <a:avLst/>
            </a:prstGeom>
            <a:noFill/>
            <a:ln w="19050" cap="flat" cmpd="sng">
              <a:solidFill>
                <a:srgbClr val="980000"/>
              </a:solidFill>
              <a:prstDash val="solid"/>
              <a:round/>
              <a:headEnd type="none" w="med" len="med"/>
              <a:tailEnd type="none" w="med" len="med"/>
            </a:ln>
          </p:spPr>
        </p:cxnSp>
        <p:cxnSp>
          <p:nvCxnSpPr>
            <p:cNvPr id="374" name="Google Shape;374;h635942e35c3231f0_0_8"/>
            <p:cNvCxnSpPr/>
            <p:nvPr/>
          </p:nvCxnSpPr>
          <p:spPr>
            <a:xfrm rot="10800000" flipH="1">
              <a:off x="5724325" y="3890800"/>
              <a:ext cx="797700" cy="210000"/>
            </a:xfrm>
            <a:prstGeom prst="straightConnector1">
              <a:avLst/>
            </a:prstGeom>
            <a:noFill/>
            <a:ln w="19050" cap="flat" cmpd="sng">
              <a:solidFill>
                <a:srgbClr val="980000"/>
              </a:solidFill>
              <a:prstDash val="solid"/>
              <a:round/>
              <a:headEnd type="none" w="med" len="med"/>
              <a:tailEnd type="triangle" w="med" len="med"/>
            </a:ln>
          </p:spPr>
        </p:cxnSp>
      </p:grpSp>
      <p:sp>
        <p:nvSpPr>
          <p:cNvPr id="375" name="Google Shape;375;h635942e35c3231f0_0_8"/>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Supervised Deep Learning Techniques</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2000">
                <a:solidFill>
                  <a:srgbClr val="12293A"/>
                </a:solidFill>
                <a:latin typeface="Verdana"/>
                <a:ea typeface="Verdana"/>
                <a:cs typeface="Verdana"/>
                <a:sym typeface="Verdana"/>
              </a:rPr>
              <a:t>Data Splits and Evaluation Boundaries</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0"/>
        <p:cNvGrpSpPr/>
        <p:nvPr/>
      </p:nvGrpSpPr>
      <p:grpSpPr>
        <a:xfrm>
          <a:off x="0" y="0"/>
          <a:ext cx="0" cy="0"/>
          <a:chOff x="0" y="0"/>
          <a:chExt cx="0" cy="0"/>
        </a:xfrm>
      </p:grpSpPr>
      <p:sp>
        <p:nvSpPr>
          <p:cNvPr id="381" name="Google Shape;381;h3d51a6db47a0baff_0_30"/>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Category Classification Performance</a:t>
            </a:r>
            <a:endParaRPr/>
          </a:p>
        </p:txBody>
      </p:sp>
      <p:sp>
        <p:nvSpPr>
          <p:cNvPr id="382" name="Google Shape;382;h3d51a6db47a0baff_0_3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09</a:t>
            </a:r>
            <a:endParaRPr/>
          </a:p>
        </p:txBody>
      </p:sp>
      <p:sp>
        <p:nvSpPr>
          <p:cNvPr id="383" name="Google Shape;383;h3d51a6db47a0baff_0_30"/>
          <p:cNvSpPr/>
          <p:nvPr/>
        </p:nvSpPr>
        <p:spPr>
          <a:xfrm>
            <a:off x="6145500" y="5737050"/>
            <a:ext cx="5436900" cy="523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725" b="1">
                <a:solidFill>
                  <a:srgbClr val="007E87"/>
                </a:solidFill>
                <a:latin typeface="Verdana"/>
                <a:ea typeface="Verdana"/>
                <a:cs typeface="Verdana"/>
                <a:sym typeface="Verdana"/>
              </a:rPr>
              <a:t>100% Validation Accuracy for all categories even on defective test images</a:t>
            </a:r>
            <a:endParaRPr sz="800"/>
          </a:p>
        </p:txBody>
      </p:sp>
      <p:sp>
        <p:nvSpPr>
          <p:cNvPr id="384" name="Google Shape;384;h3d51a6db47a0baff_0_30"/>
          <p:cNvSpPr/>
          <p:nvPr/>
        </p:nvSpPr>
        <p:spPr>
          <a:xfrm>
            <a:off x="735550" y="5692350"/>
            <a:ext cx="4932900" cy="613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725" b="1">
                <a:solidFill>
                  <a:srgbClr val="007E87"/>
                </a:solidFill>
                <a:latin typeface="Verdana"/>
                <a:ea typeface="Verdana"/>
                <a:cs typeface="Verdana"/>
                <a:sym typeface="Verdana"/>
              </a:rPr>
              <a:t>Avg Loss &amp; Accuracy converges to 0 and 1 respectively after 8 epochs.</a:t>
            </a:r>
            <a:endParaRPr sz="1725" b="1">
              <a:solidFill>
                <a:srgbClr val="007E87"/>
              </a:solidFill>
              <a:latin typeface="Verdana"/>
              <a:ea typeface="Verdana"/>
              <a:cs typeface="Verdana"/>
              <a:sym typeface="Verdana"/>
            </a:endParaRPr>
          </a:p>
        </p:txBody>
      </p:sp>
      <p:pic>
        <p:nvPicPr>
          <p:cNvPr id="385" name="Google Shape;385;h3d51a6db47a0baff_0_30"/>
          <p:cNvPicPr preferRelativeResize="0"/>
          <p:nvPr/>
        </p:nvPicPr>
        <p:blipFill>
          <a:blip r:embed="rId3">
            <a:alphaModFix/>
          </a:blip>
          <a:stretch>
            <a:fillRect/>
          </a:stretch>
        </p:blipFill>
        <p:spPr>
          <a:xfrm>
            <a:off x="1764325" y="1492412"/>
            <a:ext cx="2875339" cy="4025474"/>
          </a:xfrm>
          <a:prstGeom prst="rect">
            <a:avLst/>
          </a:prstGeom>
          <a:noFill/>
          <a:ln>
            <a:noFill/>
          </a:ln>
        </p:spPr>
      </p:pic>
      <p:pic>
        <p:nvPicPr>
          <p:cNvPr id="386" name="Google Shape;386;h3d51a6db47a0baff_0_30" title="category_classifier_resnet18_confusion_matrix.png"/>
          <p:cNvPicPr preferRelativeResize="0"/>
          <p:nvPr/>
        </p:nvPicPr>
        <p:blipFill>
          <a:blip r:embed="rId4">
            <a:alphaModFix/>
          </a:blip>
          <a:stretch>
            <a:fillRect/>
          </a:stretch>
        </p:blipFill>
        <p:spPr>
          <a:xfrm>
            <a:off x="6828863" y="1470063"/>
            <a:ext cx="4070174" cy="4070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1"/>
        <p:cNvGrpSpPr/>
        <p:nvPr/>
      </p:nvGrpSpPr>
      <p:grpSpPr>
        <a:xfrm>
          <a:off x="0" y="0"/>
          <a:ext cx="0" cy="0"/>
          <a:chOff x="0" y="0"/>
          <a:chExt cx="0" cy="0"/>
        </a:xfrm>
      </p:grpSpPr>
      <p:sp>
        <p:nvSpPr>
          <p:cNvPr id="392" name="Google Shape;392;h71a4adb101b34c3b_0_0"/>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3150" b="1">
                <a:solidFill>
                  <a:srgbClr val="12293A"/>
                </a:solidFill>
                <a:latin typeface="Verdana"/>
                <a:ea typeface="Verdana"/>
                <a:cs typeface="Verdana"/>
                <a:sym typeface="Verdana"/>
              </a:rPr>
              <a:t>Defect Type Classifier Performance (ResNet18)</a:t>
            </a:r>
            <a:endParaRPr>
              <a:solidFill>
                <a:schemeClr val="dk1"/>
              </a:solidFill>
            </a:endParaRPr>
          </a:p>
          <a:p>
            <a:pPr marL="0" marR="0" lvl="0" indent="0" algn="l" rtl="0">
              <a:spcBef>
                <a:spcPts val="0"/>
              </a:spcBef>
              <a:spcAft>
                <a:spcPts val="0"/>
              </a:spcAft>
              <a:buNone/>
            </a:pPr>
            <a:endParaRPr sz="3150" b="1">
              <a:solidFill>
                <a:srgbClr val="12293A"/>
              </a:solidFill>
              <a:latin typeface="Verdana"/>
              <a:ea typeface="Verdana"/>
              <a:cs typeface="Verdana"/>
              <a:sym typeface="Verdana"/>
            </a:endParaRPr>
          </a:p>
        </p:txBody>
      </p:sp>
      <p:sp>
        <p:nvSpPr>
          <p:cNvPr id="393" name="Google Shape;393;h71a4adb101b34c3b_0_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10</a:t>
            </a:r>
            <a:endParaRPr/>
          </a:p>
        </p:txBody>
      </p:sp>
      <p:graphicFrame>
        <p:nvGraphicFramePr>
          <p:cNvPr id="394" name="Google Shape;394;h71a4adb101b34c3b_0_0"/>
          <p:cNvGraphicFramePr/>
          <p:nvPr/>
        </p:nvGraphicFramePr>
        <p:xfrm>
          <a:off x="609600" y="1153400"/>
          <a:ext cx="3000000" cy="3000000"/>
        </p:xfrm>
        <a:graphic>
          <a:graphicData uri="http://schemas.openxmlformats.org/drawingml/2006/table">
            <a:tbl>
              <a:tblPr>
                <a:noFill/>
                <a:tableStyleId>{89359D83-5457-4402-8951-C3CEC1CC7011}</a:tableStyleId>
              </a:tblPr>
              <a:tblGrid>
                <a:gridCol w="771550">
                  <a:extLst>
                    <a:ext uri="{9D8B030D-6E8A-4147-A177-3AD203B41FA5}">
                      <a16:colId xmlns:a16="http://schemas.microsoft.com/office/drawing/2014/main" val="20000"/>
                    </a:ext>
                  </a:extLst>
                </a:gridCol>
                <a:gridCol w="771550">
                  <a:extLst>
                    <a:ext uri="{9D8B030D-6E8A-4147-A177-3AD203B41FA5}">
                      <a16:colId xmlns:a16="http://schemas.microsoft.com/office/drawing/2014/main" val="20001"/>
                    </a:ext>
                  </a:extLst>
                </a:gridCol>
                <a:gridCol w="4503675">
                  <a:extLst>
                    <a:ext uri="{9D8B030D-6E8A-4147-A177-3AD203B41FA5}">
                      <a16:colId xmlns:a16="http://schemas.microsoft.com/office/drawing/2014/main" val="20002"/>
                    </a:ext>
                  </a:extLst>
                </a:gridCol>
                <a:gridCol w="1465000">
                  <a:extLst>
                    <a:ext uri="{9D8B030D-6E8A-4147-A177-3AD203B41FA5}">
                      <a16:colId xmlns:a16="http://schemas.microsoft.com/office/drawing/2014/main" val="20003"/>
                    </a:ext>
                  </a:extLst>
                </a:gridCol>
                <a:gridCol w="865375">
                  <a:extLst>
                    <a:ext uri="{9D8B030D-6E8A-4147-A177-3AD203B41FA5}">
                      <a16:colId xmlns:a16="http://schemas.microsoft.com/office/drawing/2014/main" val="20004"/>
                    </a:ext>
                  </a:extLst>
                </a:gridCol>
              </a:tblGrid>
              <a:tr h="461675">
                <a:tc>
                  <a:txBody>
                    <a:bodyPr/>
                    <a:lstStyle/>
                    <a:p>
                      <a:pPr marL="0" lvl="0" indent="0" algn="ctr" rtl="0">
                        <a:lnSpc>
                          <a:spcPct val="115000"/>
                        </a:lnSpc>
                        <a:spcBef>
                          <a:spcPts val="0"/>
                        </a:spcBef>
                        <a:spcAft>
                          <a:spcPts val="0"/>
                        </a:spcAft>
                        <a:buNone/>
                      </a:pPr>
                      <a:r>
                        <a:rPr lang="en-US" sz="1050" b="1">
                          <a:solidFill>
                            <a:schemeClr val="lt1"/>
                          </a:solidFill>
                          <a:latin typeface="Verdana"/>
                          <a:ea typeface="Verdana"/>
                          <a:cs typeface="Verdana"/>
                          <a:sym typeface="Verdana"/>
                        </a:rPr>
                        <a:t>Major Category</a:t>
                      </a:r>
                      <a:endParaRPr sz="1050" b="1">
                        <a:solidFill>
                          <a:schemeClr val="lt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US" sz="1050" b="1">
                          <a:solidFill>
                            <a:schemeClr val="lt1"/>
                          </a:solidFill>
                          <a:latin typeface="Verdana"/>
                          <a:ea typeface="Verdana"/>
                          <a:cs typeface="Verdana"/>
                          <a:sym typeface="Verdana"/>
                        </a:rPr>
                        <a:t>Category</a:t>
                      </a:r>
                      <a:endParaRPr sz="1050" b="1">
                        <a:solidFill>
                          <a:schemeClr val="lt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US" sz="1050" b="1">
                          <a:solidFill>
                            <a:schemeClr val="lt1"/>
                          </a:solidFill>
                          <a:latin typeface="Verdana"/>
                          <a:ea typeface="Verdana"/>
                          <a:cs typeface="Verdana"/>
                          <a:sym typeface="Verdana"/>
                        </a:rPr>
                        <a:t>Defect types (N types)</a:t>
                      </a:r>
                      <a:endParaRPr sz="1050" b="1">
                        <a:solidFill>
                          <a:schemeClr val="lt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US" sz="1050" b="1">
                          <a:solidFill>
                            <a:schemeClr val="lt1"/>
                          </a:solidFill>
                          <a:latin typeface="Verdana"/>
                          <a:ea typeface="Verdana"/>
                          <a:cs typeface="Verdana"/>
                          <a:sym typeface="Verdana"/>
                        </a:rPr>
                        <a:t>Train / val images (defective only)</a:t>
                      </a:r>
                      <a:endParaRPr sz="1050" b="1">
                        <a:solidFill>
                          <a:schemeClr val="lt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US" sz="1050" b="1">
                          <a:solidFill>
                            <a:schemeClr val="lt1"/>
                          </a:solidFill>
                          <a:latin typeface="Verdana"/>
                          <a:ea typeface="Verdana"/>
                          <a:cs typeface="Verdana"/>
                          <a:sym typeface="Verdana"/>
                        </a:rPr>
                        <a:t>Val accuracy</a:t>
                      </a:r>
                      <a:endParaRPr sz="1050" b="1">
                        <a:solidFill>
                          <a:schemeClr val="lt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19325">
                <a:tc>
                  <a:txBody>
                    <a:bodyPr/>
                    <a:lstStyle/>
                    <a:p>
                      <a:pPr marL="0" marR="0" lvl="0" indent="0" algn="ctr" rtl="0">
                        <a:lnSpc>
                          <a:spcPct val="115000"/>
                        </a:lnSpc>
                        <a:spcBef>
                          <a:spcPts val="0"/>
                        </a:spcBef>
                        <a:spcAft>
                          <a:spcPts val="0"/>
                        </a:spcAft>
                        <a:buNone/>
                      </a:pPr>
                      <a:r>
                        <a:rPr lang="en-US" sz="1000">
                          <a:solidFill>
                            <a:srgbClr val="12293A"/>
                          </a:solidFill>
                          <a:latin typeface="Verdana"/>
                          <a:ea typeface="Verdana"/>
                          <a:cs typeface="Verdana"/>
                          <a:sym typeface="Verdana"/>
                        </a:rPr>
                        <a:t>Object</a:t>
                      </a:r>
                      <a:endParaRPr sz="1000">
                        <a:solidFill>
                          <a:srgbClr val="12293A"/>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marR="0" lvl="0" indent="0" algn="ctr" rtl="0">
                        <a:lnSpc>
                          <a:spcPct val="115000"/>
                        </a:lnSpc>
                        <a:spcBef>
                          <a:spcPts val="0"/>
                        </a:spcBef>
                        <a:spcAft>
                          <a:spcPts val="0"/>
                        </a:spcAft>
                        <a:buNone/>
                      </a:pPr>
                      <a:r>
                        <a:rPr lang="en-US" sz="1000">
                          <a:solidFill>
                            <a:srgbClr val="12293A"/>
                          </a:solidFill>
                          <a:latin typeface="Verdana"/>
                          <a:ea typeface="Verdana"/>
                          <a:cs typeface="Verdana"/>
                          <a:sym typeface="Verdana"/>
                        </a:rPr>
                        <a:t>Metal nut</a:t>
                      </a:r>
                      <a:endParaRPr sz="1000">
                        <a:solidFill>
                          <a:srgbClr val="12293A"/>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marR="0" lvl="0" indent="0" algn="ctr" rtl="0">
                        <a:lnSpc>
                          <a:spcPct val="115000"/>
                        </a:lnSpc>
                        <a:spcBef>
                          <a:spcPts val="0"/>
                        </a:spcBef>
                        <a:spcAft>
                          <a:spcPts val="0"/>
                        </a:spcAft>
                        <a:buNone/>
                      </a:pPr>
                      <a:r>
                        <a:rPr lang="en-US" sz="1000">
                          <a:solidFill>
                            <a:srgbClr val="12293A"/>
                          </a:solidFill>
                          <a:latin typeface="Verdana"/>
                          <a:ea typeface="Verdana"/>
                          <a:cs typeface="Verdana"/>
                          <a:sym typeface="Verdana"/>
                        </a:rPr>
                        <a:t>bent, color, flip, scratch (4)</a:t>
                      </a:r>
                      <a:endParaRPr sz="1000">
                        <a:solidFill>
                          <a:srgbClr val="12293A"/>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marR="0" lvl="0" indent="0" algn="ctr" rtl="0">
                        <a:lnSpc>
                          <a:spcPct val="115000"/>
                        </a:lnSpc>
                        <a:spcBef>
                          <a:spcPts val="0"/>
                        </a:spcBef>
                        <a:spcAft>
                          <a:spcPts val="0"/>
                        </a:spcAft>
                        <a:buNone/>
                      </a:pPr>
                      <a:r>
                        <a:rPr lang="en-US" sz="1000">
                          <a:solidFill>
                            <a:srgbClr val="12293A"/>
                          </a:solidFill>
                          <a:latin typeface="Verdana"/>
                          <a:ea typeface="Verdana"/>
                          <a:cs typeface="Verdana"/>
                          <a:sym typeface="Verdana"/>
                        </a:rPr>
                        <a:t>65 / 28</a:t>
                      </a:r>
                      <a:endParaRPr sz="1000">
                        <a:solidFill>
                          <a:srgbClr val="12293A"/>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marR="0" lvl="0" indent="0" algn="ctr" rtl="0">
                        <a:lnSpc>
                          <a:spcPct val="115000"/>
                        </a:lnSpc>
                        <a:spcBef>
                          <a:spcPts val="0"/>
                        </a:spcBef>
                        <a:spcAft>
                          <a:spcPts val="0"/>
                        </a:spcAft>
                        <a:buNone/>
                      </a:pPr>
                      <a:r>
                        <a:rPr lang="en-US" sz="1000">
                          <a:solidFill>
                            <a:srgbClr val="12293A"/>
                          </a:solidFill>
                          <a:latin typeface="Verdana"/>
                          <a:ea typeface="Verdana"/>
                          <a:cs typeface="Verdana"/>
                          <a:sym typeface="Verdana"/>
                        </a:rPr>
                        <a:t>0.964</a:t>
                      </a:r>
                      <a:endParaRPr sz="1000">
                        <a:solidFill>
                          <a:srgbClr val="12293A"/>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extLst>
                  <a:ext uri="{0D108BD9-81ED-4DB2-BD59-A6C34878D82A}">
                    <a16:rowId xmlns:a16="http://schemas.microsoft.com/office/drawing/2014/main" val="10001"/>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Hazelnut</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crack, cut, hole, print (4)</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49 / 21</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0.857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2"/>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Bottle</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broken_large, broken_small, contamination (3)</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44 / 19</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0.789</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3"/>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Transistor</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bent_lead, cut_lead, damaged_case, misplaced (4)</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32 / 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Clr>
                          <a:schemeClr val="dk1"/>
                        </a:buClr>
                        <a:buSzPts val="1100"/>
                        <a:buFont typeface="Arial"/>
                        <a:buNone/>
                      </a:pPr>
                      <a:r>
                        <a:rPr lang="en-US" sz="1000">
                          <a:solidFill>
                            <a:schemeClr val="dk1"/>
                          </a:solidFill>
                          <a:latin typeface="Verdana"/>
                          <a:ea typeface="Verdana"/>
                          <a:cs typeface="Verdana"/>
                          <a:sym typeface="Verdana"/>
                        </a:rPr>
                        <a:t>0.750</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35387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Cable</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bent_wire, cable_swap, combined, cut_inner_insulation, cut_outer_insulation, missing_cable, missing_wire, poke_insulation (8)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64 / 28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0.714</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Capsule</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crack, faulty_imprint, poke, scratch, squeeze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76 / 33</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0.576</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extLst>
                  <a:ext uri="{0D108BD9-81ED-4DB2-BD59-A6C34878D82A}">
                    <a16:rowId xmlns:a16="http://schemas.microsoft.com/office/drawing/2014/main" val="10006"/>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Pill</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color, combined, contamination, crack, faulty_imprint, pill_type, scratch (7)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98 / 43</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0.558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extLst>
                  <a:ext uri="{0D108BD9-81ED-4DB2-BD59-A6C34878D82A}">
                    <a16:rowId xmlns:a16="http://schemas.microsoft.com/office/drawing/2014/main" val="10007"/>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Zipper</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broken_teeth, combined, fabric_border, fabric_interior, rough, split_teeth, squeezed_teeth (7)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83 / 36</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0.472</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extLst>
                  <a:ext uri="{0D108BD9-81ED-4DB2-BD59-A6C34878D82A}">
                    <a16:rowId xmlns:a16="http://schemas.microsoft.com/office/drawing/2014/main" val="10008"/>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Screw</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manipulated_front, scratch_head, scratch_neck, thread_side, thread_top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83 / 36</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0.444</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extLst>
                  <a:ext uri="{0D108BD9-81ED-4DB2-BD59-A6C34878D82A}">
                    <a16:rowId xmlns:a16="http://schemas.microsoft.com/office/drawing/2014/main" val="10009"/>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Object</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8E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Toothbrush</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8E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N/A — only the generic defective label is present; no defect subtypes</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8E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21 / 09</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8E8"/>
                    </a:solidFill>
                  </a:tcPr>
                </a:tc>
                <a:tc>
                  <a:txBody>
                    <a:bodyPr/>
                    <a:lstStyle/>
                    <a:p>
                      <a:pPr marL="0" lvl="0" indent="0" algn="ctr" rtl="0">
                        <a:spcBef>
                          <a:spcPts val="0"/>
                        </a:spcBef>
                        <a:spcAft>
                          <a:spcPts val="0"/>
                        </a:spcAft>
                        <a:buNone/>
                      </a:pPr>
                      <a:r>
                        <a:rPr lang="en-US" sz="1000">
                          <a:solidFill>
                            <a:schemeClr val="dk1"/>
                          </a:solidFill>
                          <a:latin typeface="Verdana"/>
                          <a:ea typeface="Verdana"/>
                          <a:cs typeface="Verdana"/>
                          <a:sym typeface="Verdana"/>
                        </a:rPr>
                        <a:t>N/A</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8E8"/>
                    </a:solidFill>
                  </a:tcPr>
                </a:tc>
                <a:extLst>
                  <a:ext uri="{0D108BD9-81ED-4DB2-BD59-A6C34878D82A}">
                    <a16:rowId xmlns:a16="http://schemas.microsoft.com/office/drawing/2014/main" val="10010"/>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Texture</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Leather</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color, cut, fold, glue, poke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64 / 28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0.964</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extLst>
                  <a:ext uri="{0D108BD9-81ED-4DB2-BD59-A6C34878D82A}">
                    <a16:rowId xmlns:a16="http://schemas.microsoft.com/office/drawing/2014/main" val="10011"/>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Texture</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Tile</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crack, glue_strip, gray_stroke, oil, rough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59 / 25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0.923</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AA84F"/>
                    </a:solidFill>
                  </a:tcPr>
                </a:tc>
                <a:extLst>
                  <a:ext uri="{0D108BD9-81ED-4DB2-BD59-A6C34878D82A}">
                    <a16:rowId xmlns:a16="http://schemas.microsoft.com/office/drawing/2014/main" val="10012"/>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Texture</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Carpet</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color, cut, hole, metal_contamination, thread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62 / 27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0.815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13"/>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Texture</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Wood</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color, combined, hole, liquid, scratch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42 / 18</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0.667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14"/>
                  </a:ext>
                </a:extLst>
              </a:tr>
              <a:tr h="319325">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Texture</a:t>
                      </a:r>
                      <a:endParaRPr sz="1000">
                        <a:solidFill>
                          <a:schemeClr val="dk1"/>
                        </a:solidFill>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Grid</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bent, broken, glue, metal_contamination, thread (5)</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40 / 17</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tc>
                  <a:txBody>
                    <a:bodyPr/>
                    <a:lstStyle/>
                    <a:p>
                      <a:pPr marL="0" lvl="0" indent="0" algn="ctr" rtl="0">
                        <a:lnSpc>
                          <a:spcPct val="100000"/>
                        </a:lnSpc>
                        <a:spcBef>
                          <a:spcPts val="0"/>
                        </a:spcBef>
                        <a:spcAft>
                          <a:spcPts val="0"/>
                        </a:spcAft>
                        <a:buNone/>
                      </a:pPr>
                      <a:r>
                        <a:rPr lang="en-US" sz="1000">
                          <a:latin typeface="Verdana"/>
                          <a:ea typeface="Verdana"/>
                          <a:cs typeface="Verdana"/>
                          <a:sym typeface="Verdana"/>
                        </a:rPr>
                        <a:t>0.222</a:t>
                      </a:r>
                      <a:endParaRPr sz="1000">
                        <a:latin typeface="Verdana"/>
                        <a:ea typeface="Verdana"/>
                        <a:cs typeface="Verdana"/>
                        <a:sym typeface="Verdana"/>
                      </a:endParaRPr>
                    </a:p>
                  </a:txBody>
                  <a:tcPr marL="9125" marR="9125" marT="9125" marB="91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E2"/>
                    </a:solidFill>
                  </a:tcPr>
                </a:tc>
                <a:extLst>
                  <a:ext uri="{0D108BD9-81ED-4DB2-BD59-A6C34878D82A}">
                    <a16:rowId xmlns:a16="http://schemas.microsoft.com/office/drawing/2014/main" val="10015"/>
                  </a:ext>
                </a:extLst>
              </a:tr>
            </a:tbl>
          </a:graphicData>
        </a:graphic>
      </p:graphicFrame>
      <p:grpSp>
        <p:nvGrpSpPr>
          <p:cNvPr id="395" name="Google Shape;395;h71a4adb101b34c3b_0_0"/>
          <p:cNvGrpSpPr/>
          <p:nvPr/>
        </p:nvGrpSpPr>
        <p:grpSpPr>
          <a:xfrm>
            <a:off x="9163612" y="1616809"/>
            <a:ext cx="2687536" cy="1238400"/>
            <a:chOff x="0" y="0"/>
            <a:chExt cx="4000500" cy="1238400"/>
          </a:xfrm>
        </p:grpSpPr>
        <p:sp>
          <p:nvSpPr>
            <p:cNvPr id="396" name="Google Shape;396;h71a4adb101b34c3b_0_0"/>
            <p:cNvSpPr/>
            <p:nvPr/>
          </p:nvSpPr>
          <p:spPr>
            <a:xfrm>
              <a:off x="0" y="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7" name="Google Shape;397;h71a4adb101b34c3b_0_0"/>
            <p:cNvSpPr txBox="1"/>
            <p:nvPr/>
          </p:nvSpPr>
          <p:spPr>
            <a:xfrm>
              <a:off x="228600" y="190500"/>
              <a:ext cx="35433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E0F2F1"/>
                  </a:solidFill>
                  <a:latin typeface="Verdana"/>
                  <a:ea typeface="Verdana"/>
                  <a:cs typeface="Verdana"/>
                  <a:sym typeface="Verdana"/>
                </a:rPr>
                <a:t>MEAN VALIDATION ACCURACY</a:t>
              </a:r>
              <a:endParaRPr sz="1000" b="1">
                <a:solidFill>
                  <a:srgbClr val="E0F2F1"/>
                </a:solidFill>
                <a:latin typeface="Verdana"/>
                <a:ea typeface="Verdana"/>
                <a:cs typeface="Verdana"/>
                <a:sym typeface="Verdana"/>
              </a:endParaRPr>
            </a:p>
            <a:p>
              <a:pPr marL="0" lvl="0" indent="0" algn="l" rtl="0">
                <a:spcBef>
                  <a:spcPts val="0"/>
                </a:spcBef>
                <a:spcAft>
                  <a:spcPts val="0"/>
                </a:spcAft>
                <a:buNone/>
              </a:pPr>
              <a:r>
                <a:rPr lang="en-US" sz="3600" b="1">
                  <a:solidFill>
                    <a:srgbClr val="FFFFFF"/>
                  </a:solidFill>
                  <a:latin typeface="Verdana"/>
                  <a:ea typeface="Verdana"/>
                  <a:cs typeface="Verdana"/>
                  <a:sym typeface="Verdana"/>
                </a:rPr>
                <a:t>65.9%</a:t>
              </a:r>
              <a:endParaRPr sz="3600" b="1">
                <a:solidFill>
                  <a:srgbClr val="FFFFFF"/>
                </a:solidFill>
                <a:latin typeface="Verdana"/>
                <a:ea typeface="Verdana"/>
                <a:cs typeface="Verdana"/>
                <a:sym typeface="Verdana"/>
              </a:endParaRPr>
            </a:p>
            <a:p>
              <a:pPr marL="0" lvl="0" indent="0" algn="l" rtl="0">
                <a:spcBef>
                  <a:spcPts val="0"/>
                </a:spcBef>
                <a:spcAft>
                  <a:spcPts val="0"/>
                </a:spcAft>
                <a:buNone/>
              </a:pPr>
              <a:r>
                <a:rPr lang="en-US" sz="1000" b="0">
                  <a:solidFill>
                    <a:srgbClr val="E0F2F1"/>
                  </a:solidFill>
                  <a:latin typeface="Verdana"/>
                  <a:ea typeface="Verdana"/>
                  <a:cs typeface="Verdana"/>
                  <a:sym typeface="Verdana"/>
                </a:rPr>
                <a:t>Across 1</a:t>
              </a:r>
              <a:r>
                <a:rPr lang="en-US" sz="1000">
                  <a:solidFill>
                    <a:srgbClr val="E0F2F1"/>
                  </a:solidFill>
                  <a:latin typeface="Verdana"/>
                  <a:ea typeface="Verdana"/>
                  <a:cs typeface="Verdana"/>
                  <a:sym typeface="Verdana"/>
                </a:rPr>
                <a:t>4</a:t>
              </a:r>
              <a:r>
                <a:rPr lang="en-US" sz="1000" b="0">
                  <a:solidFill>
                    <a:srgbClr val="E0F2F1"/>
                  </a:solidFill>
                  <a:latin typeface="Verdana"/>
                  <a:ea typeface="Verdana"/>
                  <a:cs typeface="Verdana"/>
                  <a:sym typeface="Verdana"/>
                </a:rPr>
                <a:t> distinct categories</a:t>
              </a:r>
              <a:endParaRPr sz="1000" b="0">
                <a:solidFill>
                  <a:srgbClr val="E0F2F1"/>
                </a:solidFill>
                <a:latin typeface="Verdana"/>
                <a:ea typeface="Verdana"/>
                <a:cs typeface="Verdana"/>
                <a:sym typeface="Verdana"/>
              </a:endParaRPr>
            </a:p>
          </p:txBody>
        </p:sp>
      </p:grpSp>
      <p:sp>
        <p:nvSpPr>
          <p:cNvPr id="398" name="Google Shape;398;h71a4adb101b34c3b_0_0"/>
          <p:cNvSpPr/>
          <p:nvPr/>
        </p:nvSpPr>
        <p:spPr>
          <a:xfrm>
            <a:off x="9163675" y="3064534"/>
            <a:ext cx="2687400" cy="1238400"/>
          </a:xfrm>
          <a:prstGeom prst="roundRect">
            <a:avLst>
              <a:gd name="adj" fmla="val 6153"/>
            </a:avLst>
          </a:prstGeom>
          <a:solidFill>
            <a:schemeClr val="lt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9" name="Google Shape;399;h71a4adb101b34c3b_0_0"/>
          <p:cNvSpPr txBox="1"/>
          <p:nvPr/>
        </p:nvSpPr>
        <p:spPr>
          <a:xfrm>
            <a:off x="9317123" y="3255034"/>
            <a:ext cx="23805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536674"/>
                </a:solidFill>
                <a:latin typeface="Verdana"/>
                <a:ea typeface="Verdana"/>
                <a:cs typeface="Verdana"/>
                <a:sym typeface="Verdana"/>
              </a:rPr>
              <a:t>MEAN TRAIN IMAGES</a:t>
            </a:r>
            <a:endParaRPr sz="1000" b="1">
              <a:solidFill>
                <a:srgbClr val="536674"/>
              </a:solidFill>
              <a:latin typeface="Verdana"/>
              <a:ea typeface="Verdana"/>
              <a:cs typeface="Verdana"/>
              <a:sym typeface="Verdana"/>
            </a:endParaRPr>
          </a:p>
          <a:p>
            <a:pPr marL="0" lvl="0" indent="0" algn="l" rtl="0">
              <a:spcBef>
                <a:spcPts val="0"/>
              </a:spcBef>
              <a:spcAft>
                <a:spcPts val="0"/>
              </a:spcAft>
              <a:buNone/>
            </a:pPr>
            <a:r>
              <a:rPr lang="en-US" sz="3600" b="1">
                <a:solidFill>
                  <a:schemeClr val="dk2"/>
                </a:solidFill>
                <a:latin typeface="Verdana"/>
                <a:ea typeface="Verdana"/>
                <a:cs typeface="Verdana"/>
                <a:sym typeface="Verdana"/>
              </a:rPr>
              <a:t>59</a:t>
            </a:r>
            <a:endParaRPr sz="3600" b="1">
              <a:solidFill>
                <a:schemeClr val="dk2"/>
              </a:solidFill>
              <a:latin typeface="Verdana"/>
              <a:ea typeface="Verdana"/>
              <a:cs typeface="Verdana"/>
              <a:sym typeface="Verdana"/>
            </a:endParaRPr>
          </a:p>
          <a:p>
            <a:pPr marL="0" lvl="0" indent="0" algn="l" rtl="0">
              <a:spcBef>
                <a:spcPts val="0"/>
              </a:spcBef>
              <a:spcAft>
                <a:spcPts val="0"/>
              </a:spcAft>
              <a:buNone/>
            </a:pPr>
            <a:r>
              <a:rPr lang="en-US" sz="1000" b="0">
                <a:solidFill>
                  <a:srgbClr val="536674"/>
                </a:solidFill>
                <a:latin typeface="Verdana"/>
                <a:ea typeface="Verdana"/>
                <a:cs typeface="Verdana"/>
                <a:sym typeface="Verdana"/>
              </a:rPr>
              <a:t>Across 1</a:t>
            </a:r>
            <a:r>
              <a:rPr lang="en-US" sz="1000">
                <a:solidFill>
                  <a:srgbClr val="536674"/>
                </a:solidFill>
                <a:latin typeface="Verdana"/>
                <a:ea typeface="Verdana"/>
                <a:cs typeface="Verdana"/>
                <a:sym typeface="Verdana"/>
              </a:rPr>
              <a:t>4</a:t>
            </a:r>
            <a:r>
              <a:rPr lang="en-US" sz="1000" b="0">
                <a:solidFill>
                  <a:srgbClr val="536674"/>
                </a:solidFill>
                <a:latin typeface="Verdana"/>
                <a:ea typeface="Verdana"/>
                <a:cs typeface="Verdana"/>
                <a:sym typeface="Verdana"/>
              </a:rPr>
              <a:t> distinct categories</a:t>
            </a:r>
            <a:endParaRPr sz="1000" b="0">
              <a:solidFill>
                <a:srgbClr val="536674"/>
              </a:solidFill>
              <a:latin typeface="Verdana"/>
              <a:ea typeface="Verdana"/>
              <a:cs typeface="Verdana"/>
              <a:sym typeface="Verdana"/>
            </a:endParaRPr>
          </a:p>
        </p:txBody>
      </p:sp>
      <p:sp>
        <p:nvSpPr>
          <p:cNvPr id="400" name="Google Shape;400;h71a4adb101b34c3b_0_0"/>
          <p:cNvSpPr/>
          <p:nvPr/>
        </p:nvSpPr>
        <p:spPr>
          <a:xfrm>
            <a:off x="9163687" y="4557675"/>
            <a:ext cx="2687400" cy="1238400"/>
          </a:xfrm>
          <a:prstGeom prst="roundRect">
            <a:avLst>
              <a:gd name="adj" fmla="val 6153"/>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1" name="Google Shape;401;h71a4adb101b34c3b_0_0"/>
          <p:cNvSpPr txBox="1"/>
          <p:nvPr/>
        </p:nvSpPr>
        <p:spPr>
          <a:xfrm>
            <a:off x="9317136" y="4748175"/>
            <a:ext cx="23805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chemeClr val="lt1"/>
                </a:solidFill>
                <a:latin typeface="Verdana"/>
                <a:ea typeface="Verdana"/>
                <a:cs typeface="Verdana"/>
                <a:sym typeface="Verdana"/>
              </a:rPr>
              <a:t>Further refinements are necessary to improve model performance. </a:t>
            </a:r>
            <a:endParaRPr b="0">
              <a:solidFill>
                <a:schemeClr val="lt1"/>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6"/>
        <p:cNvGrpSpPr/>
        <p:nvPr/>
      </p:nvGrpSpPr>
      <p:grpSpPr>
        <a:xfrm>
          <a:off x="0" y="0"/>
          <a:ext cx="0" cy="0"/>
          <a:chOff x="0" y="0"/>
          <a:chExt cx="0" cy="0"/>
        </a:xfrm>
      </p:grpSpPr>
      <p:sp>
        <p:nvSpPr>
          <p:cNvPr id="407" name="Google Shape;407;h3d51a6db47a0baff_0_43"/>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11</a:t>
            </a:r>
            <a:endParaRPr/>
          </a:p>
        </p:txBody>
      </p:sp>
      <p:graphicFrame>
        <p:nvGraphicFramePr>
          <p:cNvPr id="408" name="Google Shape;408;h3d51a6db47a0baff_0_43"/>
          <p:cNvGraphicFramePr/>
          <p:nvPr/>
        </p:nvGraphicFramePr>
        <p:xfrm>
          <a:off x="609588" y="1362088"/>
          <a:ext cx="3000000" cy="3000000"/>
        </p:xfrm>
        <a:graphic>
          <a:graphicData uri="http://schemas.openxmlformats.org/drawingml/2006/table">
            <a:tbl>
              <a:tblPr>
                <a:noFill/>
                <a:tableStyleId>{89359D83-5457-4402-8951-C3CEC1CC7011}</a:tableStyleId>
              </a:tblPr>
              <a:tblGrid>
                <a:gridCol w="1813300">
                  <a:extLst>
                    <a:ext uri="{9D8B030D-6E8A-4147-A177-3AD203B41FA5}">
                      <a16:colId xmlns:a16="http://schemas.microsoft.com/office/drawing/2014/main" val="20000"/>
                    </a:ext>
                  </a:extLst>
                </a:gridCol>
                <a:gridCol w="2289875">
                  <a:extLst>
                    <a:ext uri="{9D8B030D-6E8A-4147-A177-3AD203B41FA5}">
                      <a16:colId xmlns:a16="http://schemas.microsoft.com/office/drawing/2014/main" val="20001"/>
                    </a:ext>
                  </a:extLst>
                </a:gridCol>
                <a:gridCol w="2289875">
                  <a:extLst>
                    <a:ext uri="{9D8B030D-6E8A-4147-A177-3AD203B41FA5}">
                      <a16:colId xmlns:a16="http://schemas.microsoft.com/office/drawing/2014/main" val="20002"/>
                    </a:ext>
                  </a:extLst>
                </a:gridCol>
                <a:gridCol w="2289875">
                  <a:extLst>
                    <a:ext uri="{9D8B030D-6E8A-4147-A177-3AD203B41FA5}">
                      <a16:colId xmlns:a16="http://schemas.microsoft.com/office/drawing/2014/main" val="20003"/>
                    </a:ext>
                  </a:extLst>
                </a:gridCol>
                <a:gridCol w="2289875">
                  <a:extLst>
                    <a:ext uri="{9D8B030D-6E8A-4147-A177-3AD203B41FA5}">
                      <a16:colId xmlns:a16="http://schemas.microsoft.com/office/drawing/2014/main" val="20004"/>
                    </a:ext>
                  </a:extLst>
                </a:gridCol>
              </a:tblGrid>
              <a:tr h="589425">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Architecture / training</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val. accuracy ± SD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macro-F1 ± SD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final train loss</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Parameters (ImageNet head)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extLst>
                  <a:ext uri="{0D108BD9-81ED-4DB2-BD59-A6C34878D82A}">
                    <a16:rowId xmlns:a16="http://schemas.microsoft.com/office/drawing/2014/main" val="10000"/>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ResNet18, no augmentation</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0.659 ± 0.245</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0.651 ± 0.250</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0.0621</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11.7M</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ResNet18, augmented</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800"/>
                        </a:spcAft>
                        <a:buNone/>
                      </a:pPr>
                      <a:r>
                        <a:rPr lang="en-US" b="1">
                          <a:solidFill>
                            <a:schemeClr val="dk2"/>
                          </a:solidFill>
                          <a:latin typeface="Verdana"/>
                          <a:ea typeface="Verdana"/>
                          <a:cs typeface="Verdana"/>
                          <a:sym typeface="Verdana"/>
                        </a:rPr>
                        <a:t>0.765 ± 0.193</a:t>
                      </a:r>
                      <a:endParaRPr b="1">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0.746 ± 0.204</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0.0384</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11.7M</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bl>
          </a:graphicData>
        </a:graphic>
      </p:graphicFrame>
      <p:sp>
        <p:nvSpPr>
          <p:cNvPr id="409" name="Google Shape;409;h3d51a6db47a0baff_0_43"/>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Data Augmentation &amp; Model Comparisons</a:t>
            </a:r>
            <a:endParaRPr sz="3150" b="1">
              <a:solidFill>
                <a:srgbClr val="12293A"/>
              </a:solidFill>
              <a:latin typeface="Verdana"/>
              <a:ea typeface="Verdana"/>
              <a:cs typeface="Verdana"/>
              <a:sym typeface="Verdana"/>
            </a:endParaRPr>
          </a:p>
          <a:p>
            <a:pPr marL="0" lvl="0" indent="0" algn="l" rtl="0">
              <a:spcBef>
                <a:spcPts val="0"/>
              </a:spcBef>
              <a:spcAft>
                <a:spcPts val="0"/>
              </a:spcAft>
              <a:buNone/>
            </a:pPr>
            <a:r>
              <a:rPr lang="en-US" sz="2000">
                <a:solidFill>
                  <a:srgbClr val="12293A"/>
                </a:solidFill>
                <a:latin typeface="Verdana"/>
                <a:ea typeface="Verdana"/>
                <a:cs typeface="Verdana"/>
                <a:sym typeface="Verdana"/>
              </a:rPr>
              <a:t>Defect Type Classifier: across 14 categories, 70/30 split on test data</a:t>
            </a:r>
            <a:endParaRPr sz="3150" b="1">
              <a:solidFill>
                <a:srgbClr val="12293A"/>
              </a:solidFill>
              <a:latin typeface="Verdana"/>
              <a:ea typeface="Verdana"/>
              <a:cs typeface="Verdana"/>
              <a:sym typeface="Verdana"/>
            </a:endParaRPr>
          </a:p>
        </p:txBody>
      </p:sp>
      <p:grpSp>
        <p:nvGrpSpPr>
          <p:cNvPr id="410" name="Google Shape;410;h3d51a6db47a0baff_0_43"/>
          <p:cNvGrpSpPr/>
          <p:nvPr/>
        </p:nvGrpSpPr>
        <p:grpSpPr>
          <a:xfrm>
            <a:off x="609600" y="4989025"/>
            <a:ext cx="3535242" cy="1238400"/>
            <a:chOff x="-4208187" y="0"/>
            <a:chExt cx="4000500" cy="1238400"/>
          </a:xfrm>
        </p:grpSpPr>
        <p:sp>
          <p:nvSpPr>
            <p:cNvPr id="411" name="Google Shape;411;h3d51a6db47a0baff_0_43"/>
            <p:cNvSpPr/>
            <p:nvPr/>
          </p:nvSpPr>
          <p:spPr>
            <a:xfrm>
              <a:off x="-4208187" y="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2" name="Google Shape;412;h3d51a6db47a0baff_0_43"/>
            <p:cNvSpPr txBox="1"/>
            <p:nvPr/>
          </p:nvSpPr>
          <p:spPr>
            <a:xfrm>
              <a:off x="-3979587" y="190500"/>
              <a:ext cx="35433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rgbClr val="E0F2F1"/>
                  </a:solidFill>
                  <a:latin typeface="Verdana"/>
                  <a:ea typeface="Verdana"/>
                  <a:cs typeface="Verdana"/>
                  <a:sym typeface="Verdana"/>
                </a:rPr>
                <a:t>DATA AUGMENTATION EFFECT</a:t>
              </a:r>
              <a:endParaRPr sz="1000" b="1">
                <a:solidFill>
                  <a:srgbClr val="E0F2F1"/>
                </a:solidFill>
                <a:latin typeface="Verdana"/>
                <a:ea typeface="Verdana"/>
                <a:cs typeface="Verdana"/>
                <a:sym typeface="Verdana"/>
              </a:endParaRPr>
            </a:p>
            <a:p>
              <a:pPr marL="0" lvl="0" indent="0" algn="l" rtl="0">
                <a:spcBef>
                  <a:spcPts val="0"/>
                </a:spcBef>
                <a:spcAft>
                  <a:spcPts val="0"/>
                </a:spcAft>
                <a:buNone/>
              </a:pPr>
              <a:r>
                <a:rPr lang="en-US" sz="3600" b="1">
                  <a:solidFill>
                    <a:srgbClr val="FFFFFF"/>
                  </a:solidFill>
                  <a:latin typeface="Verdana"/>
                  <a:ea typeface="Verdana"/>
                  <a:cs typeface="Verdana"/>
                  <a:sym typeface="Verdana"/>
                </a:rPr>
                <a:t>+10.7 pts</a:t>
              </a:r>
              <a:endParaRPr sz="3600" b="1">
                <a:solidFill>
                  <a:srgbClr val="FFFFFF"/>
                </a:solidFill>
                <a:latin typeface="Verdana"/>
                <a:ea typeface="Verdana"/>
                <a:cs typeface="Verdana"/>
                <a:sym typeface="Verdana"/>
              </a:endParaRPr>
            </a:p>
            <a:p>
              <a:pPr marL="0" lvl="0" indent="0" algn="l" rtl="0">
                <a:spcBef>
                  <a:spcPts val="0"/>
                </a:spcBef>
                <a:spcAft>
                  <a:spcPts val="0"/>
                </a:spcAft>
                <a:buNone/>
              </a:pPr>
              <a:r>
                <a:rPr lang="en-US" sz="1000">
                  <a:solidFill>
                    <a:srgbClr val="E0F2F1"/>
                  </a:solidFill>
                  <a:latin typeface="Verdana"/>
                  <a:ea typeface="Verdana"/>
                  <a:cs typeface="Verdana"/>
                  <a:sym typeface="Verdana"/>
                </a:rPr>
                <a:t>On mean validation accuracy on ResNet18, post-augmentation</a:t>
              </a:r>
              <a:endParaRPr sz="1000" b="0">
                <a:solidFill>
                  <a:srgbClr val="E0F2F1"/>
                </a:solidFill>
                <a:latin typeface="Verdana"/>
                <a:ea typeface="Verdana"/>
                <a:cs typeface="Verdana"/>
                <a:sym typeface="Verdan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h75cabafce84fd247_0_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11</a:t>
            </a:r>
            <a:endParaRPr/>
          </a:p>
        </p:txBody>
      </p:sp>
      <p:graphicFrame>
        <p:nvGraphicFramePr>
          <p:cNvPr id="419" name="Google Shape;419;h75cabafce84fd247_0_0"/>
          <p:cNvGraphicFramePr/>
          <p:nvPr/>
        </p:nvGraphicFramePr>
        <p:xfrm>
          <a:off x="609588" y="1362088"/>
          <a:ext cx="3000000" cy="3000000"/>
        </p:xfrm>
        <a:graphic>
          <a:graphicData uri="http://schemas.openxmlformats.org/drawingml/2006/table">
            <a:tbl>
              <a:tblPr>
                <a:noFill/>
                <a:tableStyleId>{89359D83-5457-4402-8951-C3CEC1CC7011}</a:tableStyleId>
              </a:tblPr>
              <a:tblGrid>
                <a:gridCol w="1813300">
                  <a:extLst>
                    <a:ext uri="{9D8B030D-6E8A-4147-A177-3AD203B41FA5}">
                      <a16:colId xmlns:a16="http://schemas.microsoft.com/office/drawing/2014/main" val="20000"/>
                    </a:ext>
                  </a:extLst>
                </a:gridCol>
                <a:gridCol w="2289875">
                  <a:extLst>
                    <a:ext uri="{9D8B030D-6E8A-4147-A177-3AD203B41FA5}">
                      <a16:colId xmlns:a16="http://schemas.microsoft.com/office/drawing/2014/main" val="20001"/>
                    </a:ext>
                  </a:extLst>
                </a:gridCol>
                <a:gridCol w="2289875">
                  <a:extLst>
                    <a:ext uri="{9D8B030D-6E8A-4147-A177-3AD203B41FA5}">
                      <a16:colId xmlns:a16="http://schemas.microsoft.com/office/drawing/2014/main" val="20002"/>
                    </a:ext>
                  </a:extLst>
                </a:gridCol>
                <a:gridCol w="2289875">
                  <a:extLst>
                    <a:ext uri="{9D8B030D-6E8A-4147-A177-3AD203B41FA5}">
                      <a16:colId xmlns:a16="http://schemas.microsoft.com/office/drawing/2014/main" val="20003"/>
                    </a:ext>
                  </a:extLst>
                </a:gridCol>
                <a:gridCol w="2289875">
                  <a:extLst>
                    <a:ext uri="{9D8B030D-6E8A-4147-A177-3AD203B41FA5}">
                      <a16:colId xmlns:a16="http://schemas.microsoft.com/office/drawing/2014/main" val="20004"/>
                    </a:ext>
                  </a:extLst>
                </a:gridCol>
              </a:tblGrid>
              <a:tr h="589425">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Architecture / training</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val. accuracy ± SD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macro-F1 ± SD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Mean final train loss</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tc>
                  <a:txBody>
                    <a:bodyPr/>
                    <a:lstStyle/>
                    <a:p>
                      <a:pPr marL="0" lvl="0" indent="0" algn="ctr" rtl="0">
                        <a:spcBef>
                          <a:spcPts val="0"/>
                        </a:spcBef>
                        <a:spcAft>
                          <a:spcPts val="0"/>
                        </a:spcAft>
                        <a:buNone/>
                      </a:pPr>
                      <a:r>
                        <a:rPr lang="en-US" sz="1600" b="1">
                          <a:solidFill>
                            <a:schemeClr val="lt1"/>
                          </a:solidFill>
                          <a:latin typeface="Verdana"/>
                          <a:ea typeface="Verdana"/>
                          <a:cs typeface="Verdana"/>
                          <a:sym typeface="Verdana"/>
                        </a:rPr>
                        <a:t>Parameters (ImageNet head)</a:t>
                      </a:r>
                      <a:endParaRPr sz="16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solidFill>
                      <a:srgbClr val="12293A"/>
                    </a:solidFill>
                  </a:tcPr>
                </a:tc>
                <a:extLst>
                  <a:ext uri="{0D108BD9-81ED-4DB2-BD59-A6C34878D82A}">
                    <a16:rowId xmlns:a16="http://schemas.microsoft.com/office/drawing/2014/main" val="10000"/>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ResNet18, no augmentation</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0.659 ± 0.245</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0.651 ± 0.250</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0.0621</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11.7M</a:t>
                      </a:r>
                      <a:endParaRPr>
                        <a:solidFill>
                          <a:schemeClr val="dk2"/>
                        </a:solidFill>
                        <a:latin typeface="Verdana"/>
                        <a:ea typeface="Verdana"/>
                        <a:cs typeface="Verdana"/>
                        <a:sym typeface="Verdana"/>
                      </a:endParaRPr>
                    </a:p>
                  </a:txBody>
                  <a:tcPr marL="95250" marR="95250" marT="47625" marB="47625" anchor="ctr">
                    <a:lnB w="6350"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ResNet18, augmented</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0.765 ± 0.193</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0.746 ± 0.204</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0.0384</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11.7M</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5875">
                <a:tc>
                  <a:txBody>
                    <a:bodyPr/>
                    <a:lstStyle/>
                    <a:p>
                      <a:pPr marL="0" lvl="0" indent="0" algn="ctr" rtl="0">
                        <a:lnSpc>
                          <a:spcPct val="115000"/>
                        </a:lnSpc>
                        <a:spcBef>
                          <a:spcPts val="0"/>
                        </a:spcBef>
                        <a:spcAft>
                          <a:spcPts val="800"/>
                        </a:spcAft>
                        <a:buNone/>
                      </a:pPr>
                      <a:r>
                        <a:rPr lang="en-US" b="1">
                          <a:solidFill>
                            <a:schemeClr val="dk2"/>
                          </a:solidFill>
                          <a:latin typeface="Verdana"/>
                          <a:ea typeface="Verdana"/>
                          <a:cs typeface="Verdana"/>
                          <a:sym typeface="Verdana"/>
                        </a:rPr>
                        <a:t>ConvNeXt-Tiny, augmented</a:t>
                      </a:r>
                      <a:endParaRPr b="1">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800"/>
                        </a:spcAft>
                        <a:buNone/>
                      </a:pPr>
                      <a:r>
                        <a:rPr lang="en-US" b="1">
                          <a:solidFill>
                            <a:schemeClr val="dk2"/>
                          </a:solidFill>
                          <a:latin typeface="Verdana"/>
                          <a:ea typeface="Verdana"/>
                          <a:cs typeface="Verdana"/>
                          <a:sym typeface="Verdana"/>
                        </a:rPr>
                        <a:t>0.897 ± 0.094</a:t>
                      </a:r>
                      <a:endParaRPr b="1">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800"/>
                        </a:spcAft>
                        <a:buNone/>
                      </a:pPr>
                      <a:r>
                        <a:rPr lang="en-US" b="1">
                          <a:solidFill>
                            <a:schemeClr val="dk2"/>
                          </a:solidFill>
                          <a:latin typeface="Verdana"/>
                          <a:ea typeface="Verdana"/>
                          <a:cs typeface="Verdana"/>
                          <a:sym typeface="Verdana"/>
                        </a:rPr>
                        <a:t>0.893 ± 0.094</a:t>
                      </a:r>
                      <a:endParaRPr b="1">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15000"/>
                        </a:lnSpc>
                        <a:spcBef>
                          <a:spcPts val="0"/>
                        </a:spcBef>
                        <a:spcAft>
                          <a:spcPts val="800"/>
                        </a:spcAft>
                        <a:buNone/>
                      </a:pPr>
                      <a:r>
                        <a:rPr lang="en-US" b="1">
                          <a:solidFill>
                            <a:schemeClr val="dk2"/>
                          </a:solidFill>
                          <a:latin typeface="Verdana"/>
                          <a:ea typeface="Verdana"/>
                          <a:cs typeface="Verdana"/>
                          <a:sym typeface="Verdana"/>
                        </a:rPr>
                        <a:t>0.0136</a:t>
                      </a:r>
                      <a:endParaRPr b="1">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28.6M</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EfficientNet-B0, augmented</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0.815 ± 0.162</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0.811 ± 0.164</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0.1086</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5.3M</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25875">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DenseNet121, augmented</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0.855 ± 0.106</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0.847 ± 0.110</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0.0290</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tcPr>
                </a:tc>
                <a:tc>
                  <a:txBody>
                    <a:bodyPr/>
                    <a:lstStyle/>
                    <a:p>
                      <a:pPr marL="0" marR="0" lvl="0" indent="0" algn="ctr" rtl="0">
                        <a:lnSpc>
                          <a:spcPct val="115000"/>
                        </a:lnSpc>
                        <a:spcBef>
                          <a:spcPts val="0"/>
                        </a:spcBef>
                        <a:spcAft>
                          <a:spcPts val="800"/>
                        </a:spcAft>
                        <a:buNone/>
                      </a:pPr>
                      <a:r>
                        <a:rPr lang="en-US">
                          <a:solidFill>
                            <a:schemeClr val="dk2"/>
                          </a:solidFill>
                          <a:latin typeface="Verdana"/>
                          <a:ea typeface="Verdana"/>
                          <a:cs typeface="Verdana"/>
                          <a:sym typeface="Verdana"/>
                        </a:rPr>
                        <a:t>8.0M</a:t>
                      </a:r>
                      <a:endParaRPr>
                        <a:solidFill>
                          <a:schemeClr val="dk2"/>
                        </a:solidFill>
                        <a:latin typeface="Verdana"/>
                        <a:ea typeface="Verdana"/>
                        <a:cs typeface="Verdana"/>
                        <a:sym typeface="Verdana"/>
                      </a:endParaRPr>
                    </a:p>
                  </a:txBody>
                  <a:tcPr marL="95250" marR="95250" marT="47625" marB="47625" anchor="ctr">
                    <a:lnT w="6350" cap="flat" cmpd="sng">
                      <a:solidFill>
                        <a:srgbClr val="000000"/>
                      </a:solidFill>
                      <a:prstDash val="solid"/>
                      <a:round/>
                      <a:headEnd type="none" w="sm" len="sm"/>
                      <a:tailEnd type="none" w="sm" len="sm"/>
                    </a:lnT>
                  </a:tcPr>
                </a:tc>
                <a:extLst>
                  <a:ext uri="{0D108BD9-81ED-4DB2-BD59-A6C34878D82A}">
                    <a16:rowId xmlns:a16="http://schemas.microsoft.com/office/drawing/2014/main" val="10005"/>
                  </a:ext>
                </a:extLst>
              </a:tr>
            </a:tbl>
          </a:graphicData>
        </a:graphic>
      </p:graphicFrame>
      <p:sp>
        <p:nvSpPr>
          <p:cNvPr id="420" name="Google Shape;420;h75cabafce84fd247_0_0"/>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Data Augmentation &amp; Model Comparisons</a:t>
            </a:r>
            <a:endParaRPr sz="3150" b="1">
              <a:solidFill>
                <a:srgbClr val="12293A"/>
              </a:solidFill>
              <a:latin typeface="Verdana"/>
              <a:ea typeface="Verdana"/>
              <a:cs typeface="Verdana"/>
              <a:sym typeface="Verdana"/>
            </a:endParaRPr>
          </a:p>
          <a:p>
            <a:pPr marL="0" lvl="0" indent="0" algn="l" rtl="0">
              <a:spcBef>
                <a:spcPts val="0"/>
              </a:spcBef>
              <a:spcAft>
                <a:spcPts val="0"/>
              </a:spcAft>
              <a:buNone/>
            </a:pPr>
            <a:r>
              <a:rPr lang="en-US" sz="2000">
                <a:solidFill>
                  <a:srgbClr val="12293A"/>
                </a:solidFill>
                <a:latin typeface="Verdana"/>
                <a:ea typeface="Verdana"/>
                <a:cs typeface="Verdana"/>
                <a:sym typeface="Verdana"/>
              </a:rPr>
              <a:t>Defect Type Classifier: across 14 categories, 70/30 split on test data</a:t>
            </a:r>
            <a:endParaRPr sz="3150" b="1">
              <a:solidFill>
                <a:srgbClr val="12293A"/>
              </a:solidFill>
              <a:latin typeface="Verdana"/>
              <a:ea typeface="Verdana"/>
              <a:cs typeface="Verdana"/>
              <a:sym typeface="Verdana"/>
            </a:endParaRPr>
          </a:p>
        </p:txBody>
      </p:sp>
      <p:pic>
        <p:nvPicPr>
          <p:cNvPr id="421" name="Google Shape;421;h75cabafce84fd247_0_0"/>
          <p:cNvPicPr preferRelativeResize="0"/>
          <p:nvPr/>
        </p:nvPicPr>
        <p:blipFill>
          <a:blip r:embed="rId3">
            <a:alphaModFix/>
          </a:blip>
          <a:stretch>
            <a:fillRect/>
          </a:stretch>
        </p:blipFill>
        <p:spPr>
          <a:xfrm>
            <a:off x="12548700" y="174837"/>
            <a:ext cx="8519403" cy="6283750"/>
          </a:xfrm>
          <a:prstGeom prst="rect">
            <a:avLst/>
          </a:prstGeom>
          <a:noFill/>
          <a:ln>
            <a:noFill/>
          </a:ln>
        </p:spPr>
      </p:pic>
      <p:grpSp>
        <p:nvGrpSpPr>
          <p:cNvPr id="422" name="Google Shape;422;h75cabafce84fd247_0_0"/>
          <p:cNvGrpSpPr/>
          <p:nvPr/>
        </p:nvGrpSpPr>
        <p:grpSpPr>
          <a:xfrm>
            <a:off x="8047149" y="4989025"/>
            <a:ext cx="3535242" cy="1238400"/>
            <a:chOff x="0" y="0"/>
            <a:chExt cx="4000500" cy="1238400"/>
          </a:xfrm>
        </p:grpSpPr>
        <p:sp>
          <p:nvSpPr>
            <p:cNvPr id="423" name="Google Shape;423;h75cabafce84fd247_0_0"/>
            <p:cNvSpPr/>
            <p:nvPr/>
          </p:nvSpPr>
          <p:spPr>
            <a:xfrm>
              <a:off x="0" y="0"/>
              <a:ext cx="4000500" cy="1238400"/>
            </a:xfrm>
            <a:prstGeom prst="roundRect">
              <a:avLst>
                <a:gd name="adj" fmla="val 6153"/>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h75cabafce84fd247_0_0"/>
            <p:cNvSpPr txBox="1"/>
            <p:nvPr/>
          </p:nvSpPr>
          <p:spPr>
            <a:xfrm>
              <a:off x="228600" y="190500"/>
              <a:ext cx="35433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lt1"/>
                  </a:solidFill>
                  <a:latin typeface="Verdana"/>
                  <a:ea typeface="Verdana"/>
                  <a:cs typeface="Verdana"/>
                  <a:sym typeface="Verdana"/>
                </a:rPr>
                <a:t>REVIEW NEED FOR</a:t>
              </a:r>
              <a:endParaRPr sz="1000" b="1">
                <a:solidFill>
                  <a:schemeClr val="lt1"/>
                </a:solidFill>
                <a:latin typeface="Verdana"/>
                <a:ea typeface="Verdana"/>
                <a:cs typeface="Verdana"/>
                <a:sym typeface="Verdana"/>
              </a:endParaRPr>
            </a:p>
            <a:p>
              <a:pPr marL="0" lvl="0" indent="0" algn="l" rtl="0">
                <a:spcBef>
                  <a:spcPts val="0"/>
                </a:spcBef>
                <a:spcAft>
                  <a:spcPts val="0"/>
                </a:spcAft>
                <a:buNone/>
              </a:pPr>
              <a:r>
                <a:rPr lang="en-US" sz="2900" b="1">
                  <a:solidFill>
                    <a:schemeClr val="lt1"/>
                  </a:solidFill>
                  <a:latin typeface="Verdana"/>
                  <a:ea typeface="Verdana"/>
                  <a:cs typeface="Verdana"/>
                  <a:sym typeface="Verdana"/>
                </a:rPr>
                <a:t>Ensemble</a:t>
              </a:r>
              <a:endParaRPr sz="2900" b="1">
                <a:solidFill>
                  <a:schemeClr val="lt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US" sz="1000">
                  <a:solidFill>
                    <a:schemeClr val="lt1"/>
                  </a:solidFill>
                  <a:latin typeface="Verdana"/>
                  <a:ea typeface="Verdana"/>
                  <a:cs typeface="Verdana"/>
                  <a:sym typeface="Verdana"/>
                </a:rPr>
                <a:t>Models to improve defect type classification performance</a:t>
              </a:r>
              <a:endParaRPr sz="3600" b="1">
                <a:solidFill>
                  <a:schemeClr val="lt1"/>
                </a:solidFill>
                <a:latin typeface="Verdana"/>
                <a:ea typeface="Verdana"/>
                <a:cs typeface="Verdana"/>
                <a:sym typeface="Verdana"/>
              </a:endParaRPr>
            </a:p>
          </p:txBody>
        </p:sp>
      </p:grpSp>
      <p:grpSp>
        <p:nvGrpSpPr>
          <p:cNvPr id="425" name="Google Shape;425;h75cabafce84fd247_0_0"/>
          <p:cNvGrpSpPr/>
          <p:nvPr/>
        </p:nvGrpSpPr>
        <p:grpSpPr>
          <a:xfrm>
            <a:off x="609600" y="4989025"/>
            <a:ext cx="3535242" cy="1238400"/>
            <a:chOff x="-4208187" y="0"/>
            <a:chExt cx="4000500" cy="1238400"/>
          </a:xfrm>
        </p:grpSpPr>
        <p:sp>
          <p:nvSpPr>
            <p:cNvPr id="426" name="Google Shape;426;h75cabafce84fd247_0_0"/>
            <p:cNvSpPr/>
            <p:nvPr/>
          </p:nvSpPr>
          <p:spPr>
            <a:xfrm>
              <a:off x="-4208187" y="0"/>
              <a:ext cx="4000500" cy="1238400"/>
            </a:xfrm>
            <a:prstGeom prst="roundRect">
              <a:avLst>
                <a:gd name="adj" fmla="val 6153"/>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dk2"/>
                </a:solidFill>
              </a:endParaRPr>
            </a:p>
          </p:txBody>
        </p:sp>
        <p:sp>
          <p:nvSpPr>
            <p:cNvPr id="427" name="Google Shape;427;h75cabafce84fd247_0_0"/>
            <p:cNvSpPr txBox="1"/>
            <p:nvPr/>
          </p:nvSpPr>
          <p:spPr>
            <a:xfrm>
              <a:off x="-3979587" y="190500"/>
              <a:ext cx="3543300" cy="857400"/>
            </a:xfrm>
            <a:prstGeom prst="rect">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dk2"/>
                  </a:solidFill>
                  <a:latin typeface="Verdana"/>
                  <a:ea typeface="Verdana"/>
                  <a:cs typeface="Verdana"/>
                  <a:sym typeface="Verdana"/>
                </a:rPr>
                <a:t>DATA AUGMENTATION EFFECT</a:t>
              </a:r>
              <a:endParaRPr sz="1000" b="1">
                <a:solidFill>
                  <a:schemeClr val="dk2"/>
                </a:solidFill>
                <a:latin typeface="Verdana"/>
                <a:ea typeface="Verdana"/>
                <a:cs typeface="Verdana"/>
                <a:sym typeface="Verdana"/>
              </a:endParaRPr>
            </a:p>
            <a:p>
              <a:pPr marL="0" lvl="0" indent="0" algn="l" rtl="0">
                <a:spcBef>
                  <a:spcPts val="0"/>
                </a:spcBef>
                <a:spcAft>
                  <a:spcPts val="0"/>
                </a:spcAft>
                <a:buNone/>
              </a:pPr>
              <a:r>
                <a:rPr lang="en-US" sz="3600" b="1">
                  <a:solidFill>
                    <a:schemeClr val="dk2"/>
                  </a:solidFill>
                  <a:latin typeface="Verdana"/>
                  <a:ea typeface="Verdana"/>
                  <a:cs typeface="Verdana"/>
                  <a:sym typeface="Verdana"/>
                </a:rPr>
                <a:t>+10.7 pts</a:t>
              </a:r>
              <a:endParaRPr sz="3600" b="1">
                <a:solidFill>
                  <a:schemeClr val="dk2"/>
                </a:solidFill>
                <a:latin typeface="Verdana"/>
                <a:ea typeface="Verdana"/>
                <a:cs typeface="Verdana"/>
                <a:sym typeface="Verdana"/>
              </a:endParaRPr>
            </a:p>
            <a:p>
              <a:pPr marL="0" lvl="0" indent="0" algn="l" rtl="0">
                <a:spcBef>
                  <a:spcPts val="0"/>
                </a:spcBef>
                <a:spcAft>
                  <a:spcPts val="0"/>
                </a:spcAft>
                <a:buNone/>
              </a:pPr>
              <a:r>
                <a:rPr lang="en-US" sz="1000">
                  <a:solidFill>
                    <a:schemeClr val="dk2"/>
                  </a:solidFill>
                  <a:latin typeface="Verdana"/>
                  <a:ea typeface="Verdana"/>
                  <a:cs typeface="Verdana"/>
                  <a:sym typeface="Verdana"/>
                </a:rPr>
                <a:t>On mean validation accuracy vs ResNet18, no augmentation</a:t>
              </a:r>
              <a:endParaRPr sz="1000" b="0">
                <a:solidFill>
                  <a:schemeClr val="dk2"/>
                </a:solidFill>
                <a:latin typeface="Verdana"/>
                <a:ea typeface="Verdana"/>
                <a:cs typeface="Verdana"/>
                <a:sym typeface="Verdana"/>
              </a:endParaRPr>
            </a:p>
          </p:txBody>
        </p:sp>
      </p:grpSp>
      <p:grpSp>
        <p:nvGrpSpPr>
          <p:cNvPr id="428" name="Google Shape;428;h75cabafce84fd247_0_0"/>
          <p:cNvGrpSpPr/>
          <p:nvPr/>
        </p:nvGrpSpPr>
        <p:grpSpPr>
          <a:xfrm>
            <a:off x="4328375" y="4989025"/>
            <a:ext cx="3535242" cy="1238400"/>
            <a:chOff x="-4208187" y="1238400"/>
            <a:chExt cx="4000500" cy="1238400"/>
          </a:xfrm>
        </p:grpSpPr>
        <p:sp>
          <p:nvSpPr>
            <p:cNvPr id="429" name="Google Shape;429;h75cabafce84fd247_0_0"/>
            <p:cNvSpPr/>
            <p:nvPr/>
          </p:nvSpPr>
          <p:spPr>
            <a:xfrm>
              <a:off x="-4208187" y="123840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lt1"/>
                </a:solidFill>
              </a:endParaRPr>
            </a:p>
          </p:txBody>
        </p:sp>
        <p:sp>
          <p:nvSpPr>
            <p:cNvPr id="430" name="Google Shape;430;h75cabafce84fd247_0_0"/>
            <p:cNvSpPr txBox="1"/>
            <p:nvPr/>
          </p:nvSpPr>
          <p:spPr>
            <a:xfrm>
              <a:off x="-3979587" y="1428900"/>
              <a:ext cx="3543300" cy="857400"/>
            </a:xfrm>
            <a:prstGeom prst="rect">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lt1"/>
                  </a:solidFill>
                  <a:latin typeface="Verdana"/>
                  <a:ea typeface="Verdana"/>
                  <a:cs typeface="Verdana"/>
                  <a:sym typeface="Verdana"/>
                </a:rPr>
                <a:t>BEST ARCHITECTURE / TRAINING</a:t>
              </a:r>
              <a:endParaRPr sz="1000" b="1">
                <a:solidFill>
                  <a:schemeClr val="lt1"/>
                </a:solidFill>
                <a:latin typeface="Verdana"/>
                <a:ea typeface="Verdana"/>
                <a:cs typeface="Verdana"/>
                <a:sym typeface="Verdana"/>
              </a:endParaRPr>
            </a:p>
            <a:p>
              <a:pPr marL="0" lvl="0" indent="0" algn="l" rtl="0">
                <a:spcBef>
                  <a:spcPts val="0"/>
                </a:spcBef>
                <a:spcAft>
                  <a:spcPts val="0"/>
                </a:spcAft>
                <a:buNone/>
              </a:pPr>
              <a:r>
                <a:rPr lang="en-US" sz="2900" b="1">
                  <a:solidFill>
                    <a:schemeClr val="lt1"/>
                  </a:solidFill>
                  <a:latin typeface="Verdana"/>
                  <a:ea typeface="Verdana"/>
                  <a:cs typeface="Verdana"/>
                  <a:sym typeface="Verdana"/>
                </a:rPr>
                <a:t>ConvNext-Tiny</a:t>
              </a:r>
              <a:endParaRPr sz="2900" b="1">
                <a:solidFill>
                  <a:schemeClr val="lt1"/>
                </a:solidFill>
                <a:latin typeface="Verdana"/>
                <a:ea typeface="Verdana"/>
                <a:cs typeface="Verdana"/>
                <a:sym typeface="Verdana"/>
              </a:endParaRPr>
            </a:p>
            <a:p>
              <a:pPr marL="0" lvl="0" indent="0" algn="l" rtl="0">
                <a:spcBef>
                  <a:spcPts val="0"/>
                </a:spcBef>
                <a:spcAft>
                  <a:spcPts val="0"/>
                </a:spcAft>
                <a:buNone/>
              </a:pPr>
              <a:r>
                <a:rPr lang="en-US" sz="1000" b="0">
                  <a:solidFill>
                    <a:schemeClr val="lt1"/>
                  </a:solidFill>
                  <a:latin typeface="Verdana"/>
                  <a:ea typeface="Verdana"/>
                  <a:cs typeface="Verdana"/>
                  <a:sym typeface="Verdana"/>
                </a:rPr>
                <a:t>Across all but </a:t>
              </a:r>
              <a:r>
                <a:rPr lang="en-US" sz="1000">
                  <a:solidFill>
                    <a:schemeClr val="lt1"/>
                  </a:solidFill>
                  <a:latin typeface="Verdana"/>
                  <a:ea typeface="Verdana"/>
                  <a:cs typeface="Verdana"/>
                  <a:sym typeface="Verdana"/>
                </a:rPr>
                <a:t>3 </a:t>
              </a:r>
              <a:r>
                <a:rPr lang="en-US" sz="1000" b="0">
                  <a:solidFill>
                    <a:schemeClr val="lt1"/>
                  </a:solidFill>
                  <a:latin typeface="Verdana"/>
                  <a:ea typeface="Verdana"/>
                  <a:cs typeface="Verdana"/>
                  <a:sym typeface="Verdana"/>
                </a:rPr>
                <a:t>of the 1</a:t>
              </a:r>
              <a:r>
                <a:rPr lang="en-US" sz="1000">
                  <a:solidFill>
                    <a:schemeClr val="lt1"/>
                  </a:solidFill>
                  <a:latin typeface="Verdana"/>
                  <a:ea typeface="Verdana"/>
                  <a:cs typeface="Verdana"/>
                  <a:sym typeface="Verdana"/>
                </a:rPr>
                <a:t>4 </a:t>
              </a:r>
              <a:r>
                <a:rPr lang="en-US" sz="1000" b="0">
                  <a:solidFill>
                    <a:schemeClr val="lt1"/>
                  </a:solidFill>
                  <a:latin typeface="Verdana"/>
                  <a:ea typeface="Verdana"/>
                  <a:cs typeface="Verdana"/>
                  <a:sym typeface="Verdana"/>
                </a:rPr>
                <a:t>categories</a:t>
              </a:r>
              <a:r>
                <a:rPr lang="en-US" sz="1000">
                  <a:solidFill>
                    <a:schemeClr val="lt1"/>
                  </a:solidFill>
                  <a:latin typeface="Verdana"/>
                  <a:ea typeface="Verdana"/>
                  <a:cs typeface="Verdana"/>
                  <a:sym typeface="Verdana"/>
                </a:rPr>
                <a:t>.</a:t>
              </a:r>
              <a:endParaRPr sz="1000" b="0">
                <a:solidFill>
                  <a:schemeClr val="lt1"/>
                </a:solidFill>
                <a:latin typeface="Verdana"/>
                <a:ea typeface="Verdana"/>
                <a:cs typeface="Verdana"/>
                <a:sym typeface="Verdan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5"/>
        <p:cNvGrpSpPr/>
        <p:nvPr/>
      </p:nvGrpSpPr>
      <p:grpSpPr>
        <a:xfrm>
          <a:off x="0" y="0"/>
          <a:ext cx="0" cy="0"/>
          <a:chOff x="0" y="0"/>
          <a:chExt cx="0" cy="0"/>
        </a:xfrm>
      </p:grpSpPr>
      <p:sp>
        <p:nvSpPr>
          <p:cNvPr id="436" name="Google Shape;436;h75cabafce84fd247_0_24"/>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12</a:t>
            </a:r>
            <a:endParaRPr/>
          </a:p>
        </p:txBody>
      </p:sp>
      <p:graphicFrame>
        <p:nvGraphicFramePr>
          <p:cNvPr id="437" name="Google Shape;437;h75cabafce84fd247_0_24"/>
          <p:cNvGraphicFramePr/>
          <p:nvPr/>
        </p:nvGraphicFramePr>
        <p:xfrm>
          <a:off x="609538" y="1477513"/>
          <a:ext cx="3000000" cy="3000000"/>
        </p:xfrm>
        <a:graphic>
          <a:graphicData uri="http://schemas.openxmlformats.org/drawingml/2006/table">
            <a:tbl>
              <a:tblPr>
                <a:noFill/>
                <a:tableStyleId>{89359D83-5457-4402-8951-C3CEC1CC7011}</a:tableStyleId>
              </a:tblPr>
              <a:tblGrid>
                <a:gridCol w="1104500">
                  <a:extLst>
                    <a:ext uri="{9D8B030D-6E8A-4147-A177-3AD203B41FA5}">
                      <a16:colId xmlns:a16="http://schemas.microsoft.com/office/drawing/2014/main" val="20000"/>
                    </a:ext>
                  </a:extLst>
                </a:gridCol>
                <a:gridCol w="1725775">
                  <a:extLst>
                    <a:ext uri="{9D8B030D-6E8A-4147-A177-3AD203B41FA5}">
                      <a16:colId xmlns:a16="http://schemas.microsoft.com/office/drawing/2014/main" val="20001"/>
                    </a:ext>
                  </a:extLst>
                </a:gridCol>
                <a:gridCol w="1725775">
                  <a:extLst>
                    <a:ext uri="{9D8B030D-6E8A-4147-A177-3AD203B41FA5}">
                      <a16:colId xmlns:a16="http://schemas.microsoft.com/office/drawing/2014/main" val="20002"/>
                    </a:ext>
                  </a:extLst>
                </a:gridCol>
                <a:gridCol w="1725775">
                  <a:extLst>
                    <a:ext uri="{9D8B030D-6E8A-4147-A177-3AD203B41FA5}">
                      <a16:colId xmlns:a16="http://schemas.microsoft.com/office/drawing/2014/main" val="20003"/>
                    </a:ext>
                  </a:extLst>
                </a:gridCol>
                <a:gridCol w="1725775">
                  <a:extLst>
                    <a:ext uri="{9D8B030D-6E8A-4147-A177-3AD203B41FA5}">
                      <a16:colId xmlns:a16="http://schemas.microsoft.com/office/drawing/2014/main" val="20004"/>
                    </a:ext>
                  </a:extLst>
                </a:gridCol>
                <a:gridCol w="1725775">
                  <a:extLst>
                    <a:ext uri="{9D8B030D-6E8A-4147-A177-3AD203B41FA5}">
                      <a16:colId xmlns:a16="http://schemas.microsoft.com/office/drawing/2014/main" val="20005"/>
                    </a:ext>
                  </a:extLst>
                </a:gridCol>
              </a:tblGrid>
              <a:tr h="862150">
                <a:tc>
                  <a:txBody>
                    <a:bodyPr/>
                    <a:lstStyle/>
                    <a:p>
                      <a:pPr marL="0" lvl="0" indent="0" algn="ctr" rtl="0">
                        <a:spcBef>
                          <a:spcPts val="0"/>
                        </a:spcBef>
                        <a:spcAft>
                          <a:spcPts val="0"/>
                        </a:spcAft>
                        <a:buNone/>
                      </a:pPr>
                      <a:r>
                        <a:rPr lang="en-US" sz="1300" b="1">
                          <a:solidFill>
                            <a:schemeClr val="lt1"/>
                          </a:solidFill>
                          <a:latin typeface="Verdana"/>
                          <a:ea typeface="Verdana"/>
                          <a:cs typeface="Verdana"/>
                          <a:sym typeface="Verdana"/>
                        </a:rPr>
                        <a:t>Category</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no augmentation</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ConvNeXt-Tiny,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EfficientNet-B0,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DenseNet121,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extLst>
                  <a:ext uri="{0D108BD9-81ED-4DB2-BD59-A6C34878D82A}">
                    <a16:rowId xmlns:a16="http://schemas.microsoft.com/office/drawing/2014/main" val="10000"/>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Bottle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a:t>
                      </a:r>
                      <a:r>
                        <a:rPr lang="en-US" sz="1300">
                          <a:solidFill>
                            <a:srgbClr val="12293A"/>
                          </a:solidFill>
                          <a:latin typeface="Verdana"/>
                          <a:ea typeface="Verdana"/>
                          <a:cs typeface="Verdana"/>
                          <a:sym typeface="Verdana"/>
                        </a:rPr>
                        <a:t> / 0.885</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0.842 / 0.842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a:solidFill>
                            <a:srgbClr val="12293A"/>
                          </a:solidFill>
                          <a:latin typeface="Verdana"/>
                          <a:ea typeface="Verdana"/>
                          <a:cs typeface="Verdana"/>
                          <a:sym typeface="Verdana"/>
                        </a:rPr>
                        <a:t>0.842 / 0.842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1"/>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Cable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0.714 / 0.656</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0.857 / 0.837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0.821 / 0.780</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b="1">
                          <a:solidFill>
                            <a:srgbClr val="12293A"/>
                          </a:solidFill>
                          <a:latin typeface="Verdana"/>
                          <a:ea typeface="Verdana"/>
                          <a:cs typeface="Verdana"/>
                          <a:sym typeface="Verdana"/>
                        </a:rPr>
                        <a:t>0.893 / 0.877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0.893 / 0.874</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Pill</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0.372 / 0.427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0.605 / 0.621</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0.674 / 0.695</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0.628 / 0.642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chemeClr val="dk2"/>
                          </a:solidFill>
                          <a:latin typeface="Verdana"/>
                          <a:ea typeface="Verdana"/>
                          <a:cs typeface="Verdana"/>
                          <a:sym typeface="Verdana"/>
                        </a:rPr>
                        <a:t>0.767 / 0.784</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3"/>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Capsule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Clr>
                          <a:schemeClr val="dk1"/>
                        </a:buClr>
                        <a:buSzPts val="1100"/>
                        <a:buFont typeface="Arial"/>
                        <a:buNone/>
                      </a:pPr>
                      <a:r>
                        <a:rPr lang="en-US" sz="1300">
                          <a:solidFill>
                            <a:schemeClr val="dk2"/>
                          </a:solidFill>
                          <a:latin typeface="Verdana"/>
                          <a:ea typeface="Verdana"/>
                          <a:cs typeface="Verdana"/>
                          <a:sym typeface="Verdana"/>
                        </a:rPr>
                        <a:t>0.485 / 0.520</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a:solidFill>
                            <a:schemeClr val="dk2"/>
                          </a:solidFill>
                          <a:latin typeface="Verdana"/>
                          <a:ea typeface="Verdana"/>
                          <a:cs typeface="Verdana"/>
                          <a:sym typeface="Verdana"/>
                        </a:rPr>
                        <a:t>0.485 / 0.505</a:t>
                      </a:r>
                      <a:endParaRPr sz="1300" b="1">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b="1">
                          <a:solidFill>
                            <a:schemeClr val="dk2"/>
                          </a:solidFill>
                          <a:latin typeface="Verdana"/>
                          <a:ea typeface="Verdana"/>
                          <a:cs typeface="Verdana"/>
                          <a:sym typeface="Verdana"/>
                        </a:rPr>
                        <a:t>0.758 / 0.756</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Clr>
                          <a:schemeClr val="dk1"/>
                        </a:buClr>
                        <a:buSzPts val="1100"/>
                        <a:buFont typeface="Arial"/>
                        <a:buNone/>
                      </a:pPr>
                      <a:r>
                        <a:rPr lang="en-US" sz="1300">
                          <a:solidFill>
                            <a:schemeClr val="dk2"/>
                          </a:solidFill>
                          <a:latin typeface="Verdana"/>
                          <a:ea typeface="Verdana"/>
                          <a:cs typeface="Verdana"/>
                          <a:sym typeface="Verdana"/>
                        </a:rPr>
                        <a:t>0.636 / 0.643</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a:solidFill>
                            <a:schemeClr val="dk2"/>
                          </a:solidFill>
                          <a:latin typeface="Verdana"/>
                          <a:ea typeface="Verdana"/>
                          <a:cs typeface="Verdana"/>
                          <a:sym typeface="Verdana"/>
                        </a:rPr>
                        <a:t>0.727 / 0.696</a:t>
                      </a:r>
                      <a:endParaRPr sz="1300" b="1">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38" name="Google Shape;438;h75cabafce84fd247_0_24"/>
          <p:cNvSpPr txBox="1"/>
          <p:nvPr/>
        </p:nvSpPr>
        <p:spPr>
          <a:xfrm>
            <a:off x="2719800" y="5461725"/>
            <a:ext cx="6752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t>Table of Single Models with val. acc / macro-F1</a:t>
            </a:r>
            <a:endParaRPr/>
          </a:p>
        </p:txBody>
      </p:sp>
      <p:sp>
        <p:nvSpPr>
          <p:cNvPr id="439" name="Google Shape;439;h75cabafce84fd247_0_24"/>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Single Models vs Ensemble Models</a:t>
            </a:r>
            <a:endParaRPr sz="3150" b="1">
              <a:solidFill>
                <a:srgbClr val="12293A"/>
              </a:solidFill>
              <a:latin typeface="Verdana"/>
              <a:ea typeface="Verdana"/>
              <a:cs typeface="Verdana"/>
              <a:sym typeface="Verdana"/>
            </a:endParaRPr>
          </a:p>
          <a:p>
            <a:pPr marL="0" lvl="0" indent="0" algn="l" rtl="0">
              <a:spcBef>
                <a:spcPts val="0"/>
              </a:spcBef>
              <a:spcAft>
                <a:spcPts val="0"/>
              </a:spcAft>
              <a:buNone/>
            </a:pPr>
            <a:r>
              <a:rPr lang="en-US" sz="1900">
                <a:solidFill>
                  <a:srgbClr val="12293A"/>
                </a:solidFill>
                <a:latin typeface="Verdana"/>
                <a:ea typeface="Verdana"/>
                <a:cs typeface="Verdana"/>
                <a:sym typeface="Verdana"/>
              </a:rPr>
              <a:t>Defect Type Classifier: Set Seed (42), no Cross Validation (CV)</a:t>
            </a:r>
            <a:endParaRPr sz="1900">
              <a:solidFill>
                <a:schemeClr val="dk1"/>
              </a:solidFill>
            </a:endParaRPr>
          </a:p>
          <a:p>
            <a:pPr marL="0" marR="0" lvl="0" indent="0" algn="l" rtl="0">
              <a:spcBef>
                <a:spcPts val="0"/>
              </a:spcBef>
              <a:spcAft>
                <a:spcPts val="0"/>
              </a:spcAft>
              <a:buNone/>
            </a:pPr>
            <a:endParaRPr sz="1900">
              <a:solidFill>
                <a:srgbClr val="12293A"/>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h5d21db74efde2d0b_2_14"/>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12</a:t>
            </a:r>
            <a:endParaRPr/>
          </a:p>
        </p:txBody>
      </p:sp>
      <p:graphicFrame>
        <p:nvGraphicFramePr>
          <p:cNvPr id="446" name="Google Shape;446;h5d21db74efde2d0b_2_14"/>
          <p:cNvGraphicFramePr/>
          <p:nvPr/>
        </p:nvGraphicFramePr>
        <p:xfrm>
          <a:off x="609538" y="1477513"/>
          <a:ext cx="3000000" cy="3000000"/>
        </p:xfrm>
        <a:graphic>
          <a:graphicData uri="http://schemas.openxmlformats.org/drawingml/2006/table">
            <a:tbl>
              <a:tblPr>
                <a:noFill/>
                <a:tableStyleId>{89359D83-5457-4402-8951-C3CEC1CC7011}</a:tableStyleId>
              </a:tblPr>
              <a:tblGrid>
                <a:gridCol w="1104500">
                  <a:extLst>
                    <a:ext uri="{9D8B030D-6E8A-4147-A177-3AD203B41FA5}">
                      <a16:colId xmlns:a16="http://schemas.microsoft.com/office/drawing/2014/main" val="20000"/>
                    </a:ext>
                  </a:extLst>
                </a:gridCol>
                <a:gridCol w="1725775">
                  <a:extLst>
                    <a:ext uri="{9D8B030D-6E8A-4147-A177-3AD203B41FA5}">
                      <a16:colId xmlns:a16="http://schemas.microsoft.com/office/drawing/2014/main" val="20001"/>
                    </a:ext>
                  </a:extLst>
                </a:gridCol>
                <a:gridCol w="1725775">
                  <a:extLst>
                    <a:ext uri="{9D8B030D-6E8A-4147-A177-3AD203B41FA5}">
                      <a16:colId xmlns:a16="http://schemas.microsoft.com/office/drawing/2014/main" val="20002"/>
                    </a:ext>
                  </a:extLst>
                </a:gridCol>
                <a:gridCol w="1725775">
                  <a:extLst>
                    <a:ext uri="{9D8B030D-6E8A-4147-A177-3AD203B41FA5}">
                      <a16:colId xmlns:a16="http://schemas.microsoft.com/office/drawing/2014/main" val="20003"/>
                    </a:ext>
                  </a:extLst>
                </a:gridCol>
                <a:gridCol w="1725775">
                  <a:extLst>
                    <a:ext uri="{9D8B030D-6E8A-4147-A177-3AD203B41FA5}">
                      <a16:colId xmlns:a16="http://schemas.microsoft.com/office/drawing/2014/main" val="20004"/>
                    </a:ext>
                  </a:extLst>
                </a:gridCol>
                <a:gridCol w="1725775">
                  <a:extLst>
                    <a:ext uri="{9D8B030D-6E8A-4147-A177-3AD203B41FA5}">
                      <a16:colId xmlns:a16="http://schemas.microsoft.com/office/drawing/2014/main" val="20005"/>
                    </a:ext>
                  </a:extLst>
                </a:gridCol>
                <a:gridCol w="1239425">
                  <a:extLst>
                    <a:ext uri="{9D8B030D-6E8A-4147-A177-3AD203B41FA5}">
                      <a16:colId xmlns:a16="http://schemas.microsoft.com/office/drawing/2014/main" val="20006"/>
                    </a:ext>
                  </a:extLst>
                </a:gridCol>
              </a:tblGrid>
              <a:tr h="862150">
                <a:tc>
                  <a:txBody>
                    <a:bodyPr/>
                    <a:lstStyle/>
                    <a:p>
                      <a:pPr marL="0" lvl="0" indent="0" algn="ctr" rtl="0">
                        <a:spcBef>
                          <a:spcPts val="0"/>
                        </a:spcBef>
                        <a:spcAft>
                          <a:spcPts val="0"/>
                        </a:spcAft>
                        <a:buNone/>
                      </a:pPr>
                      <a:r>
                        <a:rPr lang="en-US" sz="1300" b="1">
                          <a:solidFill>
                            <a:schemeClr val="lt1"/>
                          </a:solidFill>
                          <a:latin typeface="Verdana"/>
                          <a:ea typeface="Verdana"/>
                          <a:cs typeface="Verdana"/>
                          <a:sym typeface="Verdana"/>
                        </a:rPr>
                        <a:t>Category</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no augmentation</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ConvNeXt-Tiny,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EfficientNet-B0,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DenseNet121,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Evaluation</a:t>
                      </a:r>
                      <a:endParaRPr sz="1300" b="1">
                        <a:solidFill>
                          <a:schemeClr val="lt1"/>
                        </a:solidFill>
                        <a:latin typeface="Verdana"/>
                        <a:ea typeface="Verdana"/>
                        <a:cs typeface="Verdana"/>
                        <a:sym typeface="Verdana"/>
                      </a:endParaRPr>
                    </a:p>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Method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extLst>
                  <a:ext uri="{0D108BD9-81ED-4DB2-BD59-A6C34878D82A}">
                    <a16:rowId xmlns:a16="http://schemas.microsoft.com/office/drawing/2014/main" val="10000"/>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Bottle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a:t>
                      </a:r>
                      <a:r>
                        <a:rPr lang="en-US" sz="1300">
                          <a:solidFill>
                            <a:srgbClr val="12293A"/>
                          </a:solidFill>
                          <a:latin typeface="Verdana"/>
                          <a:ea typeface="Verdana"/>
                          <a:cs typeface="Verdana"/>
                          <a:sym typeface="Verdana"/>
                        </a:rPr>
                        <a:t> / 0.885</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0.842 / 0.842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a:solidFill>
                            <a:srgbClr val="12293A"/>
                          </a:solidFill>
                          <a:latin typeface="Verdana"/>
                          <a:ea typeface="Verdana"/>
                          <a:cs typeface="Verdana"/>
                          <a:sym typeface="Verdana"/>
                        </a:rPr>
                        <a:t>0.842 / 0.842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Single</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1"/>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Cable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0.714 / 0.656</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0.857 / 0.837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0.821 / 0.780</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b="1">
                          <a:solidFill>
                            <a:srgbClr val="12293A"/>
                          </a:solidFill>
                          <a:latin typeface="Verdana"/>
                          <a:ea typeface="Verdana"/>
                          <a:cs typeface="Verdana"/>
                          <a:sym typeface="Verdana"/>
                        </a:rPr>
                        <a:t>0.893 / 0.877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0.893 / 0.874</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Single</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47" name="Google Shape;447;h5d21db74efde2d0b_2_14"/>
          <p:cNvSpPr txBox="1"/>
          <p:nvPr/>
        </p:nvSpPr>
        <p:spPr>
          <a:xfrm>
            <a:off x="2719800" y="5461725"/>
            <a:ext cx="6752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t>Table of Single Models with val. acc / macro-F1</a:t>
            </a:r>
            <a:endParaRPr/>
          </a:p>
        </p:txBody>
      </p:sp>
      <p:sp>
        <p:nvSpPr>
          <p:cNvPr id="448" name="Google Shape;448;h5d21db74efde2d0b_2_14"/>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Single Models vs Ensemble Models</a:t>
            </a:r>
            <a:endParaRPr sz="3150" b="1">
              <a:solidFill>
                <a:srgbClr val="12293A"/>
              </a:solidFill>
              <a:latin typeface="Verdana"/>
              <a:ea typeface="Verdana"/>
              <a:cs typeface="Verdana"/>
              <a:sym typeface="Verdana"/>
            </a:endParaRPr>
          </a:p>
          <a:p>
            <a:pPr marL="0" lvl="0" indent="0" algn="l" rtl="0">
              <a:spcBef>
                <a:spcPts val="0"/>
              </a:spcBef>
              <a:spcAft>
                <a:spcPts val="0"/>
              </a:spcAft>
              <a:buNone/>
            </a:pPr>
            <a:r>
              <a:rPr lang="en-US" sz="1900">
                <a:solidFill>
                  <a:srgbClr val="12293A"/>
                </a:solidFill>
                <a:latin typeface="Verdana"/>
                <a:ea typeface="Verdana"/>
                <a:cs typeface="Verdana"/>
                <a:sym typeface="Verdana"/>
              </a:rPr>
              <a:t>Defect Type Classifier: Set Seed (42), no Cross Validation (CV)</a:t>
            </a:r>
            <a:endParaRPr sz="1900">
              <a:solidFill>
                <a:schemeClr val="dk1"/>
              </a:solidFill>
            </a:endParaRPr>
          </a:p>
          <a:p>
            <a:pPr marL="0" marR="0" lvl="0" indent="0" algn="l" rtl="0">
              <a:spcBef>
                <a:spcPts val="0"/>
              </a:spcBef>
              <a:spcAft>
                <a:spcPts val="0"/>
              </a:spcAft>
              <a:buNone/>
            </a:pPr>
            <a:endParaRPr sz="1900">
              <a:solidFill>
                <a:srgbClr val="12293A"/>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3"/>
        <p:cNvGrpSpPr/>
        <p:nvPr/>
      </p:nvGrpSpPr>
      <p:grpSpPr>
        <a:xfrm>
          <a:off x="0" y="0"/>
          <a:ext cx="0" cy="0"/>
          <a:chOff x="0" y="0"/>
          <a:chExt cx="0" cy="0"/>
        </a:xfrm>
      </p:grpSpPr>
      <p:sp>
        <p:nvSpPr>
          <p:cNvPr id="454" name="Google Shape;454;h5d21db74efde2d0b_2_22"/>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12</a:t>
            </a:r>
            <a:endParaRPr/>
          </a:p>
        </p:txBody>
      </p:sp>
      <p:graphicFrame>
        <p:nvGraphicFramePr>
          <p:cNvPr id="455" name="Google Shape;455;h5d21db74efde2d0b_2_22"/>
          <p:cNvGraphicFramePr/>
          <p:nvPr/>
        </p:nvGraphicFramePr>
        <p:xfrm>
          <a:off x="609538" y="1477513"/>
          <a:ext cx="3000000" cy="3000000"/>
        </p:xfrm>
        <a:graphic>
          <a:graphicData uri="http://schemas.openxmlformats.org/drawingml/2006/table">
            <a:tbl>
              <a:tblPr>
                <a:noFill/>
                <a:tableStyleId>{89359D83-5457-4402-8951-C3CEC1CC7011}</a:tableStyleId>
              </a:tblPr>
              <a:tblGrid>
                <a:gridCol w="1104500">
                  <a:extLst>
                    <a:ext uri="{9D8B030D-6E8A-4147-A177-3AD203B41FA5}">
                      <a16:colId xmlns:a16="http://schemas.microsoft.com/office/drawing/2014/main" val="20000"/>
                    </a:ext>
                  </a:extLst>
                </a:gridCol>
                <a:gridCol w="1725775">
                  <a:extLst>
                    <a:ext uri="{9D8B030D-6E8A-4147-A177-3AD203B41FA5}">
                      <a16:colId xmlns:a16="http://schemas.microsoft.com/office/drawing/2014/main" val="20001"/>
                    </a:ext>
                  </a:extLst>
                </a:gridCol>
                <a:gridCol w="1725775">
                  <a:extLst>
                    <a:ext uri="{9D8B030D-6E8A-4147-A177-3AD203B41FA5}">
                      <a16:colId xmlns:a16="http://schemas.microsoft.com/office/drawing/2014/main" val="20002"/>
                    </a:ext>
                  </a:extLst>
                </a:gridCol>
                <a:gridCol w="1725775">
                  <a:extLst>
                    <a:ext uri="{9D8B030D-6E8A-4147-A177-3AD203B41FA5}">
                      <a16:colId xmlns:a16="http://schemas.microsoft.com/office/drawing/2014/main" val="20003"/>
                    </a:ext>
                  </a:extLst>
                </a:gridCol>
                <a:gridCol w="1725775">
                  <a:extLst>
                    <a:ext uri="{9D8B030D-6E8A-4147-A177-3AD203B41FA5}">
                      <a16:colId xmlns:a16="http://schemas.microsoft.com/office/drawing/2014/main" val="20004"/>
                    </a:ext>
                  </a:extLst>
                </a:gridCol>
                <a:gridCol w="1725775">
                  <a:extLst>
                    <a:ext uri="{9D8B030D-6E8A-4147-A177-3AD203B41FA5}">
                      <a16:colId xmlns:a16="http://schemas.microsoft.com/office/drawing/2014/main" val="20005"/>
                    </a:ext>
                  </a:extLst>
                </a:gridCol>
                <a:gridCol w="1239425">
                  <a:extLst>
                    <a:ext uri="{9D8B030D-6E8A-4147-A177-3AD203B41FA5}">
                      <a16:colId xmlns:a16="http://schemas.microsoft.com/office/drawing/2014/main" val="20006"/>
                    </a:ext>
                  </a:extLst>
                </a:gridCol>
              </a:tblGrid>
              <a:tr h="862150">
                <a:tc>
                  <a:txBody>
                    <a:bodyPr/>
                    <a:lstStyle/>
                    <a:p>
                      <a:pPr marL="0" lvl="0" indent="0" algn="ctr" rtl="0">
                        <a:spcBef>
                          <a:spcPts val="0"/>
                        </a:spcBef>
                        <a:spcAft>
                          <a:spcPts val="0"/>
                        </a:spcAft>
                        <a:buNone/>
                      </a:pPr>
                      <a:r>
                        <a:rPr lang="en-US" sz="1300" b="1">
                          <a:solidFill>
                            <a:schemeClr val="lt1"/>
                          </a:solidFill>
                          <a:latin typeface="Verdana"/>
                          <a:ea typeface="Verdana"/>
                          <a:cs typeface="Verdana"/>
                          <a:sym typeface="Verdana"/>
                        </a:rPr>
                        <a:t>Category</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no augmentation</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ResNet18,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ConvNeXt-Tiny,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EfficientNet-B0,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DenseNet121, augmented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tc>
                  <a:txBody>
                    <a:bodyPr/>
                    <a:lstStyle/>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Evaluation</a:t>
                      </a:r>
                      <a:endParaRPr sz="1300" b="1">
                        <a:solidFill>
                          <a:schemeClr val="lt1"/>
                        </a:solidFill>
                        <a:latin typeface="Verdana"/>
                        <a:ea typeface="Verdana"/>
                        <a:cs typeface="Verdana"/>
                        <a:sym typeface="Verdana"/>
                      </a:endParaRPr>
                    </a:p>
                    <a:p>
                      <a:pPr marL="0" marR="0" lvl="0" indent="0" algn="ctr" rtl="0">
                        <a:lnSpc>
                          <a:spcPct val="100000"/>
                        </a:lnSpc>
                        <a:spcBef>
                          <a:spcPts val="0"/>
                        </a:spcBef>
                        <a:spcAft>
                          <a:spcPts val="0"/>
                        </a:spcAft>
                        <a:buNone/>
                      </a:pPr>
                      <a:r>
                        <a:rPr lang="en-US" sz="1300" b="1">
                          <a:solidFill>
                            <a:schemeClr val="lt1"/>
                          </a:solidFill>
                          <a:latin typeface="Verdana"/>
                          <a:ea typeface="Verdana"/>
                          <a:cs typeface="Verdana"/>
                          <a:sym typeface="Verdana"/>
                        </a:rPr>
                        <a:t>Method</a:t>
                      </a:r>
                      <a:endParaRPr sz="1300" b="1">
                        <a:solidFill>
                          <a:schemeClr val="lt1"/>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2293A"/>
                    </a:solidFill>
                  </a:tcPr>
                </a:tc>
                <a:extLst>
                  <a:ext uri="{0D108BD9-81ED-4DB2-BD59-A6C34878D82A}">
                    <a16:rowId xmlns:a16="http://schemas.microsoft.com/office/drawing/2014/main" val="10000"/>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Bottle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a:t>
                      </a:r>
                      <a:r>
                        <a:rPr lang="en-US" sz="1300">
                          <a:solidFill>
                            <a:srgbClr val="12293A"/>
                          </a:solidFill>
                          <a:latin typeface="Verdana"/>
                          <a:ea typeface="Verdana"/>
                          <a:cs typeface="Verdana"/>
                          <a:sym typeface="Verdana"/>
                        </a:rPr>
                        <a:t> / 0.885</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0.842 / 0.842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a:solidFill>
                            <a:srgbClr val="12293A"/>
                          </a:solidFill>
                          <a:latin typeface="Verdana"/>
                          <a:ea typeface="Verdana"/>
                          <a:cs typeface="Verdana"/>
                          <a:sym typeface="Verdana"/>
                        </a:rPr>
                        <a:t>0.842 / 0.842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0.895 / 0.892</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Single</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1"/>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Cable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0.714 / 0.656</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0.857 / 0.837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0.821 / 0.780</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lvl="0" indent="0" algn="ctr" rtl="0">
                        <a:lnSpc>
                          <a:spcPct val="142857"/>
                        </a:lnSpc>
                        <a:spcBef>
                          <a:spcPts val="0"/>
                        </a:spcBef>
                        <a:spcAft>
                          <a:spcPts val="0"/>
                        </a:spcAft>
                        <a:buClr>
                          <a:schemeClr val="dk1"/>
                        </a:buClr>
                        <a:buSzPts val="1100"/>
                        <a:buFont typeface="Arial"/>
                        <a:buNone/>
                      </a:pPr>
                      <a:r>
                        <a:rPr lang="en-US" sz="1300" b="1">
                          <a:solidFill>
                            <a:srgbClr val="12293A"/>
                          </a:solidFill>
                          <a:latin typeface="Verdana"/>
                          <a:ea typeface="Verdana"/>
                          <a:cs typeface="Verdana"/>
                          <a:sym typeface="Verdana"/>
                        </a:rPr>
                        <a:t>0.893 / 0.877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0.893 / 0.874</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42857"/>
                        </a:lnSpc>
                        <a:spcBef>
                          <a:spcPts val="0"/>
                        </a:spcBef>
                        <a:spcAft>
                          <a:spcPts val="0"/>
                        </a:spcAft>
                        <a:buNone/>
                      </a:pPr>
                      <a:r>
                        <a:rPr lang="en-US" sz="1300" b="1">
                          <a:solidFill>
                            <a:srgbClr val="12293A"/>
                          </a:solidFill>
                          <a:latin typeface="Verdana"/>
                          <a:ea typeface="Verdana"/>
                          <a:cs typeface="Verdana"/>
                          <a:sym typeface="Verdana"/>
                        </a:rPr>
                        <a:t>Single</a:t>
                      </a:r>
                      <a:endParaRPr sz="1300" b="1">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Pill</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0.372 / 0.427</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0.605 / 0.621</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0.674 / 0.695</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a:solidFill>
                            <a:srgbClr val="12293A"/>
                          </a:solidFill>
                          <a:latin typeface="Verdana"/>
                          <a:ea typeface="Verdana"/>
                          <a:cs typeface="Verdana"/>
                          <a:sym typeface="Verdana"/>
                        </a:rPr>
                        <a:t>0.628 / 0.642</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tc>
                  <a:txBody>
                    <a:bodyPr/>
                    <a:lstStyle/>
                    <a:p>
                      <a:pPr marL="0" lvl="0" indent="0" algn="ctr" rtl="0">
                        <a:lnSpc>
                          <a:spcPct val="142857"/>
                        </a:lnSpc>
                        <a:spcBef>
                          <a:spcPts val="0"/>
                        </a:spcBef>
                        <a:spcAft>
                          <a:spcPts val="0"/>
                        </a:spcAft>
                        <a:buNone/>
                      </a:pPr>
                      <a:r>
                        <a:rPr lang="en-US" sz="1300" b="1">
                          <a:solidFill>
                            <a:srgbClr val="991B1B"/>
                          </a:solidFill>
                          <a:latin typeface="Verdana"/>
                          <a:ea typeface="Verdana"/>
                          <a:cs typeface="Verdana"/>
                          <a:sym typeface="Verdana"/>
                        </a:rPr>
                        <a:t>0.767 / 0.784</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42857"/>
                        </a:lnSpc>
                        <a:spcBef>
                          <a:spcPts val="0"/>
                        </a:spcBef>
                        <a:spcAft>
                          <a:spcPts val="0"/>
                        </a:spcAft>
                        <a:buNone/>
                      </a:pPr>
                      <a:r>
                        <a:rPr lang="en-US" sz="1300" b="1">
                          <a:solidFill>
                            <a:schemeClr val="dk2"/>
                          </a:solidFill>
                          <a:latin typeface="Verdana"/>
                          <a:ea typeface="Verdana"/>
                          <a:cs typeface="Verdana"/>
                          <a:sym typeface="Verdana"/>
                        </a:rPr>
                        <a:t>Ensemble</a:t>
                      </a:r>
                      <a:endParaRPr sz="1300" b="1">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F4F5"/>
                    </a:solidFill>
                  </a:tcPr>
                </a:tc>
                <a:extLst>
                  <a:ext uri="{0D108BD9-81ED-4DB2-BD59-A6C34878D82A}">
                    <a16:rowId xmlns:a16="http://schemas.microsoft.com/office/drawing/2014/main" val="10003"/>
                  </a:ext>
                </a:extLst>
              </a:tr>
              <a:tr h="762650">
                <a:tc>
                  <a:txBody>
                    <a:bodyPr/>
                    <a:lstStyle/>
                    <a:p>
                      <a:pPr marL="0" lvl="0" indent="0" algn="ctr" rtl="0">
                        <a:spcBef>
                          <a:spcPts val="0"/>
                        </a:spcBef>
                        <a:spcAft>
                          <a:spcPts val="0"/>
                        </a:spcAft>
                        <a:buNone/>
                      </a:pPr>
                      <a:r>
                        <a:rPr lang="en-US" sz="1300">
                          <a:solidFill>
                            <a:srgbClr val="12293A"/>
                          </a:solidFill>
                          <a:latin typeface="Verdana"/>
                          <a:ea typeface="Verdana"/>
                          <a:cs typeface="Verdana"/>
                          <a:sym typeface="Verdana"/>
                        </a:rPr>
                        <a:t>Capsule</a:t>
                      </a:r>
                      <a:endParaRPr sz="1300">
                        <a:solidFill>
                          <a:srgbClr val="12293A"/>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Clr>
                          <a:schemeClr val="dk1"/>
                        </a:buClr>
                        <a:buSzPts val="1100"/>
                        <a:buFont typeface="Arial"/>
                        <a:buNone/>
                      </a:pPr>
                      <a:r>
                        <a:rPr lang="en-US" sz="1300">
                          <a:solidFill>
                            <a:schemeClr val="dk2"/>
                          </a:solidFill>
                          <a:latin typeface="Verdana"/>
                          <a:ea typeface="Verdana"/>
                          <a:cs typeface="Verdana"/>
                          <a:sym typeface="Verdana"/>
                        </a:rPr>
                        <a:t>0.485 / 0.520</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a:solidFill>
                            <a:schemeClr val="dk2"/>
                          </a:solidFill>
                          <a:latin typeface="Verdana"/>
                          <a:ea typeface="Verdana"/>
                          <a:cs typeface="Verdana"/>
                          <a:sym typeface="Verdana"/>
                        </a:rPr>
                        <a:t>0.485 / 0.505</a:t>
                      </a:r>
                      <a:endParaRPr sz="1300" b="1">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b="1">
                          <a:solidFill>
                            <a:srgbClr val="991B1B"/>
                          </a:solidFill>
                          <a:latin typeface="Verdana"/>
                          <a:ea typeface="Verdana"/>
                          <a:cs typeface="Verdana"/>
                          <a:sym typeface="Verdana"/>
                        </a:rPr>
                        <a:t>0.758 / 0.756</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1200"/>
                        </a:spcAft>
                        <a:buClr>
                          <a:schemeClr val="dk1"/>
                        </a:buClr>
                        <a:buSzPts val="1100"/>
                        <a:buFont typeface="Arial"/>
                        <a:buNone/>
                      </a:pPr>
                      <a:r>
                        <a:rPr lang="en-US" sz="1300">
                          <a:solidFill>
                            <a:schemeClr val="dk2"/>
                          </a:solidFill>
                          <a:latin typeface="Verdana"/>
                          <a:ea typeface="Verdana"/>
                          <a:cs typeface="Verdana"/>
                          <a:sym typeface="Verdana"/>
                        </a:rPr>
                        <a:t>0.636 / 0.643</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US" sz="1300">
                          <a:solidFill>
                            <a:schemeClr val="dk2"/>
                          </a:solidFill>
                          <a:latin typeface="Verdana"/>
                          <a:ea typeface="Verdana"/>
                          <a:cs typeface="Verdana"/>
                          <a:sym typeface="Verdana"/>
                        </a:rPr>
                        <a:t>0.727 / 0.696</a:t>
                      </a:r>
                      <a:endParaRPr sz="1300" b="1">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42857"/>
                        </a:lnSpc>
                        <a:spcBef>
                          <a:spcPts val="0"/>
                        </a:spcBef>
                        <a:spcAft>
                          <a:spcPts val="0"/>
                        </a:spcAft>
                        <a:buNone/>
                      </a:pPr>
                      <a:r>
                        <a:rPr lang="en-US" sz="1300" b="1">
                          <a:solidFill>
                            <a:schemeClr val="dk2"/>
                          </a:solidFill>
                          <a:latin typeface="Verdana"/>
                          <a:ea typeface="Verdana"/>
                          <a:cs typeface="Verdana"/>
                          <a:sym typeface="Verdana"/>
                        </a:rPr>
                        <a:t>Ensemble</a:t>
                      </a:r>
                      <a:endParaRPr sz="1300">
                        <a:solidFill>
                          <a:schemeClr val="dk2"/>
                        </a:solidFill>
                        <a:latin typeface="Verdana"/>
                        <a:ea typeface="Verdana"/>
                        <a:cs typeface="Verdana"/>
                        <a:sym typeface="Verdana"/>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56" name="Google Shape;456;h5d21db74efde2d0b_2_22"/>
          <p:cNvSpPr txBox="1"/>
          <p:nvPr/>
        </p:nvSpPr>
        <p:spPr>
          <a:xfrm>
            <a:off x="2719800" y="5461725"/>
            <a:ext cx="6752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t>Table of Single Models with val. acc / macro-F1</a:t>
            </a:r>
            <a:endParaRPr/>
          </a:p>
        </p:txBody>
      </p:sp>
      <p:sp>
        <p:nvSpPr>
          <p:cNvPr id="457" name="Google Shape;457;h5d21db74efde2d0b_2_22"/>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Single Models vs Ensemble Models</a:t>
            </a:r>
            <a:endParaRPr sz="3150" b="1">
              <a:solidFill>
                <a:srgbClr val="12293A"/>
              </a:solidFill>
              <a:latin typeface="Verdana"/>
              <a:ea typeface="Verdana"/>
              <a:cs typeface="Verdana"/>
              <a:sym typeface="Verdana"/>
            </a:endParaRPr>
          </a:p>
          <a:p>
            <a:pPr marL="0" lvl="0" indent="0" algn="l" rtl="0">
              <a:spcBef>
                <a:spcPts val="0"/>
              </a:spcBef>
              <a:spcAft>
                <a:spcPts val="0"/>
              </a:spcAft>
              <a:buNone/>
            </a:pPr>
            <a:r>
              <a:rPr lang="en-US" sz="1900">
                <a:solidFill>
                  <a:srgbClr val="12293A"/>
                </a:solidFill>
                <a:latin typeface="Verdana"/>
                <a:ea typeface="Verdana"/>
                <a:cs typeface="Verdana"/>
                <a:sym typeface="Verdana"/>
              </a:rPr>
              <a:t>Defect Type Classifier: Set Seed (42), no Cross Validation (CV)</a:t>
            </a:r>
            <a:endParaRPr sz="1900">
              <a:solidFill>
                <a:schemeClr val="dk1"/>
              </a:solidFill>
            </a:endParaRPr>
          </a:p>
          <a:p>
            <a:pPr marL="0" marR="0" lvl="0" indent="0" algn="l" rtl="0">
              <a:spcBef>
                <a:spcPts val="0"/>
              </a:spcBef>
              <a:spcAft>
                <a:spcPts val="0"/>
              </a:spcAft>
              <a:buNone/>
            </a:pPr>
            <a:endParaRPr sz="1900">
              <a:solidFill>
                <a:srgbClr val="12293A"/>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2"/>
        <p:cNvGrpSpPr/>
        <p:nvPr/>
      </p:nvGrpSpPr>
      <p:grpSpPr>
        <a:xfrm>
          <a:off x="0" y="0"/>
          <a:ext cx="0" cy="0"/>
          <a:chOff x="0" y="0"/>
          <a:chExt cx="0" cy="0"/>
        </a:xfrm>
      </p:grpSpPr>
      <p:sp>
        <p:nvSpPr>
          <p:cNvPr id="463" name="Google Shape;463;h5adeb616bbd9c3b0_0_3"/>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13</a:t>
            </a:r>
            <a:endParaRPr/>
          </a:p>
        </p:txBody>
      </p:sp>
      <p:sp>
        <p:nvSpPr>
          <p:cNvPr id="464" name="Google Shape;464;h5adeb616bbd9c3b0_0_3"/>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Single Models vs Ensemble Models</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1900">
                <a:solidFill>
                  <a:srgbClr val="12293A"/>
                </a:solidFill>
                <a:latin typeface="Verdana"/>
                <a:ea typeface="Verdana"/>
                <a:cs typeface="Verdana"/>
                <a:sym typeface="Verdana"/>
              </a:rPr>
              <a:t>Defect Type Classifier: Re-runs with 3 repeats, 5-folds Cross Validation</a:t>
            </a:r>
            <a:endParaRPr sz="1900"/>
          </a:p>
        </p:txBody>
      </p:sp>
      <p:graphicFrame>
        <p:nvGraphicFramePr>
          <p:cNvPr id="465" name="Google Shape;465;h5adeb616bbd9c3b0_0_3"/>
          <p:cNvGraphicFramePr/>
          <p:nvPr/>
        </p:nvGraphicFramePr>
        <p:xfrm>
          <a:off x="707650" y="1658063"/>
          <a:ext cx="3000000" cy="3000000"/>
        </p:xfrm>
        <a:graphic>
          <a:graphicData uri="http://schemas.openxmlformats.org/drawingml/2006/table">
            <a:tbl>
              <a:tblPr>
                <a:noFill/>
                <a:tableStyleId>{89359D83-5457-4402-8951-C3CEC1CC7011}</a:tableStyleId>
              </a:tblPr>
              <a:tblGrid>
                <a:gridCol w="1055575">
                  <a:extLst>
                    <a:ext uri="{9D8B030D-6E8A-4147-A177-3AD203B41FA5}">
                      <a16:colId xmlns:a16="http://schemas.microsoft.com/office/drawing/2014/main" val="20000"/>
                    </a:ext>
                  </a:extLst>
                </a:gridCol>
                <a:gridCol w="875550">
                  <a:extLst>
                    <a:ext uri="{9D8B030D-6E8A-4147-A177-3AD203B41FA5}">
                      <a16:colId xmlns:a16="http://schemas.microsoft.com/office/drawing/2014/main" val="20001"/>
                    </a:ext>
                  </a:extLst>
                </a:gridCol>
                <a:gridCol w="905550">
                  <a:extLst>
                    <a:ext uri="{9D8B030D-6E8A-4147-A177-3AD203B41FA5}">
                      <a16:colId xmlns:a16="http://schemas.microsoft.com/office/drawing/2014/main" val="20002"/>
                    </a:ext>
                  </a:extLst>
                </a:gridCol>
                <a:gridCol w="885525">
                  <a:extLst>
                    <a:ext uri="{9D8B030D-6E8A-4147-A177-3AD203B41FA5}">
                      <a16:colId xmlns:a16="http://schemas.microsoft.com/office/drawing/2014/main" val="20003"/>
                    </a:ext>
                  </a:extLst>
                </a:gridCol>
              </a:tblGrid>
              <a:tr h="512550">
                <a:tc>
                  <a:txBody>
                    <a:bodyPr/>
                    <a:lstStyle/>
                    <a:p>
                      <a:pPr marL="0" lvl="0" indent="0" algn="l" rtl="0">
                        <a:lnSpc>
                          <a:spcPct val="115000"/>
                        </a:lnSpc>
                        <a:spcBef>
                          <a:spcPts val="0"/>
                        </a:spcBef>
                        <a:spcAft>
                          <a:spcPts val="0"/>
                        </a:spcAft>
                        <a:buNone/>
                      </a:pPr>
                      <a:r>
                        <a:rPr lang="en-US" sz="800" b="1">
                          <a:solidFill>
                            <a:schemeClr val="lt1"/>
                          </a:solidFill>
                          <a:latin typeface="Verdana"/>
                          <a:ea typeface="Verdana"/>
                          <a:cs typeface="Verdana"/>
                          <a:sym typeface="Verdana"/>
                        </a:rPr>
                        <a:t>Bottle/ strategy</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accuracy ± SD</a:t>
                      </a:r>
                      <a:endParaRPr sz="800" b="1">
                        <a:solidFill>
                          <a:schemeClr val="lt1"/>
                        </a:solidFill>
                        <a:latin typeface="Verdana"/>
                        <a:ea typeface="Verdana"/>
                        <a:cs typeface="Verdana"/>
                        <a:sym typeface="Verdana"/>
                      </a:endParaRPr>
                    </a:p>
                  </a:txBody>
                  <a:tcPr marL="95250" marR="95250" marT="47625" marB="47625">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macro-F1 ± SD</a:t>
                      </a:r>
                      <a:endParaRPr sz="800" b="1">
                        <a:solidFill>
                          <a:schemeClr val="lt1"/>
                        </a:solidFill>
                        <a:latin typeface="Verdana"/>
                        <a:ea typeface="Verdana"/>
                        <a:cs typeface="Verdana"/>
                        <a:sym typeface="Verdana"/>
                      </a:endParaRPr>
                    </a:p>
                  </a:txBody>
                  <a:tcPr marL="95250" marR="95250" marT="47625" marB="47625">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Correct across 3 repeats</a:t>
                      </a:r>
                      <a:endParaRPr sz="800" b="1">
                        <a:solidFill>
                          <a:schemeClr val="lt1"/>
                        </a:solidFill>
                        <a:latin typeface="Verdana"/>
                        <a:ea typeface="Verdana"/>
                        <a:cs typeface="Verdana"/>
                        <a:sym typeface="Verdana"/>
                      </a:endParaRPr>
                    </a:p>
                  </a:txBody>
                  <a:tcPr marL="95250" marR="95250" marT="47625" marB="47625">
                    <a:solidFill>
                      <a:schemeClr val="dk2"/>
                    </a:solidFill>
                  </a:tcPr>
                </a:tc>
                <a:extLst>
                  <a:ext uri="{0D108BD9-81ED-4DB2-BD59-A6C34878D82A}">
                    <a16:rowId xmlns:a16="http://schemas.microsoft.com/office/drawing/2014/main" val="10000"/>
                  </a:ext>
                </a:extLst>
              </a:tr>
              <a:tr h="271025">
                <a:tc>
                  <a:txBody>
                    <a:bodyPr/>
                    <a:lstStyle/>
                    <a:p>
                      <a:pPr marL="0" lvl="0" indent="0" algn="l" rtl="0">
                        <a:lnSpc>
                          <a:spcPct val="115000"/>
                        </a:lnSpc>
                        <a:spcBef>
                          <a:spcPts val="0"/>
                        </a:spcBef>
                        <a:spcAft>
                          <a:spcPts val="0"/>
                        </a:spcAft>
                        <a:buNone/>
                      </a:pPr>
                      <a:r>
                        <a:rPr lang="en-US" sz="800" b="1">
                          <a:solidFill>
                            <a:schemeClr val="dk2"/>
                          </a:solidFill>
                          <a:latin typeface="Verdana"/>
                          <a:ea typeface="Verdana"/>
                          <a:cs typeface="Verdana"/>
                          <a:sym typeface="Verdana"/>
                        </a:rPr>
                        <a:t>ConvNeXt-Tiny single</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0.852 ± 0.007</a:t>
                      </a:r>
                      <a:endParaRPr sz="800" b="1">
                        <a:solidFill>
                          <a:schemeClr val="dk2"/>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0.854 ± 0.007</a:t>
                      </a:r>
                      <a:endParaRPr sz="800" b="1">
                        <a:solidFill>
                          <a:schemeClr val="dk2"/>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161 / 189</a:t>
                      </a:r>
                      <a:endParaRPr sz="800" b="1">
                        <a:solidFill>
                          <a:schemeClr val="dk2"/>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1"/>
                  </a:ext>
                </a:extLst>
              </a:tr>
              <a:tr h="2355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ResNet18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0.831 ± 0.007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0.832 ± 0.007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157 / 189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64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EfficientNet-B0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0.841 ± 0.022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0.845 ± 0.022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159 / 189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DenseNet121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0.783 ± 0.033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0.786 ± 0.032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148 / 189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787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four-model hard vote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0.857 ± 0.026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0.860 ± 0.025</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162 / 189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96050">
                <a:tc>
                  <a:txBody>
                    <a:bodyPr/>
                    <a:lstStyle/>
                    <a:p>
                      <a:pPr marL="0" lvl="0" indent="0" algn="l" rtl="0">
                        <a:lnSpc>
                          <a:spcPct val="115000"/>
                        </a:lnSpc>
                        <a:spcBef>
                          <a:spcPts val="0"/>
                        </a:spcBef>
                        <a:spcAft>
                          <a:spcPts val="0"/>
                        </a:spcAft>
                        <a:buNone/>
                      </a:pPr>
                      <a:r>
                        <a:rPr lang="en-US" sz="800" b="1">
                          <a:solidFill>
                            <a:srgbClr val="991B1B"/>
                          </a:solidFill>
                          <a:latin typeface="Verdana"/>
                          <a:ea typeface="Verdana"/>
                          <a:cs typeface="Verdana"/>
                          <a:sym typeface="Verdana"/>
                        </a:rPr>
                        <a:t>four-model equal soft vote</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0.868 ± 0.015</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0.870 ± 0.015</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164 / 189</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extLst>
                  <a:ext uri="{0D108BD9-81ED-4DB2-BD59-A6C34878D82A}">
                    <a16:rowId xmlns:a16="http://schemas.microsoft.com/office/drawing/2014/main" val="10006"/>
                  </a:ext>
                </a:extLst>
              </a:tr>
              <a:tr h="3722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ConvNeXt-heavy soft vote (70/10/10/10)</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0.862 ± 0.007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0.864 ± 0.007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163 / 189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extLst>
                  <a:ext uri="{0D108BD9-81ED-4DB2-BD59-A6C34878D82A}">
                    <a16:rowId xmlns:a16="http://schemas.microsoft.com/office/drawing/2014/main" val="10007"/>
                  </a:ext>
                </a:extLst>
              </a:tr>
            </a:tbl>
          </a:graphicData>
        </a:graphic>
      </p:graphicFrame>
      <p:graphicFrame>
        <p:nvGraphicFramePr>
          <p:cNvPr id="466" name="Google Shape;466;h5adeb616bbd9c3b0_0_3"/>
          <p:cNvGraphicFramePr/>
          <p:nvPr/>
        </p:nvGraphicFramePr>
        <p:xfrm>
          <a:off x="4613175" y="1658063"/>
          <a:ext cx="3000000" cy="3000000"/>
        </p:xfrm>
        <a:graphic>
          <a:graphicData uri="http://schemas.openxmlformats.org/drawingml/2006/table">
            <a:tbl>
              <a:tblPr>
                <a:noFill/>
                <a:tableStyleId>{89359D83-5457-4402-8951-C3CEC1CC7011}</a:tableStyleId>
              </a:tblPr>
              <a:tblGrid>
                <a:gridCol w="1055575">
                  <a:extLst>
                    <a:ext uri="{9D8B030D-6E8A-4147-A177-3AD203B41FA5}">
                      <a16:colId xmlns:a16="http://schemas.microsoft.com/office/drawing/2014/main" val="20000"/>
                    </a:ext>
                  </a:extLst>
                </a:gridCol>
                <a:gridCol w="875550">
                  <a:extLst>
                    <a:ext uri="{9D8B030D-6E8A-4147-A177-3AD203B41FA5}">
                      <a16:colId xmlns:a16="http://schemas.microsoft.com/office/drawing/2014/main" val="20001"/>
                    </a:ext>
                  </a:extLst>
                </a:gridCol>
                <a:gridCol w="905550">
                  <a:extLst>
                    <a:ext uri="{9D8B030D-6E8A-4147-A177-3AD203B41FA5}">
                      <a16:colId xmlns:a16="http://schemas.microsoft.com/office/drawing/2014/main" val="20002"/>
                    </a:ext>
                  </a:extLst>
                </a:gridCol>
                <a:gridCol w="885525">
                  <a:extLst>
                    <a:ext uri="{9D8B030D-6E8A-4147-A177-3AD203B41FA5}">
                      <a16:colId xmlns:a16="http://schemas.microsoft.com/office/drawing/2014/main" val="20003"/>
                    </a:ext>
                  </a:extLst>
                </a:gridCol>
              </a:tblGrid>
              <a:tr h="512550">
                <a:tc>
                  <a:txBody>
                    <a:bodyPr/>
                    <a:lstStyle/>
                    <a:p>
                      <a:pPr marL="0" lvl="0" indent="0" algn="l" rtl="0">
                        <a:lnSpc>
                          <a:spcPct val="115000"/>
                        </a:lnSpc>
                        <a:spcBef>
                          <a:spcPts val="0"/>
                        </a:spcBef>
                        <a:spcAft>
                          <a:spcPts val="0"/>
                        </a:spcAft>
                        <a:buNone/>
                      </a:pPr>
                      <a:r>
                        <a:rPr lang="en-US" sz="800" b="1">
                          <a:solidFill>
                            <a:schemeClr val="lt1"/>
                          </a:solidFill>
                          <a:latin typeface="Verdana"/>
                          <a:ea typeface="Verdana"/>
                          <a:cs typeface="Verdana"/>
                          <a:sym typeface="Verdana"/>
                        </a:rPr>
                        <a:t>Cable/ strategy</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accuracy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macro-F1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Correct across 3 repeats</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ConvNeXt-Tiny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0.815 ± 0.023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0.786 ± 0.026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225 / 276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355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ResNet18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0.837 ± 0.032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0.809 ± 0.047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231 / 276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6475">
                <a:tc>
                  <a:txBody>
                    <a:bodyPr/>
                    <a:lstStyle/>
                    <a:p>
                      <a:pPr marL="0" lvl="0" indent="0" algn="l" rtl="0">
                        <a:lnSpc>
                          <a:spcPct val="115000"/>
                        </a:lnSpc>
                        <a:spcBef>
                          <a:spcPts val="0"/>
                        </a:spcBef>
                        <a:spcAft>
                          <a:spcPts val="0"/>
                        </a:spcAft>
                        <a:buNone/>
                      </a:pPr>
                      <a:r>
                        <a:rPr lang="en-US" sz="800" b="1">
                          <a:solidFill>
                            <a:schemeClr val="dk2"/>
                          </a:solidFill>
                          <a:latin typeface="Verdana"/>
                          <a:ea typeface="Verdana"/>
                          <a:cs typeface="Verdana"/>
                          <a:sym typeface="Verdana"/>
                        </a:rPr>
                        <a:t>EfficientNet-B0 single</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0.880 ± 0.009</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0.877 ± 0.009</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243 / 276</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3"/>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DenseNet121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0.830 ± 0.014</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0.806 ± 0.026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229 / 276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four-model hard vote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0.877 ± 0.027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0.854 ± 0.042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242 / 276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96050">
                <a:tc>
                  <a:txBody>
                    <a:bodyPr/>
                    <a:lstStyle/>
                    <a:p>
                      <a:pPr marL="0" lvl="0" indent="0" algn="l" rtl="0">
                        <a:lnSpc>
                          <a:spcPct val="115000"/>
                        </a:lnSpc>
                        <a:spcBef>
                          <a:spcPts val="0"/>
                        </a:spcBef>
                        <a:spcAft>
                          <a:spcPts val="0"/>
                        </a:spcAft>
                        <a:buNone/>
                      </a:pPr>
                      <a:r>
                        <a:rPr lang="en-US" sz="800" b="1">
                          <a:solidFill>
                            <a:srgbClr val="991B1B"/>
                          </a:solidFill>
                          <a:latin typeface="Verdana"/>
                          <a:ea typeface="Verdana"/>
                          <a:cs typeface="Verdana"/>
                          <a:sym typeface="Verdana"/>
                        </a:rPr>
                        <a:t>four-model equal soft vote</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0.884 ± 0.022</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a:solidFill>
                            <a:srgbClr val="991B1B"/>
                          </a:solidFill>
                          <a:latin typeface="Verdana"/>
                          <a:ea typeface="Verdana"/>
                          <a:cs typeface="Verdana"/>
                          <a:sym typeface="Verdana"/>
                        </a:rPr>
                        <a:t>0.864 ± 0.032</a:t>
                      </a:r>
                      <a:endParaRPr sz="800">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244 / 276</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FEE2E2"/>
                    </a:solidFill>
                  </a:tcPr>
                </a:tc>
                <a:extLst>
                  <a:ext uri="{0D108BD9-81ED-4DB2-BD59-A6C34878D82A}">
                    <a16:rowId xmlns:a16="http://schemas.microsoft.com/office/drawing/2014/main" val="10006"/>
                  </a:ext>
                </a:extLst>
              </a:tr>
              <a:tr h="3722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ConvNeXt-heavy soft vote (70/10/10/10)</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0.844 ± 0.005</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0.814 ± 0.016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233 / 276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extLst>
                  <a:ext uri="{0D108BD9-81ED-4DB2-BD59-A6C34878D82A}">
                    <a16:rowId xmlns:a16="http://schemas.microsoft.com/office/drawing/2014/main" val="10007"/>
                  </a:ext>
                </a:extLst>
              </a:tr>
            </a:tbl>
          </a:graphicData>
        </a:graphic>
      </p:graphicFrame>
      <p:grpSp>
        <p:nvGrpSpPr>
          <p:cNvPr id="467" name="Google Shape;467;h5adeb616bbd9c3b0_0_3"/>
          <p:cNvGrpSpPr/>
          <p:nvPr/>
        </p:nvGrpSpPr>
        <p:grpSpPr>
          <a:xfrm>
            <a:off x="1036967" y="5061128"/>
            <a:ext cx="3063583" cy="952453"/>
            <a:chOff x="-4208187" y="1238400"/>
            <a:chExt cx="4000500" cy="1238400"/>
          </a:xfrm>
        </p:grpSpPr>
        <p:sp>
          <p:nvSpPr>
            <p:cNvPr id="468" name="Google Shape;468;h5adeb616bbd9c3b0_0_3"/>
            <p:cNvSpPr/>
            <p:nvPr/>
          </p:nvSpPr>
          <p:spPr>
            <a:xfrm>
              <a:off x="-4208187" y="123840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lt1"/>
                </a:solidFill>
              </a:endParaRPr>
            </a:p>
          </p:txBody>
        </p:sp>
        <p:sp>
          <p:nvSpPr>
            <p:cNvPr id="469" name="Google Shape;469;h5adeb616bbd9c3b0_0_3"/>
            <p:cNvSpPr txBox="1"/>
            <p:nvPr/>
          </p:nvSpPr>
          <p:spPr>
            <a:xfrm>
              <a:off x="-3979592" y="1311964"/>
              <a:ext cx="3543300" cy="1060200"/>
            </a:xfrm>
            <a:prstGeom prst="rect">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lt1"/>
                  </a:solidFill>
                  <a:latin typeface="Verdana"/>
                  <a:ea typeface="Verdana"/>
                  <a:cs typeface="Verdana"/>
                  <a:sym typeface="Verdana"/>
                </a:rPr>
                <a:t>BOTTLE:</a:t>
              </a:r>
              <a:endParaRPr sz="1000" b="1">
                <a:solidFill>
                  <a:schemeClr val="lt1"/>
                </a:solidFill>
                <a:latin typeface="Verdana"/>
                <a:ea typeface="Verdana"/>
                <a:cs typeface="Verdana"/>
                <a:sym typeface="Verdana"/>
              </a:endParaRPr>
            </a:p>
            <a:p>
              <a:pPr marL="0" lvl="0" indent="0" algn="l" rtl="0">
                <a:spcBef>
                  <a:spcPts val="0"/>
                </a:spcBef>
                <a:spcAft>
                  <a:spcPts val="0"/>
                </a:spcAft>
                <a:buNone/>
              </a:pPr>
              <a:r>
                <a:rPr lang="en-US" sz="2400" b="1">
                  <a:solidFill>
                    <a:schemeClr val="lt1"/>
                  </a:solidFill>
                  <a:latin typeface="Verdana"/>
                  <a:ea typeface="Verdana"/>
                  <a:cs typeface="Verdana"/>
                  <a:sym typeface="Verdana"/>
                </a:rPr>
                <a:t>ConvNeXt-Tiny</a:t>
              </a:r>
              <a:endParaRPr sz="2400" b="1">
                <a:solidFill>
                  <a:schemeClr val="lt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US" sz="1000">
                  <a:solidFill>
                    <a:schemeClr val="lt1"/>
                  </a:solidFill>
                  <a:latin typeface="Verdana"/>
                  <a:ea typeface="Verdana"/>
                  <a:cs typeface="Verdana"/>
                  <a:sym typeface="Verdana"/>
                </a:rPr>
                <a:t>Reclaims 1st choice</a:t>
              </a:r>
              <a:endParaRPr sz="1000" b="0">
                <a:solidFill>
                  <a:schemeClr val="lt1"/>
                </a:solidFill>
                <a:latin typeface="Verdana"/>
                <a:ea typeface="Verdana"/>
                <a:cs typeface="Verdana"/>
                <a:sym typeface="Verdana"/>
              </a:endParaRPr>
            </a:p>
          </p:txBody>
        </p:sp>
      </p:grpSp>
      <p:grpSp>
        <p:nvGrpSpPr>
          <p:cNvPr id="470" name="Google Shape;470;h5adeb616bbd9c3b0_0_3"/>
          <p:cNvGrpSpPr/>
          <p:nvPr/>
        </p:nvGrpSpPr>
        <p:grpSpPr>
          <a:xfrm>
            <a:off x="4942492" y="5061125"/>
            <a:ext cx="3063583" cy="952453"/>
            <a:chOff x="-4208187" y="0"/>
            <a:chExt cx="4000500" cy="1238400"/>
          </a:xfrm>
        </p:grpSpPr>
        <p:sp>
          <p:nvSpPr>
            <p:cNvPr id="471" name="Google Shape;471;h5adeb616bbd9c3b0_0_3"/>
            <p:cNvSpPr/>
            <p:nvPr/>
          </p:nvSpPr>
          <p:spPr>
            <a:xfrm>
              <a:off x="-4208187" y="0"/>
              <a:ext cx="4000500" cy="1238400"/>
            </a:xfrm>
            <a:prstGeom prst="roundRect">
              <a:avLst>
                <a:gd name="adj" fmla="val 6153"/>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dk2"/>
                </a:solidFill>
              </a:endParaRPr>
            </a:p>
          </p:txBody>
        </p:sp>
        <p:sp>
          <p:nvSpPr>
            <p:cNvPr id="472" name="Google Shape;472;h5adeb616bbd9c3b0_0_3"/>
            <p:cNvSpPr txBox="1"/>
            <p:nvPr/>
          </p:nvSpPr>
          <p:spPr>
            <a:xfrm>
              <a:off x="-3979592" y="140234"/>
              <a:ext cx="3543300" cy="974400"/>
            </a:xfrm>
            <a:prstGeom prst="rect">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dk2"/>
                  </a:solidFill>
                  <a:latin typeface="Verdana"/>
                  <a:ea typeface="Verdana"/>
                  <a:cs typeface="Verdana"/>
                  <a:sym typeface="Verdana"/>
                </a:rPr>
                <a:t>CABLE:</a:t>
              </a:r>
              <a:endParaRPr sz="1000" b="1">
                <a:solidFill>
                  <a:schemeClr val="dk2"/>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US" sz="2400" b="1">
                  <a:solidFill>
                    <a:schemeClr val="dk2"/>
                  </a:solidFill>
                  <a:latin typeface="Verdana"/>
                  <a:ea typeface="Verdana"/>
                  <a:cs typeface="Verdana"/>
                  <a:sym typeface="Verdana"/>
                </a:rPr>
                <a:t>EfficientNet-B0</a:t>
              </a:r>
              <a:endParaRPr sz="2400" b="1">
                <a:solidFill>
                  <a:schemeClr val="dk2"/>
                </a:solidFill>
                <a:latin typeface="Verdana"/>
                <a:ea typeface="Verdana"/>
                <a:cs typeface="Verdana"/>
                <a:sym typeface="Verdana"/>
              </a:endParaRPr>
            </a:p>
            <a:p>
              <a:pPr marL="0" lvl="0" indent="0" algn="l" rtl="0">
                <a:spcBef>
                  <a:spcPts val="0"/>
                </a:spcBef>
                <a:spcAft>
                  <a:spcPts val="0"/>
                </a:spcAft>
                <a:buNone/>
              </a:pPr>
              <a:r>
                <a:rPr lang="en-US" sz="1000">
                  <a:solidFill>
                    <a:schemeClr val="dk2"/>
                  </a:solidFill>
                  <a:latin typeface="Verdana"/>
                  <a:ea typeface="Verdana"/>
                  <a:cs typeface="Verdana"/>
                  <a:sym typeface="Verdana"/>
                </a:rPr>
                <a:t>Secures 1st choice</a:t>
              </a:r>
              <a:endParaRPr sz="1000" b="0">
                <a:solidFill>
                  <a:schemeClr val="dk2"/>
                </a:solidFill>
                <a:latin typeface="Verdana"/>
                <a:ea typeface="Verdana"/>
                <a:cs typeface="Verdana"/>
                <a:sym typeface="Verdana"/>
              </a:endParaRPr>
            </a:p>
          </p:txBody>
        </p:sp>
      </p:grpSp>
      <p:grpSp>
        <p:nvGrpSpPr>
          <p:cNvPr id="473" name="Google Shape;473;h5adeb616bbd9c3b0_0_3"/>
          <p:cNvGrpSpPr/>
          <p:nvPr/>
        </p:nvGrpSpPr>
        <p:grpSpPr>
          <a:xfrm>
            <a:off x="8594442" y="1654039"/>
            <a:ext cx="3063583" cy="4359540"/>
            <a:chOff x="-4208187" y="0"/>
            <a:chExt cx="4000500" cy="1238400"/>
          </a:xfrm>
        </p:grpSpPr>
        <p:sp>
          <p:nvSpPr>
            <p:cNvPr id="474" name="Google Shape;474;h5adeb616bbd9c3b0_0_3"/>
            <p:cNvSpPr/>
            <p:nvPr/>
          </p:nvSpPr>
          <p:spPr>
            <a:xfrm>
              <a:off x="-4208187" y="0"/>
              <a:ext cx="4000500" cy="1238400"/>
            </a:xfrm>
            <a:prstGeom prst="roundRect">
              <a:avLst>
                <a:gd name="adj" fmla="val 6153"/>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endParaRPr sz="2300">
                <a:solidFill>
                  <a:schemeClr val="lt1"/>
                </a:solidFill>
              </a:endParaRPr>
            </a:p>
          </p:txBody>
        </p:sp>
        <p:sp>
          <p:nvSpPr>
            <p:cNvPr id="475" name="Google Shape;475;h5adeb616bbd9c3b0_0_3"/>
            <p:cNvSpPr txBox="1"/>
            <p:nvPr/>
          </p:nvSpPr>
          <p:spPr>
            <a:xfrm>
              <a:off x="-3979592" y="140234"/>
              <a:ext cx="3543300" cy="974400"/>
            </a:xfrm>
            <a:prstGeom prst="rect">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chemeClr val="lt1"/>
                  </a:solidFill>
                  <a:latin typeface="Verdana"/>
                  <a:ea typeface="Verdana"/>
                  <a:cs typeface="Verdana"/>
                  <a:sym typeface="Verdana"/>
                </a:rPr>
                <a:t>FINDINGS:</a:t>
              </a:r>
              <a:endParaRPr sz="1600" b="1">
                <a:solidFill>
                  <a:schemeClr val="lt1"/>
                </a:solidFill>
                <a:latin typeface="Verdana"/>
                <a:ea typeface="Verdana"/>
                <a:cs typeface="Verdana"/>
                <a:sym typeface="Verdana"/>
              </a:endParaRPr>
            </a:p>
            <a:p>
              <a:pPr marL="0" lvl="0" indent="0" algn="l" rtl="0">
                <a:spcBef>
                  <a:spcPts val="0"/>
                </a:spcBef>
                <a:spcAft>
                  <a:spcPts val="0"/>
                </a:spcAft>
                <a:buNone/>
              </a:pPr>
              <a:r>
                <a:rPr lang="en-US" sz="2700" b="1">
                  <a:solidFill>
                    <a:schemeClr val="lt1"/>
                  </a:solidFill>
                  <a:latin typeface="Verdana"/>
                  <a:ea typeface="Verdana"/>
                  <a:cs typeface="Verdana"/>
                  <a:sym typeface="Verdana"/>
                </a:rPr>
                <a:t>Single Models remains 1st choice</a:t>
              </a:r>
              <a:r>
                <a:rPr lang="en-US" sz="1800">
                  <a:solidFill>
                    <a:schemeClr val="lt1"/>
                  </a:solidFill>
                  <a:latin typeface="Verdana"/>
                  <a:ea typeface="Verdana"/>
                  <a:cs typeface="Verdana"/>
                  <a:sym typeface="Verdana"/>
                </a:rPr>
                <a:t> </a:t>
              </a:r>
              <a:endParaRPr sz="1800">
                <a:solidFill>
                  <a:schemeClr val="lt1"/>
                </a:solidFill>
                <a:latin typeface="Verdana"/>
                <a:ea typeface="Verdana"/>
                <a:cs typeface="Verdana"/>
                <a:sym typeface="Verdana"/>
              </a:endParaRPr>
            </a:p>
            <a:p>
              <a:pPr marL="0" lvl="0" indent="0" algn="l" rtl="0">
                <a:spcBef>
                  <a:spcPts val="0"/>
                </a:spcBef>
                <a:spcAft>
                  <a:spcPts val="0"/>
                </a:spcAft>
                <a:buNone/>
              </a:pPr>
              <a:r>
                <a:rPr lang="en-US" sz="1600">
                  <a:solidFill>
                    <a:schemeClr val="lt1"/>
                  </a:solidFill>
                  <a:latin typeface="Verdana"/>
                  <a:ea typeface="Verdana"/>
                  <a:cs typeface="Verdana"/>
                  <a:sym typeface="Verdana"/>
                </a:rPr>
                <a:t>as ensemble models’ marginal benefits of +1 to +3 image improvements across 3 repeats does not outweigh inference costs</a:t>
              </a:r>
              <a:endParaRPr sz="1900" b="0">
                <a:solidFill>
                  <a:schemeClr val="lt1"/>
                </a:solidFill>
                <a:latin typeface="Verdana"/>
                <a:ea typeface="Verdana"/>
                <a:cs typeface="Verdana"/>
                <a:sym typeface="Verdan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sp>
        <p:nvSpPr>
          <p:cNvPr id="501" name="Google Shape;501;h34df98e288c5b089_0_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14</a:t>
            </a:r>
            <a:endParaRPr/>
          </a:p>
        </p:txBody>
      </p:sp>
      <p:sp>
        <p:nvSpPr>
          <p:cNvPr id="502" name="Google Shape;502;h34df98e288c5b089_0_0"/>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Single Models vs Ensemble Models</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1900">
                <a:solidFill>
                  <a:srgbClr val="12293A"/>
                </a:solidFill>
                <a:latin typeface="Verdana"/>
                <a:ea typeface="Verdana"/>
                <a:cs typeface="Verdana"/>
                <a:sym typeface="Verdana"/>
              </a:rPr>
              <a:t>Defect Type Classifier: Re-runs with 3 repeats, 5-folds Cross Validation</a:t>
            </a:r>
            <a:endParaRPr sz="1900"/>
          </a:p>
        </p:txBody>
      </p:sp>
      <p:graphicFrame>
        <p:nvGraphicFramePr>
          <p:cNvPr id="503" name="Google Shape;503;h34df98e288c5b089_0_0"/>
          <p:cNvGraphicFramePr/>
          <p:nvPr/>
        </p:nvGraphicFramePr>
        <p:xfrm>
          <a:off x="707513" y="1537888"/>
          <a:ext cx="3722200" cy="3288821"/>
        </p:xfrm>
        <a:graphic>
          <a:graphicData uri="http://schemas.openxmlformats.org/drawingml/2006/table">
            <a:tbl>
              <a:tblPr>
                <a:noFill/>
                <a:tableStyleId>{89359D83-5457-4402-8951-C3CEC1CC7011}</a:tableStyleId>
              </a:tblPr>
              <a:tblGrid>
                <a:gridCol w="1055575">
                  <a:extLst>
                    <a:ext uri="{9D8B030D-6E8A-4147-A177-3AD203B41FA5}">
                      <a16:colId xmlns:a16="http://schemas.microsoft.com/office/drawing/2014/main" val="20000"/>
                    </a:ext>
                  </a:extLst>
                </a:gridCol>
                <a:gridCol w="875550">
                  <a:extLst>
                    <a:ext uri="{9D8B030D-6E8A-4147-A177-3AD203B41FA5}">
                      <a16:colId xmlns:a16="http://schemas.microsoft.com/office/drawing/2014/main" val="20001"/>
                    </a:ext>
                  </a:extLst>
                </a:gridCol>
                <a:gridCol w="905550">
                  <a:extLst>
                    <a:ext uri="{9D8B030D-6E8A-4147-A177-3AD203B41FA5}">
                      <a16:colId xmlns:a16="http://schemas.microsoft.com/office/drawing/2014/main" val="20002"/>
                    </a:ext>
                  </a:extLst>
                </a:gridCol>
                <a:gridCol w="885525">
                  <a:extLst>
                    <a:ext uri="{9D8B030D-6E8A-4147-A177-3AD203B41FA5}">
                      <a16:colId xmlns:a16="http://schemas.microsoft.com/office/drawing/2014/main" val="20003"/>
                    </a:ext>
                  </a:extLst>
                </a:gridCol>
              </a:tblGrid>
              <a:tr h="512550">
                <a:tc>
                  <a:txBody>
                    <a:bodyPr/>
                    <a:lstStyle/>
                    <a:p>
                      <a:pPr marL="0" lvl="0" indent="0" algn="l" rtl="0">
                        <a:lnSpc>
                          <a:spcPct val="115000"/>
                        </a:lnSpc>
                        <a:spcBef>
                          <a:spcPts val="0"/>
                        </a:spcBef>
                        <a:spcAft>
                          <a:spcPts val="0"/>
                        </a:spcAft>
                        <a:buNone/>
                      </a:pPr>
                      <a:r>
                        <a:rPr lang="en-US" sz="800" b="1">
                          <a:solidFill>
                            <a:schemeClr val="lt1"/>
                          </a:solidFill>
                          <a:latin typeface="Verdana"/>
                          <a:ea typeface="Verdana"/>
                          <a:cs typeface="Verdana"/>
                          <a:sym typeface="Verdana"/>
                        </a:rPr>
                        <a:t>Pill / strategy</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accuracy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macro-F1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Correct across 3 repeats</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ConvNeXt-Tiny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0.745 ± 0.021</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0.751 ± 0.018</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315 / 423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355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ResNet18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0.605 ± 0.015</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0.638 ± 0.013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256 / 423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64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EfficientNet-B0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0.626 ± 0.017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0.662 ± 0.015</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265 / 423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DenseNet121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0.664 ± 0.012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0.687 ± 0.022</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281 / 423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659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four-model hard vote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0.761 ± 0.013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0.775 ± 0.013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322 / 423</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96050">
                <a:tc>
                  <a:txBody>
                    <a:bodyPr/>
                    <a:lstStyle/>
                    <a:p>
                      <a:pPr marL="0" lvl="0" indent="0" algn="l" rtl="0">
                        <a:lnSpc>
                          <a:spcPct val="115000"/>
                        </a:lnSpc>
                        <a:spcBef>
                          <a:spcPts val="0"/>
                        </a:spcBef>
                        <a:spcAft>
                          <a:spcPts val="0"/>
                        </a:spcAft>
                        <a:buNone/>
                      </a:pPr>
                      <a:r>
                        <a:rPr lang="en-US" sz="800" b="1">
                          <a:solidFill>
                            <a:schemeClr val="dk2"/>
                          </a:solidFill>
                          <a:latin typeface="Verdana"/>
                          <a:ea typeface="Verdana"/>
                          <a:cs typeface="Verdana"/>
                          <a:sym typeface="Verdana"/>
                        </a:rPr>
                        <a:t>four-model equal soft vote</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0.766 ± 0.015</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0.778 ± 0.013</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324 / 423</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6"/>
                  </a:ext>
                </a:extLst>
              </a:tr>
              <a:tr h="3722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ConvNeXt-heavy soft vote (70/10/10/10)</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0.766 ± 0.021</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0.774 ± 0.022</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324 / 423</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extLst>
                  <a:ext uri="{0D108BD9-81ED-4DB2-BD59-A6C34878D82A}">
                    <a16:rowId xmlns:a16="http://schemas.microsoft.com/office/drawing/2014/main" val="10007"/>
                  </a:ext>
                </a:extLst>
              </a:tr>
            </a:tbl>
          </a:graphicData>
        </a:graphic>
      </p:graphicFrame>
      <p:graphicFrame>
        <p:nvGraphicFramePr>
          <p:cNvPr id="504" name="Google Shape;504;h34df98e288c5b089_0_0"/>
          <p:cNvGraphicFramePr/>
          <p:nvPr/>
        </p:nvGraphicFramePr>
        <p:xfrm>
          <a:off x="4613188" y="1540850"/>
          <a:ext cx="3722200" cy="3569174"/>
        </p:xfrm>
        <a:graphic>
          <a:graphicData uri="http://schemas.openxmlformats.org/drawingml/2006/table">
            <a:tbl>
              <a:tblPr>
                <a:noFill/>
                <a:tableStyleId>{89359D83-5457-4402-8951-C3CEC1CC7011}</a:tableStyleId>
              </a:tblPr>
              <a:tblGrid>
                <a:gridCol w="1055575">
                  <a:extLst>
                    <a:ext uri="{9D8B030D-6E8A-4147-A177-3AD203B41FA5}">
                      <a16:colId xmlns:a16="http://schemas.microsoft.com/office/drawing/2014/main" val="20000"/>
                    </a:ext>
                  </a:extLst>
                </a:gridCol>
                <a:gridCol w="875550">
                  <a:extLst>
                    <a:ext uri="{9D8B030D-6E8A-4147-A177-3AD203B41FA5}">
                      <a16:colId xmlns:a16="http://schemas.microsoft.com/office/drawing/2014/main" val="20001"/>
                    </a:ext>
                  </a:extLst>
                </a:gridCol>
                <a:gridCol w="905550">
                  <a:extLst>
                    <a:ext uri="{9D8B030D-6E8A-4147-A177-3AD203B41FA5}">
                      <a16:colId xmlns:a16="http://schemas.microsoft.com/office/drawing/2014/main" val="20002"/>
                    </a:ext>
                  </a:extLst>
                </a:gridCol>
                <a:gridCol w="885525">
                  <a:extLst>
                    <a:ext uri="{9D8B030D-6E8A-4147-A177-3AD203B41FA5}">
                      <a16:colId xmlns:a16="http://schemas.microsoft.com/office/drawing/2014/main" val="20003"/>
                    </a:ext>
                  </a:extLst>
                </a:gridCol>
              </a:tblGrid>
              <a:tr h="512550">
                <a:tc>
                  <a:txBody>
                    <a:bodyPr/>
                    <a:lstStyle/>
                    <a:p>
                      <a:pPr marL="0" lvl="0" indent="0" algn="l" rtl="0">
                        <a:lnSpc>
                          <a:spcPct val="115000"/>
                        </a:lnSpc>
                        <a:spcBef>
                          <a:spcPts val="0"/>
                        </a:spcBef>
                        <a:spcAft>
                          <a:spcPts val="0"/>
                        </a:spcAft>
                        <a:buNone/>
                      </a:pPr>
                      <a:r>
                        <a:rPr lang="en-US" sz="800" b="1">
                          <a:solidFill>
                            <a:schemeClr val="lt1"/>
                          </a:solidFill>
                          <a:latin typeface="Verdana"/>
                          <a:ea typeface="Verdana"/>
                          <a:cs typeface="Verdana"/>
                          <a:sym typeface="Verdana"/>
                        </a:rPr>
                        <a:t>Capsule / strategy</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accuracy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Mean CV macro-F1 ± SD</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0"/>
                        </a:spcAft>
                        <a:buNone/>
                      </a:pPr>
                      <a:r>
                        <a:rPr lang="en-US" sz="800" b="1">
                          <a:solidFill>
                            <a:schemeClr val="lt1"/>
                          </a:solidFill>
                          <a:latin typeface="Verdana"/>
                          <a:ea typeface="Verdana"/>
                          <a:cs typeface="Verdana"/>
                          <a:sym typeface="Verdana"/>
                        </a:rPr>
                        <a:t>Correct across 3 repeats</a:t>
                      </a:r>
                      <a:endParaRPr sz="8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71025">
                <a:tc>
                  <a:txBody>
                    <a:bodyPr/>
                    <a:lstStyle/>
                    <a:p>
                      <a:pPr marL="0" lvl="0" indent="0" algn="l" rtl="0">
                        <a:lnSpc>
                          <a:spcPct val="115000"/>
                        </a:lnSpc>
                        <a:spcBef>
                          <a:spcPts val="0"/>
                        </a:spcBef>
                        <a:spcAft>
                          <a:spcPts val="0"/>
                        </a:spcAft>
                        <a:buNone/>
                      </a:pPr>
                      <a:r>
                        <a:rPr lang="en-US" sz="800" b="1">
                          <a:solidFill>
                            <a:schemeClr val="dk2"/>
                          </a:solidFill>
                          <a:latin typeface="Verdana"/>
                          <a:ea typeface="Verdana"/>
                          <a:cs typeface="Verdana"/>
                          <a:sym typeface="Verdana"/>
                        </a:rPr>
                        <a:t>ConvNeXt-Tiny single</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0.771 ± 0.020</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0.777 ± 0.021</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tc>
                  <a:txBody>
                    <a:bodyPr/>
                    <a:lstStyle/>
                    <a:p>
                      <a:pPr marL="0" lvl="0" indent="0" algn="r" rtl="0">
                        <a:lnSpc>
                          <a:spcPct val="115000"/>
                        </a:lnSpc>
                        <a:spcBef>
                          <a:spcPts val="0"/>
                        </a:spcBef>
                        <a:spcAft>
                          <a:spcPts val="0"/>
                        </a:spcAft>
                        <a:buNone/>
                      </a:pPr>
                      <a:r>
                        <a:rPr lang="en-US" sz="800" b="1">
                          <a:solidFill>
                            <a:schemeClr val="dk2"/>
                          </a:solidFill>
                          <a:latin typeface="Verdana"/>
                          <a:ea typeface="Verdana"/>
                          <a:cs typeface="Verdana"/>
                          <a:sym typeface="Verdana"/>
                        </a:rPr>
                        <a:t>252 / 327</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1"/>
                  </a:ext>
                </a:extLst>
              </a:tr>
              <a:tr h="2355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ResNet18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0.584 ± 0.049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0.587 ± 0.046</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191 / 327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647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EfficientNet-B0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0.572 ± 0.009</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0.577 ± 0.008</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187 / 327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71025">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DenseNet121 single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0.688 ± 0.054</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0.693 ± 0.058</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225 / 327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659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four-model hard vote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0.758 ± 0.004</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0.763 ± 0.004</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248 / 327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96050">
                <a:tc>
                  <a:txBody>
                    <a:bodyPr/>
                    <a:lstStyle/>
                    <a:p>
                      <a:pPr marL="0" lvl="0" indent="0" algn="l" rtl="0">
                        <a:lnSpc>
                          <a:spcPct val="115000"/>
                        </a:lnSpc>
                        <a:spcBef>
                          <a:spcPts val="0"/>
                        </a:spcBef>
                        <a:spcAft>
                          <a:spcPts val="0"/>
                        </a:spcAft>
                        <a:buNone/>
                      </a:pPr>
                      <a:r>
                        <a:rPr lang="en-US" sz="800">
                          <a:solidFill>
                            <a:schemeClr val="dk2"/>
                          </a:solidFill>
                          <a:latin typeface="Verdana"/>
                          <a:ea typeface="Verdana"/>
                          <a:cs typeface="Verdana"/>
                          <a:sym typeface="Verdana"/>
                        </a:rPr>
                        <a:t>four-model equal soft vote</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0.774 ± 0.016</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0.779 ± 0.016</a:t>
                      </a:r>
                      <a:endParaRPr sz="8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800">
                          <a:solidFill>
                            <a:schemeClr val="dk2"/>
                          </a:solidFill>
                          <a:latin typeface="Verdana"/>
                          <a:ea typeface="Verdana"/>
                          <a:cs typeface="Verdana"/>
                          <a:sym typeface="Verdana"/>
                        </a:rPr>
                        <a:t>253 / 327</a:t>
                      </a:r>
                      <a:endParaRPr sz="8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72250">
                <a:tc>
                  <a:txBody>
                    <a:bodyPr/>
                    <a:lstStyle/>
                    <a:p>
                      <a:pPr marL="0" lvl="0" indent="0" algn="l" rtl="0">
                        <a:lnSpc>
                          <a:spcPct val="115000"/>
                        </a:lnSpc>
                        <a:spcBef>
                          <a:spcPts val="0"/>
                        </a:spcBef>
                        <a:spcAft>
                          <a:spcPts val="0"/>
                        </a:spcAft>
                        <a:buNone/>
                      </a:pPr>
                      <a:r>
                        <a:rPr lang="en-US" sz="800" b="1">
                          <a:solidFill>
                            <a:srgbClr val="991B1B"/>
                          </a:solidFill>
                          <a:latin typeface="Verdana"/>
                          <a:ea typeface="Verdana"/>
                          <a:cs typeface="Verdana"/>
                          <a:sym typeface="Verdana"/>
                        </a:rPr>
                        <a:t>ConvNeXt-heavy soft vote (70/10/10/10)</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0.780 ± 0.027</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0.786 ± 0.028</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solidFill>
                      <a:srgbClr val="FEE2E2"/>
                    </a:solidFill>
                  </a:tcPr>
                </a:tc>
                <a:tc>
                  <a:txBody>
                    <a:bodyPr/>
                    <a:lstStyle/>
                    <a:p>
                      <a:pPr marL="0" lvl="0" indent="0" algn="r" rtl="0">
                        <a:lnSpc>
                          <a:spcPct val="115000"/>
                        </a:lnSpc>
                        <a:spcBef>
                          <a:spcPts val="0"/>
                        </a:spcBef>
                        <a:spcAft>
                          <a:spcPts val="0"/>
                        </a:spcAft>
                        <a:buNone/>
                      </a:pPr>
                      <a:r>
                        <a:rPr lang="en-US" sz="800" b="1">
                          <a:solidFill>
                            <a:srgbClr val="991B1B"/>
                          </a:solidFill>
                          <a:latin typeface="Verdana"/>
                          <a:ea typeface="Verdana"/>
                          <a:cs typeface="Verdana"/>
                          <a:sym typeface="Verdana"/>
                        </a:rPr>
                        <a:t>255 / 327</a:t>
                      </a:r>
                      <a:endParaRPr sz="800" b="1">
                        <a:solidFill>
                          <a:srgbClr val="991B1B"/>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solidFill>
                      <a:srgbClr val="FEE2E2"/>
                    </a:solidFill>
                  </a:tcPr>
                </a:tc>
                <a:extLst>
                  <a:ext uri="{0D108BD9-81ED-4DB2-BD59-A6C34878D82A}">
                    <a16:rowId xmlns:a16="http://schemas.microsoft.com/office/drawing/2014/main" val="10007"/>
                  </a:ext>
                </a:extLst>
              </a:tr>
            </a:tbl>
          </a:graphicData>
        </a:graphic>
      </p:graphicFrame>
      <p:grpSp>
        <p:nvGrpSpPr>
          <p:cNvPr id="505" name="Google Shape;505;h34df98e288c5b089_0_0"/>
          <p:cNvGrpSpPr/>
          <p:nvPr/>
        </p:nvGrpSpPr>
        <p:grpSpPr>
          <a:xfrm>
            <a:off x="1036829" y="5281220"/>
            <a:ext cx="3063583" cy="1359144"/>
            <a:chOff x="-4208187" y="1238400"/>
            <a:chExt cx="4000500" cy="1238400"/>
          </a:xfrm>
        </p:grpSpPr>
        <p:sp>
          <p:nvSpPr>
            <p:cNvPr id="506" name="Google Shape;506;h34df98e288c5b089_0_0"/>
            <p:cNvSpPr/>
            <p:nvPr/>
          </p:nvSpPr>
          <p:spPr>
            <a:xfrm>
              <a:off x="-4208187" y="1238400"/>
              <a:ext cx="4000500" cy="1238400"/>
            </a:xfrm>
            <a:prstGeom prst="roundRect">
              <a:avLst>
                <a:gd name="adj" fmla="val 6153"/>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lt1"/>
                </a:solidFill>
              </a:endParaRPr>
            </a:p>
          </p:txBody>
        </p:sp>
        <p:sp>
          <p:nvSpPr>
            <p:cNvPr id="507" name="Google Shape;507;h34df98e288c5b089_0_0"/>
            <p:cNvSpPr txBox="1"/>
            <p:nvPr/>
          </p:nvSpPr>
          <p:spPr>
            <a:xfrm>
              <a:off x="-3979587" y="1428900"/>
              <a:ext cx="3543300" cy="857400"/>
            </a:xfrm>
            <a:prstGeom prst="rect">
              <a:avLst/>
            </a:prstGeom>
            <a:solidFill>
              <a:srgbClr val="007E87"/>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lt1"/>
                  </a:solidFill>
                  <a:latin typeface="Verdana"/>
                  <a:ea typeface="Verdana"/>
                  <a:cs typeface="Verdana"/>
                  <a:sym typeface="Verdana"/>
                </a:rPr>
                <a:t>PILL:</a:t>
              </a:r>
              <a:endParaRPr sz="1000" b="1">
                <a:solidFill>
                  <a:schemeClr val="lt1"/>
                </a:solidFill>
                <a:latin typeface="Verdana"/>
                <a:ea typeface="Verdana"/>
                <a:cs typeface="Verdana"/>
                <a:sym typeface="Verdana"/>
              </a:endParaRPr>
            </a:p>
            <a:p>
              <a:pPr marL="0" lvl="0" indent="0" algn="l" rtl="0">
                <a:spcBef>
                  <a:spcPts val="0"/>
                </a:spcBef>
                <a:spcAft>
                  <a:spcPts val="0"/>
                </a:spcAft>
                <a:buNone/>
              </a:pPr>
              <a:r>
                <a:rPr lang="en-US" sz="2400" b="1">
                  <a:solidFill>
                    <a:schemeClr val="lt1"/>
                  </a:solidFill>
                  <a:latin typeface="Verdana"/>
                  <a:ea typeface="Verdana"/>
                  <a:cs typeface="Verdana"/>
                  <a:sym typeface="Verdana"/>
                </a:rPr>
                <a:t>4-Model equal soft vote </a:t>
              </a:r>
              <a:endParaRPr sz="2400" b="1">
                <a:solidFill>
                  <a:schemeClr val="lt1"/>
                </a:solidFill>
                <a:latin typeface="Verdana"/>
                <a:ea typeface="Verdana"/>
                <a:cs typeface="Verdana"/>
                <a:sym typeface="Verdana"/>
              </a:endParaRPr>
            </a:p>
            <a:p>
              <a:pPr marL="0" lvl="0" indent="0" algn="l" rtl="0">
                <a:spcBef>
                  <a:spcPts val="0"/>
                </a:spcBef>
                <a:spcAft>
                  <a:spcPts val="0"/>
                </a:spcAft>
                <a:buNone/>
              </a:pPr>
              <a:r>
                <a:rPr lang="en-US" sz="1000">
                  <a:solidFill>
                    <a:schemeClr val="lt1"/>
                  </a:solidFill>
                  <a:latin typeface="Verdana"/>
                  <a:ea typeface="Verdana"/>
                  <a:cs typeface="Verdana"/>
                  <a:sym typeface="Verdana"/>
                </a:rPr>
                <a:t>Ensemble Model displaces DenseNet121</a:t>
              </a:r>
              <a:endParaRPr sz="1000" b="0">
                <a:solidFill>
                  <a:schemeClr val="lt1"/>
                </a:solidFill>
                <a:latin typeface="Verdana"/>
                <a:ea typeface="Verdana"/>
                <a:cs typeface="Verdana"/>
                <a:sym typeface="Verdana"/>
              </a:endParaRPr>
            </a:p>
          </p:txBody>
        </p:sp>
      </p:grpSp>
      <p:grpSp>
        <p:nvGrpSpPr>
          <p:cNvPr id="508" name="Google Shape;508;h34df98e288c5b089_0_0"/>
          <p:cNvGrpSpPr/>
          <p:nvPr/>
        </p:nvGrpSpPr>
        <p:grpSpPr>
          <a:xfrm>
            <a:off x="4942488" y="5281223"/>
            <a:ext cx="3063583" cy="1359144"/>
            <a:chOff x="-8878254" y="334855"/>
            <a:chExt cx="4000500" cy="1238400"/>
          </a:xfrm>
        </p:grpSpPr>
        <p:sp>
          <p:nvSpPr>
            <p:cNvPr id="509" name="Google Shape;509;h34df98e288c5b089_0_0"/>
            <p:cNvSpPr/>
            <p:nvPr/>
          </p:nvSpPr>
          <p:spPr>
            <a:xfrm>
              <a:off x="-8878254" y="334855"/>
              <a:ext cx="4000500" cy="1238400"/>
            </a:xfrm>
            <a:prstGeom prst="roundRect">
              <a:avLst>
                <a:gd name="adj" fmla="val 6153"/>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endParaRPr>
                <a:solidFill>
                  <a:schemeClr val="dk2"/>
                </a:solidFill>
              </a:endParaRPr>
            </a:p>
          </p:txBody>
        </p:sp>
        <p:sp>
          <p:nvSpPr>
            <p:cNvPr id="510" name="Google Shape;510;h34df98e288c5b089_0_0"/>
            <p:cNvSpPr txBox="1"/>
            <p:nvPr/>
          </p:nvSpPr>
          <p:spPr>
            <a:xfrm>
              <a:off x="-8649671" y="525345"/>
              <a:ext cx="3543300" cy="857400"/>
            </a:xfrm>
            <a:prstGeom prst="rect">
              <a:avLst/>
            </a:prstGeom>
            <a:solidFill>
              <a:srgbClr val="E8E8E8"/>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000" b="1">
                  <a:solidFill>
                    <a:schemeClr val="dk2"/>
                  </a:solidFill>
                  <a:latin typeface="Verdana"/>
                  <a:ea typeface="Verdana"/>
                  <a:cs typeface="Verdana"/>
                  <a:sym typeface="Verdana"/>
                </a:rPr>
                <a:t>CAPSULE:</a:t>
              </a:r>
              <a:endParaRPr sz="1000" b="1">
                <a:solidFill>
                  <a:schemeClr val="dk2"/>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US" sz="2400" b="1">
                  <a:solidFill>
                    <a:schemeClr val="dk2"/>
                  </a:solidFill>
                  <a:latin typeface="Verdana"/>
                  <a:ea typeface="Verdana"/>
                  <a:cs typeface="Verdana"/>
                  <a:sym typeface="Verdana"/>
                </a:rPr>
                <a:t>ConvNeXt-Tiny</a:t>
              </a:r>
              <a:endParaRPr sz="2400" b="1">
                <a:solidFill>
                  <a:schemeClr val="dk2"/>
                </a:solidFill>
                <a:latin typeface="Verdana"/>
                <a:ea typeface="Verdana"/>
                <a:cs typeface="Verdana"/>
                <a:sym typeface="Verdana"/>
              </a:endParaRPr>
            </a:p>
            <a:p>
              <a:pPr marL="0" lvl="0" indent="0" algn="l" rtl="0">
                <a:spcBef>
                  <a:spcPts val="0"/>
                </a:spcBef>
                <a:spcAft>
                  <a:spcPts val="0"/>
                </a:spcAft>
                <a:buNone/>
              </a:pPr>
              <a:r>
                <a:rPr lang="en-US" sz="1000">
                  <a:solidFill>
                    <a:schemeClr val="dk2"/>
                  </a:solidFill>
                  <a:latin typeface="Verdana"/>
                  <a:ea typeface="Verdana"/>
                  <a:cs typeface="Verdana"/>
                  <a:sym typeface="Verdana"/>
                </a:rPr>
                <a:t>Single Model remains 1st choice as ensemble model marginal benefits of +3 image improvements across 3 repeats were within noise and does not outweigh inference costs</a:t>
              </a:r>
              <a:endParaRPr sz="1000" b="0">
                <a:solidFill>
                  <a:schemeClr val="dk2"/>
                </a:solidFill>
                <a:latin typeface="Verdana"/>
                <a:ea typeface="Verdana"/>
                <a:cs typeface="Verdana"/>
                <a:sym typeface="Verdana"/>
              </a:endParaRPr>
            </a:p>
          </p:txBody>
        </p:sp>
      </p:grpSp>
      <p:grpSp>
        <p:nvGrpSpPr>
          <p:cNvPr id="511" name="Google Shape;511;h34df98e288c5b089_0_0"/>
          <p:cNvGrpSpPr/>
          <p:nvPr/>
        </p:nvGrpSpPr>
        <p:grpSpPr>
          <a:xfrm>
            <a:off x="8594442" y="1540850"/>
            <a:ext cx="3063583" cy="4472729"/>
            <a:chOff x="-4208187" y="0"/>
            <a:chExt cx="4000500" cy="1238400"/>
          </a:xfrm>
        </p:grpSpPr>
        <p:sp>
          <p:nvSpPr>
            <p:cNvPr id="512" name="Google Shape;512;h34df98e288c5b089_0_0"/>
            <p:cNvSpPr/>
            <p:nvPr/>
          </p:nvSpPr>
          <p:spPr>
            <a:xfrm>
              <a:off x="-4208187" y="0"/>
              <a:ext cx="4000500" cy="1238400"/>
            </a:xfrm>
            <a:prstGeom prst="roundRect">
              <a:avLst>
                <a:gd name="adj" fmla="val 6153"/>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endParaRPr sz="2300">
                <a:solidFill>
                  <a:schemeClr val="lt1"/>
                </a:solidFill>
              </a:endParaRPr>
            </a:p>
          </p:txBody>
        </p:sp>
        <p:sp>
          <p:nvSpPr>
            <p:cNvPr id="513" name="Google Shape;513;h34df98e288c5b089_0_0"/>
            <p:cNvSpPr txBox="1"/>
            <p:nvPr/>
          </p:nvSpPr>
          <p:spPr>
            <a:xfrm>
              <a:off x="-3979592" y="140234"/>
              <a:ext cx="3543300" cy="974400"/>
            </a:xfrm>
            <a:prstGeom prst="rect">
              <a:avLst/>
            </a:prstGeom>
            <a:solidFill>
              <a:schemeClr val="dk2"/>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chemeClr val="lt1"/>
                  </a:solidFill>
                  <a:latin typeface="Verdana"/>
                  <a:ea typeface="Verdana"/>
                  <a:cs typeface="Verdana"/>
                  <a:sym typeface="Verdana"/>
                </a:rPr>
                <a:t>FINDINGS:</a:t>
              </a:r>
              <a:endParaRPr sz="1600" b="1">
                <a:solidFill>
                  <a:schemeClr val="lt1"/>
                </a:solidFill>
                <a:latin typeface="Verdana"/>
                <a:ea typeface="Verdana"/>
                <a:cs typeface="Verdana"/>
                <a:sym typeface="Verdana"/>
              </a:endParaRPr>
            </a:p>
            <a:p>
              <a:pPr marL="0" lvl="0" indent="0" algn="l" rtl="0">
                <a:spcBef>
                  <a:spcPts val="0"/>
                </a:spcBef>
                <a:spcAft>
                  <a:spcPts val="0"/>
                </a:spcAft>
                <a:buNone/>
              </a:pPr>
              <a:r>
                <a:rPr lang="en-US" sz="2800" b="1">
                  <a:solidFill>
                    <a:schemeClr val="lt1"/>
                  </a:solidFill>
                  <a:latin typeface="Verdana"/>
                  <a:ea typeface="Verdana"/>
                  <a:cs typeface="Verdana"/>
                  <a:sym typeface="Verdana"/>
                </a:rPr>
                <a:t>Ensemble Model only works for Pill</a:t>
              </a:r>
              <a:endParaRPr sz="1900">
                <a:solidFill>
                  <a:schemeClr val="lt1"/>
                </a:solidFill>
                <a:latin typeface="Verdana"/>
                <a:ea typeface="Verdana"/>
                <a:cs typeface="Verdana"/>
                <a:sym typeface="Verdana"/>
              </a:endParaRPr>
            </a:p>
            <a:p>
              <a:pPr marL="0" lvl="0" indent="0" algn="l" rtl="0">
                <a:spcBef>
                  <a:spcPts val="0"/>
                </a:spcBef>
                <a:spcAft>
                  <a:spcPts val="0"/>
                </a:spcAft>
                <a:buNone/>
              </a:pPr>
              <a:r>
                <a:rPr lang="en-US" sz="1600">
                  <a:solidFill>
                    <a:schemeClr val="lt1"/>
                  </a:solidFill>
                  <a:latin typeface="Verdana"/>
                  <a:ea typeface="Verdana"/>
                  <a:cs typeface="Verdana"/>
                  <a:sym typeface="Verdana"/>
                </a:rPr>
                <a:t>as the benefits of +9 image improvements across 3 repeats outweigh inference costs</a:t>
              </a:r>
              <a:endParaRPr sz="1900" b="0">
                <a:solidFill>
                  <a:schemeClr val="lt1"/>
                </a:solidFill>
                <a:latin typeface="Verdana"/>
                <a:ea typeface="Verdana"/>
                <a:cs typeface="Verdana"/>
                <a:sym typeface="Verdan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5"/>
        <p:cNvGrpSpPr/>
        <p:nvPr/>
      </p:nvGrpSpPr>
      <p:grpSpPr>
        <a:xfrm>
          <a:off x="0" y="0"/>
          <a:ext cx="0" cy="0"/>
          <a:chOff x="0" y="0"/>
          <a:chExt cx="0" cy="0"/>
        </a:xfrm>
      </p:grpSpPr>
      <p:sp>
        <p:nvSpPr>
          <p:cNvPr id="536" name="Google Shape;536;h3d51a6db47a0baff_0_68"/>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15</a:t>
            </a:r>
            <a:endParaRPr/>
          </a:p>
        </p:txBody>
      </p:sp>
      <p:sp>
        <p:nvSpPr>
          <p:cNvPr id="537" name="Google Shape;537;h3d51a6db47a0baff_0_68"/>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Final Defect-Type Classifier Performance</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2000">
                <a:solidFill>
                  <a:srgbClr val="12293A"/>
                </a:solidFill>
                <a:latin typeface="Verdana"/>
                <a:ea typeface="Verdana"/>
                <a:cs typeface="Verdana"/>
                <a:sym typeface="Verdana"/>
              </a:rPr>
              <a:t>Hybrid: Category-routed Supervised / Ensemble Model</a:t>
            </a:r>
            <a:endParaRPr sz="2000"/>
          </a:p>
        </p:txBody>
      </p:sp>
      <p:graphicFrame>
        <p:nvGraphicFramePr>
          <p:cNvPr id="538" name="Google Shape;538;h3d51a6db47a0baff_0_68"/>
          <p:cNvGraphicFramePr/>
          <p:nvPr/>
        </p:nvGraphicFramePr>
        <p:xfrm>
          <a:off x="609600" y="1924038"/>
          <a:ext cx="10972800" cy="2512379"/>
        </p:xfrm>
        <a:graphic>
          <a:graphicData uri="http://schemas.openxmlformats.org/drawingml/2006/table">
            <a:tbl>
              <a:tblPr>
                <a:noFill/>
                <a:tableStyleId>{89359D83-5457-4402-8951-C3CEC1CC7011}</a:tableStyleId>
              </a:tblPr>
              <a:tblGrid>
                <a:gridCol w="4915350">
                  <a:extLst>
                    <a:ext uri="{9D8B030D-6E8A-4147-A177-3AD203B41FA5}">
                      <a16:colId xmlns:a16="http://schemas.microsoft.com/office/drawing/2014/main" val="20000"/>
                    </a:ext>
                  </a:extLst>
                </a:gridCol>
                <a:gridCol w="2019150">
                  <a:extLst>
                    <a:ext uri="{9D8B030D-6E8A-4147-A177-3AD203B41FA5}">
                      <a16:colId xmlns:a16="http://schemas.microsoft.com/office/drawing/2014/main" val="20001"/>
                    </a:ext>
                  </a:extLst>
                </a:gridCol>
                <a:gridCol w="2019150">
                  <a:extLst>
                    <a:ext uri="{9D8B030D-6E8A-4147-A177-3AD203B41FA5}">
                      <a16:colId xmlns:a16="http://schemas.microsoft.com/office/drawing/2014/main" val="20002"/>
                    </a:ext>
                  </a:extLst>
                </a:gridCol>
                <a:gridCol w="2019150">
                  <a:extLst>
                    <a:ext uri="{9D8B030D-6E8A-4147-A177-3AD203B41FA5}">
                      <a16:colId xmlns:a16="http://schemas.microsoft.com/office/drawing/2014/main" val="20003"/>
                    </a:ext>
                  </a:extLst>
                </a:gridCol>
              </a:tblGrid>
              <a:tr h="0">
                <a:tc>
                  <a:txBody>
                    <a:bodyPr/>
                    <a:lstStyle/>
                    <a:p>
                      <a:pPr marL="0" lvl="0" indent="0" algn="l" rtl="0">
                        <a:lnSpc>
                          <a:spcPct val="115000"/>
                        </a:lnSpc>
                        <a:spcBef>
                          <a:spcPts val="0"/>
                        </a:spcBef>
                        <a:spcAft>
                          <a:spcPts val="800"/>
                        </a:spcAft>
                        <a:buNone/>
                      </a:pPr>
                      <a:r>
                        <a:rPr lang="en-US" sz="1600" b="1">
                          <a:solidFill>
                            <a:schemeClr val="lt1"/>
                          </a:solidFill>
                          <a:latin typeface="Verdana"/>
                          <a:ea typeface="Verdana"/>
                          <a:cs typeface="Verdana"/>
                          <a:sym typeface="Verdana"/>
                        </a:rPr>
                        <a:t>Model</a:t>
                      </a:r>
                      <a:endParaRPr sz="16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800"/>
                        </a:spcAft>
                        <a:buNone/>
                      </a:pPr>
                      <a:r>
                        <a:rPr lang="en-US" sz="1600" b="1">
                          <a:solidFill>
                            <a:schemeClr val="lt1"/>
                          </a:solidFill>
                          <a:latin typeface="Verdana"/>
                          <a:ea typeface="Verdana"/>
                          <a:cs typeface="Verdana"/>
                          <a:sym typeface="Verdana"/>
                        </a:rPr>
                        <a:t>Mean val accuracy ± SD</a:t>
                      </a:r>
                      <a:endParaRPr sz="16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800"/>
                        </a:spcAft>
                        <a:buNone/>
                      </a:pPr>
                      <a:r>
                        <a:rPr lang="en-US" sz="1600" b="1">
                          <a:solidFill>
                            <a:schemeClr val="lt1"/>
                          </a:solidFill>
                          <a:latin typeface="Verdana"/>
                          <a:ea typeface="Verdana"/>
                          <a:cs typeface="Verdana"/>
                          <a:sym typeface="Verdana"/>
                        </a:rPr>
                        <a:t>Mean macro-F1 ± SD</a:t>
                      </a:r>
                      <a:endParaRPr sz="16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tc>
                  <a:txBody>
                    <a:bodyPr/>
                    <a:lstStyle/>
                    <a:p>
                      <a:pPr marL="0" lvl="0" indent="0" algn="r" rtl="0">
                        <a:lnSpc>
                          <a:spcPct val="115000"/>
                        </a:lnSpc>
                        <a:spcBef>
                          <a:spcPts val="0"/>
                        </a:spcBef>
                        <a:spcAft>
                          <a:spcPts val="800"/>
                        </a:spcAft>
                        <a:buNone/>
                      </a:pPr>
                      <a:r>
                        <a:rPr lang="en-US" sz="1600" b="1">
                          <a:solidFill>
                            <a:schemeClr val="lt1"/>
                          </a:solidFill>
                          <a:latin typeface="Verdana"/>
                          <a:ea typeface="Verdana"/>
                          <a:cs typeface="Verdana"/>
                          <a:sym typeface="Verdana"/>
                        </a:rPr>
                        <a:t>Pooled correct (373 images)</a:t>
                      </a:r>
                      <a:endParaRPr sz="1600" b="1">
                        <a:solidFill>
                          <a:schemeClr val="lt1"/>
                        </a:solidFill>
                        <a:latin typeface="Verdana"/>
                        <a:ea typeface="Verdana"/>
                        <a:cs typeface="Verdana"/>
                        <a:sym typeface="Verdana"/>
                      </a:endParaRPr>
                    </a:p>
                  </a:txBody>
                  <a:tcPr marL="95250" marR="95250" marT="47625" marB="47625">
                    <a:lnB w="5450"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76225">
                <a:tc>
                  <a:txBody>
                    <a:bodyPr/>
                    <a:lstStyle/>
                    <a:p>
                      <a:pPr marL="0" lvl="0" indent="0" algn="l" rtl="0">
                        <a:lnSpc>
                          <a:spcPct val="115000"/>
                        </a:lnSpc>
                        <a:spcBef>
                          <a:spcPts val="0"/>
                        </a:spcBef>
                        <a:spcAft>
                          <a:spcPts val="800"/>
                        </a:spcAft>
                        <a:buNone/>
                      </a:pPr>
                      <a:r>
                        <a:rPr lang="en-US" sz="1600">
                          <a:solidFill>
                            <a:schemeClr val="dk2"/>
                          </a:solidFill>
                          <a:latin typeface="Verdana"/>
                          <a:ea typeface="Verdana"/>
                          <a:cs typeface="Verdana"/>
                          <a:sym typeface="Verdana"/>
                        </a:rPr>
                        <a:t>ResNet18, no augmentation (baseline)</a:t>
                      </a:r>
                      <a:endParaRPr sz="16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a:solidFill>
                            <a:schemeClr val="dk2"/>
                          </a:solidFill>
                          <a:latin typeface="Verdana"/>
                          <a:ea typeface="Verdana"/>
                          <a:cs typeface="Verdana"/>
                          <a:sym typeface="Verdana"/>
                        </a:rPr>
                        <a:t>0.659 ± 0.245</a:t>
                      </a:r>
                      <a:endParaRPr sz="16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a:solidFill>
                            <a:schemeClr val="dk2"/>
                          </a:solidFill>
                          <a:latin typeface="Verdana"/>
                          <a:ea typeface="Verdana"/>
                          <a:cs typeface="Verdana"/>
                          <a:sym typeface="Verdana"/>
                        </a:rPr>
                        <a:t>0.651 ± 0.250</a:t>
                      </a:r>
                      <a:endParaRPr sz="16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a:solidFill>
                            <a:schemeClr val="dk2"/>
                          </a:solidFill>
                          <a:latin typeface="Verdana"/>
                          <a:ea typeface="Verdana"/>
                          <a:cs typeface="Verdana"/>
                          <a:sym typeface="Verdana"/>
                        </a:rPr>
                        <a:t>236 (63.3%)</a:t>
                      </a:r>
                      <a:endParaRPr sz="16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76225">
                <a:tc>
                  <a:txBody>
                    <a:bodyPr/>
                    <a:lstStyle/>
                    <a:p>
                      <a:pPr marL="0" lvl="0" indent="0" algn="l" rtl="0">
                        <a:lnSpc>
                          <a:spcPct val="115000"/>
                        </a:lnSpc>
                        <a:spcBef>
                          <a:spcPts val="0"/>
                        </a:spcBef>
                        <a:spcAft>
                          <a:spcPts val="800"/>
                        </a:spcAft>
                        <a:buNone/>
                      </a:pPr>
                      <a:r>
                        <a:rPr lang="en-US" sz="1600" b="1">
                          <a:solidFill>
                            <a:schemeClr val="dk2"/>
                          </a:solidFill>
                          <a:latin typeface="Verdana"/>
                          <a:ea typeface="Verdana"/>
                          <a:cs typeface="Verdana"/>
                          <a:sym typeface="Verdana"/>
                        </a:rPr>
                        <a:t>Final category-routed, aug. (ConvNeXt-Tiny default + EfficientNet-B0 Cable + 4-model soft-vote Pill)</a:t>
                      </a:r>
                      <a:endParaRPr sz="16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b="1">
                          <a:solidFill>
                            <a:schemeClr val="dk2"/>
                          </a:solidFill>
                          <a:latin typeface="Verdana"/>
                          <a:ea typeface="Verdana"/>
                          <a:cs typeface="Verdana"/>
                          <a:sym typeface="Verdana"/>
                        </a:rPr>
                        <a:t>0.916 ± 0.072</a:t>
                      </a:r>
                      <a:endParaRPr sz="16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b="1">
                          <a:solidFill>
                            <a:schemeClr val="dk2"/>
                          </a:solidFill>
                          <a:latin typeface="Verdana"/>
                          <a:ea typeface="Verdana"/>
                          <a:cs typeface="Verdana"/>
                          <a:sym typeface="Verdana"/>
                        </a:rPr>
                        <a:t>0.912 ± 0.073</a:t>
                      </a:r>
                      <a:endParaRPr sz="16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800"/>
                        </a:spcAft>
                        <a:buNone/>
                      </a:pPr>
                      <a:r>
                        <a:rPr lang="en-US" sz="1600" b="1">
                          <a:solidFill>
                            <a:schemeClr val="dk2"/>
                          </a:solidFill>
                          <a:latin typeface="Verdana"/>
                          <a:ea typeface="Verdana"/>
                          <a:cs typeface="Verdana"/>
                          <a:sym typeface="Verdana"/>
                        </a:rPr>
                        <a:t>339 (90.9%)</a:t>
                      </a:r>
                      <a:endParaRPr sz="1600" b="1">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lnB w="54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76225">
                <a:tc>
                  <a:txBody>
                    <a:bodyPr/>
                    <a:lstStyle/>
                    <a:p>
                      <a:pPr marL="0" lvl="0" indent="0" algn="l" rtl="0">
                        <a:lnSpc>
                          <a:spcPct val="115000"/>
                        </a:lnSpc>
                        <a:spcBef>
                          <a:spcPts val="0"/>
                        </a:spcBef>
                        <a:spcAft>
                          <a:spcPts val="800"/>
                        </a:spcAft>
                        <a:buNone/>
                      </a:pPr>
                      <a:r>
                        <a:rPr lang="en-US" sz="1600">
                          <a:solidFill>
                            <a:schemeClr val="dk2"/>
                          </a:solidFill>
                          <a:latin typeface="Verdana"/>
                          <a:ea typeface="Verdana"/>
                          <a:cs typeface="Verdana"/>
                          <a:sym typeface="Verdana"/>
                        </a:rPr>
                        <a:t>Improvement</a:t>
                      </a:r>
                      <a:endParaRPr sz="1600">
                        <a:solidFill>
                          <a:schemeClr val="dk2"/>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800"/>
                        </a:spcAft>
                        <a:buNone/>
                      </a:pPr>
                      <a:r>
                        <a:rPr lang="en-US" sz="1600" b="1">
                          <a:solidFill>
                            <a:schemeClr val="accent3"/>
                          </a:solidFill>
                          <a:latin typeface="Verdana"/>
                          <a:ea typeface="Verdana"/>
                          <a:cs typeface="Verdana"/>
                          <a:sym typeface="Verdana"/>
                        </a:rPr>
                        <a:t>+25.7 points</a:t>
                      </a:r>
                      <a:endParaRPr sz="1600" b="1">
                        <a:solidFill>
                          <a:schemeClr val="accent3"/>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800"/>
                        </a:spcAft>
                        <a:buNone/>
                      </a:pPr>
                      <a:r>
                        <a:rPr lang="en-US" sz="1600" b="1">
                          <a:solidFill>
                            <a:schemeClr val="accent3"/>
                          </a:solidFill>
                          <a:latin typeface="Verdana"/>
                          <a:ea typeface="Verdana"/>
                          <a:cs typeface="Verdana"/>
                          <a:sym typeface="Verdana"/>
                        </a:rPr>
                        <a:t>+26.1 points</a:t>
                      </a:r>
                      <a:endParaRPr sz="1600" b="1">
                        <a:solidFill>
                          <a:schemeClr val="accent3"/>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tc>
                  <a:txBody>
                    <a:bodyPr/>
                    <a:lstStyle/>
                    <a:p>
                      <a:pPr marL="0" lvl="0" indent="0" algn="r" rtl="0">
                        <a:lnSpc>
                          <a:spcPct val="115000"/>
                        </a:lnSpc>
                        <a:spcBef>
                          <a:spcPts val="0"/>
                        </a:spcBef>
                        <a:spcAft>
                          <a:spcPts val="800"/>
                        </a:spcAft>
                        <a:buNone/>
                      </a:pPr>
                      <a:r>
                        <a:rPr lang="en-US" sz="1600" b="1">
                          <a:solidFill>
                            <a:schemeClr val="accent3"/>
                          </a:solidFill>
                          <a:latin typeface="Verdana"/>
                          <a:ea typeface="Verdana"/>
                          <a:cs typeface="Verdana"/>
                          <a:sym typeface="Verdana"/>
                        </a:rPr>
                        <a:t>+103 images (+27.6 points)</a:t>
                      </a:r>
                      <a:endParaRPr sz="1600" b="1">
                        <a:solidFill>
                          <a:schemeClr val="accent3"/>
                        </a:solidFill>
                        <a:latin typeface="Verdana"/>
                        <a:ea typeface="Verdana"/>
                        <a:cs typeface="Verdana"/>
                        <a:sym typeface="Verdana"/>
                      </a:endParaRPr>
                    </a:p>
                  </a:txBody>
                  <a:tcPr marL="95250" marR="95250" marT="47625" marB="47625">
                    <a:lnT w="5450" cap="flat" cmpd="sng">
                      <a:solidFill>
                        <a:srgbClr val="000000"/>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4"/>
        <p:cNvGrpSpPr/>
        <p:nvPr/>
      </p:nvGrpSpPr>
      <p:grpSpPr>
        <a:xfrm>
          <a:off x="0" y="0"/>
          <a:ext cx="0" cy="0"/>
          <a:chOff x="0" y="0"/>
          <a:chExt cx="0" cy="0"/>
        </a:xfrm>
      </p:grpSpPr>
      <p:sp>
        <p:nvSpPr>
          <p:cNvPr id="565" name="Google Shape;565;h643a9da4f58e0660_0_0"/>
          <p:cNvSpPr/>
          <p:nvPr/>
        </p:nvSpPr>
        <p:spPr>
          <a:xfrm>
            <a:off x="0" y="0"/>
            <a:ext cx="12192000" cy="6858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66" name="Google Shape;566;h643a9da4f58e0660_0_0" descr="The dotted lines should close the loop. keep all else unchanged."/>
          <p:cNvPicPr preferRelativeResize="0"/>
          <p:nvPr/>
        </p:nvPicPr>
        <p:blipFill>
          <a:blip r:embed="rId4">
            <a:alphaModFix/>
          </a:blip>
          <a:stretch>
            <a:fillRect/>
          </a:stretch>
        </p:blipFill>
        <p:spPr>
          <a:xfrm>
            <a:off x="2939325" y="1320525"/>
            <a:ext cx="8772175" cy="2682600"/>
          </a:xfrm>
          <a:prstGeom prst="rect">
            <a:avLst/>
          </a:prstGeom>
          <a:noFill/>
          <a:ln>
            <a:noFill/>
          </a:ln>
        </p:spPr>
      </p:pic>
      <p:grpSp>
        <p:nvGrpSpPr>
          <p:cNvPr id="567" name="Google Shape;567;h643a9da4f58e0660_0_0"/>
          <p:cNvGrpSpPr/>
          <p:nvPr/>
        </p:nvGrpSpPr>
        <p:grpSpPr>
          <a:xfrm>
            <a:off x="609600" y="1487107"/>
            <a:ext cx="2095500" cy="2428800"/>
            <a:chOff x="0" y="0"/>
            <a:chExt cx="2095500" cy="2428800"/>
          </a:xfrm>
        </p:grpSpPr>
        <p:sp>
          <p:nvSpPr>
            <p:cNvPr id="568" name="Google Shape;568;h643a9da4f58e0660_0_0"/>
            <p:cNvSpPr/>
            <p:nvPr/>
          </p:nvSpPr>
          <p:spPr>
            <a:xfrm>
              <a:off x="0" y="0"/>
              <a:ext cx="2095500" cy="2428800"/>
            </a:xfrm>
            <a:prstGeom prst="roundRect">
              <a:avLst>
                <a:gd name="adj" fmla="val 5454"/>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9" name="Google Shape;569;h643a9da4f58e0660_0_0"/>
            <p:cNvSpPr/>
            <p:nvPr/>
          </p:nvSpPr>
          <p:spPr>
            <a:xfrm>
              <a:off x="0" y="0"/>
              <a:ext cx="2095500" cy="57300"/>
            </a:xfrm>
            <a:prstGeom prst="roundRect">
              <a:avLst>
                <a:gd name="adj" fmla="val 50000"/>
              </a:avLst>
            </a:prstGeom>
            <a:solidFill>
              <a:srgbClr val="64748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0" name="Google Shape;570;h643a9da4f58e0660_0_0"/>
            <p:cNvSpPr txBox="1"/>
            <p:nvPr/>
          </p:nvSpPr>
          <p:spPr>
            <a:xfrm>
              <a:off x="152400" y="152400"/>
              <a:ext cx="17907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1. Input Image</a:t>
              </a:r>
              <a:endParaRPr sz="1300" b="1">
                <a:solidFill>
                  <a:srgbClr val="0F172A"/>
                </a:solidFill>
                <a:latin typeface="Verdana"/>
                <a:ea typeface="Verdana"/>
                <a:cs typeface="Verdana"/>
                <a:sym typeface="Verdana"/>
              </a:endParaRPr>
            </a:p>
            <a:p>
              <a:pPr marL="0" lvl="0" indent="0" algn="l" rtl="0">
                <a:spcBef>
                  <a:spcPts val="0"/>
                </a:spcBef>
                <a:spcAft>
                  <a:spcPts val="0"/>
                </a:spcAft>
                <a:buNone/>
              </a:pPr>
              <a:r>
                <a:rPr lang="en-US" sz="1000">
                  <a:solidFill>
                    <a:srgbClr val="64748B"/>
                  </a:solidFill>
                  <a:latin typeface="Verdana"/>
                  <a:ea typeface="Verdana"/>
                  <a:cs typeface="Verdana"/>
                  <a:sym typeface="Verdana"/>
                </a:rPr>
                <a:t>Streamlit Upload</a:t>
              </a:r>
              <a:endParaRPr sz="1000">
                <a:solidFill>
                  <a:srgbClr val="64748B"/>
                </a:solidFill>
                <a:latin typeface="Verdana"/>
                <a:ea typeface="Verdana"/>
                <a:cs typeface="Verdana"/>
                <a:sym typeface="Verdana"/>
              </a:endParaRPr>
            </a:p>
          </p:txBody>
        </p:sp>
        <p:pic>
          <p:nvPicPr>
            <p:cNvPr id="571" name="Google Shape;571;h643a9da4f58e0660_0_0"/>
            <p:cNvPicPr preferRelativeResize="0"/>
            <p:nvPr/>
          </p:nvPicPr>
          <p:blipFill rotWithShape="1">
            <a:blip r:embed="rId5">
              <a:alphaModFix/>
            </a:blip>
            <a:srcRect/>
            <a:stretch/>
          </p:blipFill>
          <p:spPr>
            <a:xfrm>
              <a:off x="476250" y="685800"/>
              <a:ext cx="1143000" cy="1143000"/>
            </a:xfrm>
            <a:prstGeom prst="roundRect">
              <a:avLst>
                <a:gd name="adj" fmla="val 6666"/>
              </a:avLst>
            </a:prstGeom>
            <a:noFill/>
            <a:ln>
              <a:noFill/>
            </a:ln>
          </p:spPr>
        </p:pic>
        <p:sp>
          <p:nvSpPr>
            <p:cNvPr id="572" name="Google Shape;572;h643a9da4f58e0660_0_0"/>
            <p:cNvSpPr txBox="1"/>
            <p:nvPr/>
          </p:nvSpPr>
          <p:spPr>
            <a:xfrm>
              <a:off x="152400" y="1905000"/>
              <a:ext cx="17907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050">
                  <a:solidFill>
                    <a:srgbClr val="64748B"/>
                  </a:solidFill>
                  <a:latin typeface="Verdana"/>
                  <a:ea typeface="Verdana"/>
                  <a:cs typeface="Verdana"/>
                  <a:sym typeface="Verdana"/>
                </a:rPr>
                <a:t>MVTec Anomaly Sample</a:t>
              </a:r>
              <a:endParaRPr sz="1050">
                <a:solidFill>
                  <a:srgbClr val="64748B"/>
                </a:solidFill>
                <a:latin typeface="Verdana"/>
                <a:ea typeface="Verdana"/>
                <a:cs typeface="Verdana"/>
                <a:sym typeface="Verdana"/>
              </a:endParaRPr>
            </a:p>
          </p:txBody>
        </p:sp>
      </p:grpSp>
      <p:grpSp>
        <p:nvGrpSpPr>
          <p:cNvPr id="573" name="Google Shape;573;h643a9da4f58e0660_0_0"/>
          <p:cNvGrpSpPr/>
          <p:nvPr/>
        </p:nvGrpSpPr>
        <p:grpSpPr>
          <a:xfrm>
            <a:off x="3244218" y="1191825"/>
            <a:ext cx="2419331" cy="228600"/>
            <a:chOff x="0" y="0"/>
            <a:chExt cx="1714500" cy="228600"/>
          </a:xfrm>
        </p:grpSpPr>
        <p:sp>
          <p:nvSpPr>
            <p:cNvPr id="574" name="Google Shape;574;h643a9da4f58e0660_0_0"/>
            <p:cNvSpPr/>
            <p:nvPr/>
          </p:nvSpPr>
          <p:spPr>
            <a:xfrm>
              <a:off x="0" y="0"/>
              <a:ext cx="1714500" cy="2286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5" name="Google Shape;575;h643a9da4f58e0660_0_0"/>
            <p:cNvSpPr txBox="1"/>
            <p:nvPr/>
          </p:nvSpPr>
          <p:spPr>
            <a:xfrm>
              <a:off x="0" y="0"/>
              <a:ext cx="1714500" cy="22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50" b="1">
                  <a:solidFill>
                    <a:srgbClr val="FFFFFF"/>
                  </a:solidFill>
                  <a:latin typeface="Verdana"/>
                  <a:ea typeface="Verdana"/>
                  <a:cs typeface="Verdana"/>
                  <a:sym typeface="Verdana"/>
                </a:rPr>
                <a:t>INSPECTION PIPELINE</a:t>
              </a:r>
              <a:endParaRPr sz="850" b="1">
                <a:solidFill>
                  <a:srgbClr val="FFFFFF"/>
                </a:solidFill>
                <a:latin typeface="Verdana"/>
                <a:ea typeface="Verdana"/>
                <a:cs typeface="Verdana"/>
                <a:sym typeface="Verdana"/>
              </a:endParaRPr>
            </a:p>
          </p:txBody>
        </p:sp>
      </p:grpSp>
      <p:grpSp>
        <p:nvGrpSpPr>
          <p:cNvPr id="576" name="Google Shape;576;h643a9da4f58e0660_0_0"/>
          <p:cNvGrpSpPr/>
          <p:nvPr/>
        </p:nvGrpSpPr>
        <p:grpSpPr>
          <a:xfrm>
            <a:off x="2781300" y="2615350"/>
            <a:ext cx="238050" cy="95400"/>
            <a:chOff x="0" y="-47625"/>
            <a:chExt cx="238050" cy="95400"/>
          </a:xfrm>
        </p:grpSpPr>
        <p:sp>
          <p:nvSpPr>
            <p:cNvPr id="577" name="Google Shape;577;h643a9da4f58e0660_0_0"/>
            <p:cNvSpPr/>
            <p:nvPr/>
          </p:nvSpPr>
          <p:spPr>
            <a:xfrm>
              <a:off x="0" y="0"/>
              <a:ext cx="209700" cy="0"/>
            </a:xfrm>
            <a:custGeom>
              <a:avLst/>
              <a:gdLst/>
              <a:ahLst/>
              <a:cxnLst/>
              <a:rect l="l" t="t" r="r" b="b"/>
              <a:pathLst>
                <a:path w="120000" h="120000" fill="none" extrusionOk="0">
                  <a:moveTo>
                    <a:pt x="0" y="0"/>
                  </a:moveTo>
                  <a:lnTo>
                    <a:pt x="120000" y="0"/>
                  </a:lnTo>
                </a:path>
              </a:pathLst>
            </a:custGeom>
            <a:solidFill>
              <a:srgbClr val="FFFFFF"/>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8" name="Google Shape;578;h643a9da4f58e0660_0_0"/>
            <p:cNvSpPr/>
            <p:nvPr/>
          </p:nvSpPr>
          <p:spPr>
            <a:xfrm>
              <a:off x="171450" y="-47625"/>
              <a:ext cx="66600" cy="954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579" name="Google Shape;579;h643a9da4f58e0660_0_0"/>
          <p:cNvGrpSpPr/>
          <p:nvPr/>
        </p:nvGrpSpPr>
        <p:grpSpPr>
          <a:xfrm>
            <a:off x="5600700" y="2615350"/>
            <a:ext cx="238050" cy="95400"/>
            <a:chOff x="0" y="-47625"/>
            <a:chExt cx="238050" cy="95400"/>
          </a:xfrm>
        </p:grpSpPr>
        <p:sp>
          <p:nvSpPr>
            <p:cNvPr id="580" name="Google Shape;580;h643a9da4f58e0660_0_0"/>
            <p:cNvSpPr/>
            <p:nvPr/>
          </p:nvSpPr>
          <p:spPr>
            <a:xfrm>
              <a:off x="0" y="0"/>
              <a:ext cx="209700" cy="0"/>
            </a:xfrm>
            <a:custGeom>
              <a:avLst/>
              <a:gdLst/>
              <a:ahLst/>
              <a:cxnLst/>
              <a:rect l="l" t="t" r="r" b="b"/>
              <a:pathLst>
                <a:path w="120000" h="120000" fill="none" extrusionOk="0">
                  <a:moveTo>
                    <a:pt x="0" y="0"/>
                  </a:moveTo>
                  <a:lnTo>
                    <a:pt x="120000" y="0"/>
                  </a:lnTo>
                </a:path>
              </a:pathLst>
            </a:custGeom>
            <a:solidFill>
              <a:srgbClr val="FFFFFF"/>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1" name="Google Shape;581;h643a9da4f58e0660_0_0"/>
            <p:cNvSpPr/>
            <p:nvPr/>
          </p:nvSpPr>
          <p:spPr>
            <a:xfrm>
              <a:off x="171450" y="-47625"/>
              <a:ext cx="66600" cy="954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23825"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582" name="Google Shape;582;h643a9da4f58e0660_0_0"/>
          <p:cNvGrpSpPr/>
          <p:nvPr/>
        </p:nvGrpSpPr>
        <p:grpSpPr>
          <a:xfrm>
            <a:off x="3095625" y="1487107"/>
            <a:ext cx="2428800" cy="2428800"/>
            <a:chOff x="0" y="0"/>
            <a:chExt cx="2428800" cy="2428800"/>
          </a:xfrm>
        </p:grpSpPr>
        <p:sp>
          <p:nvSpPr>
            <p:cNvPr id="583" name="Google Shape;583;h643a9da4f58e0660_0_0"/>
            <p:cNvSpPr/>
            <p:nvPr/>
          </p:nvSpPr>
          <p:spPr>
            <a:xfrm>
              <a:off x="0" y="0"/>
              <a:ext cx="2428800" cy="2428800"/>
            </a:xfrm>
            <a:prstGeom prst="roundRect">
              <a:avLst>
                <a:gd name="adj" fmla="val 470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4" name="Google Shape;584;h643a9da4f58e0660_0_0"/>
            <p:cNvSpPr/>
            <p:nvPr/>
          </p:nvSpPr>
          <p:spPr>
            <a:xfrm>
              <a:off x="0" y="0"/>
              <a:ext cx="24288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5" name="Google Shape;585;h643a9da4f58e0660_0_0"/>
            <p:cNvSpPr txBox="1"/>
            <p:nvPr/>
          </p:nvSpPr>
          <p:spPr>
            <a:xfrm>
              <a:off x="171450" y="152400"/>
              <a:ext cx="20859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2. Category Classifier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284C7"/>
                  </a:solidFill>
                  <a:latin typeface="Verdana"/>
                  <a:ea typeface="Verdana"/>
                  <a:cs typeface="Verdana"/>
                  <a:sym typeface="Verdana"/>
                </a:rPr>
                <a:t>Supervised Learning</a:t>
              </a:r>
              <a:endParaRPr sz="1000" b="1">
                <a:solidFill>
                  <a:srgbClr val="0284C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Model:</a:t>
              </a:r>
              <a:r>
                <a:rPr lang="en-US" sz="1000">
                  <a:solidFill>
                    <a:srgbClr val="334155"/>
                  </a:solidFill>
                  <a:latin typeface="Verdana"/>
                  <a:ea typeface="Verdana"/>
                  <a:cs typeface="Verdana"/>
                  <a:sym typeface="Verdana"/>
                </a:rPr>
                <a:t> ResNet18</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Function:</a:t>
              </a:r>
              <a:r>
                <a:rPr lang="en-US" sz="1000">
                  <a:solidFill>
                    <a:srgbClr val="334155"/>
                  </a:solidFill>
                  <a:latin typeface="Verdana"/>
                  <a:ea typeface="Verdana"/>
                  <a:cs typeface="Verdana"/>
                  <a:sym typeface="Verdana"/>
                </a:rPr>
                <a:t> Routes input to 15 category artifacts</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Inspection:</a:t>
              </a:r>
              <a:r>
                <a:rPr lang="en-US" sz="1000">
                  <a:solidFill>
                    <a:srgbClr val="334155"/>
                  </a:solidFill>
                  <a:latin typeface="Verdana"/>
                  <a:ea typeface="Verdana"/>
                  <a:cs typeface="Verdana"/>
                  <a:sym typeface="Verdana"/>
                </a:rPr>
                <a:t> Automatic multi-class routing when category confidence &gt; 60%</a:t>
              </a:r>
              <a:endParaRPr sz="1000">
                <a:solidFill>
                  <a:srgbClr val="334155"/>
                </a:solidFill>
                <a:latin typeface="Verdana"/>
                <a:ea typeface="Verdana"/>
                <a:cs typeface="Verdana"/>
                <a:sym typeface="Verdana"/>
              </a:endParaRPr>
            </a:p>
          </p:txBody>
        </p:sp>
      </p:grpSp>
      <p:grpSp>
        <p:nvGrpSpPr>
          <p:cNvPr id="586" name="Google Shape;586;h643a9da4f58e0660_0_0"/>
          <p:cNvGrpSpPr/>
          <p:nvPr/>
        </p:nvGrpSpPr>
        <p:grpSpPr>
          <a:xfrm>
            <a:off x="5886450" y="1487107"/>
            <a:ext cx="2428800" cy="2428800"/>
            <a:chOff x="0" y="0"/>
            <a:chExt cx="2428800" cy="2428800"/>
          </a:xfrm>
        </p:grpSpPr>
        <p:sp>
          <p:nvSpPr>
            <p:cNvPr id="587" name="Google Shape;587;h643a9da4f58e0660_0_0"/>
            <p:cNvSpPr/>
            <p:nvPr/>
          </p:nvSpPr>
          <p:spPr>
            <a:xfrm>
              <a:off x="0" y="0"/>
              <a:ext cx="2428800" cy="2428800"/>
            </a:xfrm>
            <a:prstGeom prst="roundRect">
              <a:avLst>
                <a:gd name="adj" fmla="val 4705"/>
              </a:avLst>
            </a:prstGeom>
            <a:solidFill>
              <a:srgbClr val="00FF00"/>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8" name="Google Shape;588;h643a9da4f58e0660_0_0"/>
            <p:cNvSpPr/>
            <p:nvPr/>
          </p:nvSpPr>
          <p:spPr>
            <a:xfrm>
              <a:off x="0" y="0"/>
              <a:ext cx="2428800" cy="57300"/>
            </a:xfrm>
            <a:prstGeom prst="roundRect">
              <a:avLst>
                <a:gd name="adj" fmla="val 50000"/>
              </a:avLst>
            </a:prstGeom>
            <a:solidFill>
              <a:srgbClr val="00FF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9" name="Google Shape;589;h643a9da4f58e0660_0_0"/>
            <p:cNvSpPr txBox="1"/>
            <p:nvPr/>
          </p:nvSpPr>
          <p:spPr>
            <a:xfrm>
              <a:off x="171450" y="152400"/>
              <a:ext cx="2085900" cy="2095500"/>
            </a:xfrm>
            <a:prstGeom prst="rect">
              <a:avLst/>
            </a:prstGeom>
            <a:solidFill>
              <a:srgbClr val="00FF00"/>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3. Anomaly Detector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07E87"/>
                  </a:solidFill>
                  <a:latin typeface="Verdana"/>
                  <a:ea typeface="Verdana"/>
                  <a:cs typeface="Verdana"/>
                  <a:sym typeface="Verdana"/>
                </a:rPr>
                <a:t>Unsupervised PatchCore</a:t>
              </a:r>
              <a:endParaRPr sz="1000" b="1">
                <a:solidFill>
                  <a:srgbClr val="007E8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Heatmap:</a:t>
              </a:r>
              <a:r>
                <a:rPr lang="en-US" sz="1000">
                  <a:solidFill>
                    <a:srgbClr val="334155"/>
                  </a:solidFill>
                  <a:latin typeface="Verdana"/>
                  <a:ea typeface="Verdana"/>
                  <a:cs typeface="Verdana"/>
                  <a:sym typeface="Verdana"/>
                </a:rPr>
                <a:t> Localizes defect regions</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0F172A"/>
                  </a:solidFill>
                  <a:latin typeface="Verdana"/>
                  <a:ea typeface="Verdana"/>
                  <a:cs typeface="Verdana"/>
                  <a:sym typeface="Verdana"/>
                </a:rPr>
                <a:t>Image Threshold:</a:t>
              </a:r>
              <a:r>
                <a:rPr lang="en-US" sz="1000">
                  <a:solidFill>
                    <a:srgbClr val="334155"/>
                  </a:solidFill>
                  <a:latin typeface="Verdana"/>
                  <a:ea typeface="Verdana"/>
                  <a:cs typeface="Verdana"/>
                  <a:sym typeface="Verdana"/>
                </a:rPr>
                <a:t> Triggers defect type classifier if anomaly score &gt; limit</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334155"/>
                  </a:solidFill>
                  <a:latin typeface="Verdana"/>
                  <a:ea typeface="Verdana"/>
                  <a:cs typeface="Verdana"/>
                  <a:sym typeface="Verdana"/>
                </a:rPr>
                <a:t>Pixel Threshold:</a:t>
              </a:r>
              <a:r>
                <a:rPr lang="en-US" sz="1000">
                  <a:solidFill>
                    <a:srgbClr val="334155"/>
                  </a:solidFill>
                  <a:latin typeface="Verdana"/>
                  <a:ea typeface="Verdana"/>
                  <a:cs typeface="Verdana"/>
                  <a:sym typeface="Verdana"/>
                </a:rPr>
                <a:t> Triggers area-based severity scores and defect crops</a:t>
              </a:r>
              <a:endParaRPr sz="1000">
                <a:solidFill>
                  <a:srgbClr val="334155"/>
                </a:solidFill>
                <a:latin typeface="Verdana"/>
                <a:ea typeface="Verdana"/>
                <a:cs typeface="Verdana"/>
                <a:sym typeface="Verdana"/>
              </a:endParaRPr>
            </a:p>
          </p:txBody>
        </p:sp>
      </p:grpSp>
      <p:grpSp>
        <p:nvGrpSpPr>
          <p:cNvPr id="590" name="Google Shape;590;h643a9da4f58e0660_0_0"/>
          <p:cNvGrpSpPr/>
          <p:nvPr/>
        </p:nvGrpSpPr>
        <p:grpSpPr>
          <a:xfrm>
            <a:off x="8391525" y="2472475"/>
            <a:ext cx="495300" cy="323850"/>
            <a:chOff x="0" y="0"/>
            <a:chExt cx="495300" cy="323850"/>
          </a:xfrm>
        </p:grpSpPr>
        <p:sp>
          <p:nvSpPr>
            <p:cNvPr id="591" name="Google Shape;591;h643a9da4f58e0660_0_0"/>
            <p:cNvSpPr/>
            <p:nvPr/>
          </p:nvSpPr>
          <p:spPr>
            <a:xfrm>
              <a:off x="0" y="0"/>
              <a:ext cx="495300" cy="190500"/>
            </a:xfrm>
            <a:prstGeom prst="roundRect">
              <a:avLst>
                <a:gd name="adj" fmla="val 50000"/>
              </a:avLst>
            </a:prstGeom>
            <a:solidFill>
              <a:srgbClr val="FEE2E2"/>
            </a:solidFill>
            <a:ln w="9525" cap="flat"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2" name="Google Shape;592;h643a9da4f58e0660_0_0"/>
            <p:cNvSpPr txBox="1"/>
            <p:nvPr/>
          </p:nvSpPr>
          <p:spPr>
            <a:xfrm>
              <a:off x="0" y="0"/>
              <a:ext cx="4953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750" b="1">
                  <a:solidFill>
                    <a:srgbClr val="991B1B"/>
                  </a:solidFill>
                  <a:latin typeface="Verdana"/>
                  <a:ea typeface="Verdana"/>
                  <a:cs typeface="Verdana"/>
                  <a:sym typeface="Verdana"/>
                </a:rPr>
                <a:t>Anomaly</a:t>
              </a:r>
              <a:endParaRPr sz="750" b="1">
                <a:solidFill>
                  <a:srgbClr val="991B1B"/>
                </a:solidFill>
                <a:latin typeface="Verdana"/>
                <a:ea typeface="Verdana"/>
                <a:cs typeface="Verdana"/>
                <a:sym typeface="Verdana"/>
              </a:endParaRPr>
            </a:p>
          </p:txBody>
        </p:sp>
        <p:pic>
          <p:nvPicPr>
            <p:cNvPr id="593" name="Google Shape;593;h643a9da4f58e0660_0_0"/>
            <p:cNvPicPr preferRelativeResize="0"/>
            <p:nvPr/>
          </p:nvPicPr>
          <p:blipFill rotWithShape="1">
            <a:blip r:embed="rId6">
              <a:alphaModFix/>
            </a:blip>
            <a:srcRect/>
            <a:stretch/>
          </p:blipFill>
          <p:spPr>
            <a:xfrm>
              <a:off x="19050" y="276225"/>
              <a:ext cx="438300" cy="19200"/>
            </a:xfrm>
            <a:prstGeom prst="rect">
              <a:avLst/>
            </a:prstGeom>
            <a:noFill/>
            <a:ln>
              <a:noFill/>
            </a:ln>
          </p:spPr>
        </p:pic>
        <p:sp>
          <p:nvSpPr>
            <p:cNvPr id="594" name="Google Shape;594;h643a9da4f58e0660_0_0"/>
            <p:cNvSpPr/>
            <p:nvPr/>
          </p:nvSpPr>
          <p:spPr>
            <a:xfrm>
              <a:off x="428625" y="247650"/>
              <a:ext cx="66600" cy="762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19050" cap="rnd"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595" name="Google Shape;595;h643a9da4f58e0660_0_0"/>
          <p:cNvGrpSpPr/>
          <p:nvPr/>
        </p:nvGrpSpPr>
        <p:grpSpPr>
          <a:xfrm>
            <a:off x="8963025" y="1487107"/>
            <a:ext cx="2619300" cy="2428800"/>
            <a:chOff x="0" y="0"/>
            <a:chExt cx="2619300" cy="2428800"/>
          </a:xfrm>
        </p:grpSpPr>
        <p:sp>
          <p:nvSpPr>
            <p:cNvPr id="596" name="Google Shape;596;h643a9da4f58e0660_0_0"/>
            <p:cNvSpPr/>
            <p:nvPr/>
          </p:nvSpPr>
          <p:spPr>
            <a:xfrm>
              <a:off x="0" y="0"/>
              <a:ext cx="2619300" cy="2428800"/>
            </a:xfrm>
            <a:prstGeom prst="roundRect">
              <a:avLst>
                <a:gd name="adj" fmla="val 470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7" name="Google Shape;597;h643a9da4f58e0660_0_0"/>
            <p:cNvSpPr/>
            <p:nvPr/>
          </p:nvSpPr>
          <p:spPr>
            <a:xfrm>
              <a:off x="0" y="0"/>
              <a:ext cx="26193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8" name="Google Shape;598;h643a9da4f58e0660_0_0"/>
            <p:cNvSpPr txBox="1"/>
            <p:nvPr/>
          </p:nvSpPr>
          <p:spPr>
            <a:xfrm>
              <a:off x="171450" y="152400"/>
              <a:ext cx="2276400" cy="2095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0F172A"/>
                  </a:solidFill>
                  <a:latin typeface="Verdana"/>
                  <a:ea typeface="Verdana"/>
                  <a:cs typeface="Verdana"/>
                  <a:sym typeface="Verdana"/>
                </a:rPr>
                <a:t>4. Defect Type Classifier</a:t>
              </a:r>
              <a:endParaRPr sz="1300" b="1">
                <a:solidFill>
                  <a:srgbClr val="0F172A"/>
                </a:solidFill>
                <a:latin typeface="Verdana"/>
                <a:ea typeface="Verdana"/>
                <a:cs typeface="Verdana"/>
                <a:sym typeface="Verdana"/>
              </a:endParaRPr>
            </a:p>
            <a:p>
              <a:pPr marL="0" lvl="0" indent="0" algn="l" rtl="0">
                <a:spcBef>
                  <a:spcPts val="200"/>
                </a:spcBef>
                <a:spcAft>
                  <a:spcPts val="0"/>
                </a:spcAft>
                <a:buNone/>
              </a:pPr>
              <a:r>
                <a:rPr lang="en-US" sz="1000" b="1">
                  <a:solidFill>
                    <a:srgbClr val="0284C7"/>
                  </a:solidFill>
                  <a:latin typeface="Verdana"/>
                  <a:ea typeface="Verdana"/>
                  <a:cs typeface="Verdana"/>
                  <a:sym typeface="Verdana"/>
                </a:rPr>
                <a:t>Supervised / Ensemble Models</a:t>
              </a:r>
              <a:endParaRPr sz="1000" b="1">
                <a:solidFill>
                  <a:srgbClr val="0284C7"/>
                </a:solidFill>
                <a:latin typeface="Verdana"/>
                <a:ea typeface="Verdana"/>
                <a:cs typeface="Verdana"/>
                <a:sym typeface="Verdana"/>
              </a:endParaRPr>
            </a:p>
            <a:p>
              <a:pPr marL="0" lvl="0" indent="0" algn="l" rtl="0">
                <a:spcBef>
                  <a:spcPts val="1400"/>
                </a:spcBef>
                <a:spcAft>
                  <a:spcPts val="0"/>
                </a:spcAft>
                <a:buNone/>
              </a:pPr>
              <a:r>
                <a:rPr lang="en-US" sz="1000" b="1">
                  <a:solidFill>
                    <a:srgbClr val="0F172A"/>
                  </a:solidFill>
                  <a:latin typeface="Verdana"/>
                  <a:ea typeface="Verdana"/>
                  <a:cs typeface="Verdana"/>
                  <a:sym typeface="Verdana"/>
                </a:rPr>
                <a:t>12 Types:</a:t>
              </a:r>
              <a:r>
                <a:rPr lang="en-US" sz="1000">
                  <a:solidFill>
                    <a:srgbClr val="334155"/>
                  </a:solidFill>
                  <a:latin typeface="Verdana"/>
                  <a:ea typeface="Verdana"/>
                  <a:cs typeface="Verdana"/>
                  <a:sym typeface="Verdana"/>
                </a:rPr>
                <a:t> ConvNeXt-Tiny</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Cable:</a:t>
              </a:r>
              <a:r>
                <a:rPr lang="en-US" sz="1000">
                  <a:solidFill>
                    <a:srgbClr val="334155"/>
                  </a:solidFill>
                  <a:latin typeface="Verdana"/>
                  <a:ea typeface="Verdana"/>
                  <a:cs typeface="Verdana"/>
                  <a:sym typeface="Verdana"/>
                </a:rPr>
                <a:t> DenseNet121</a:t>
              </a:r>
              <a:endParaRPr sz="1000">
                <a:solidFill>
                  <a:srgbClr val="334155"/>
                </a:solidFill>
                <a:latin typeface="Verdana"/>
                <a:ea typeface="Verdana"/>
                <a:cs typeface="Verdana"/>
                <a:sym typeface="Verdana"/>
              </a:endParaRPr>
            </a:p>
            <a:p>
              <a:pPr marL="0" lvl="0" indent="0" algn="l" rtl="0">
                <a:spcBef>
                  <a:spcPts val="800"/>
                </a:spcBef>
                <a:spcAft>
                  <a:spcPts val="0"/>
                </a:spcAft>
                <a:buNone/>
              </a:pPr>
              <a:r>
                <a:rPr lang="en-US" sz="1000" b="1">
                  <a:solidFill>
                    <a:srgbClr val="0F172A"/>
                  </a:solidFill>
                  <a:latin typeface="Verdana"/>
                  <a:ea typeface="Verdana"/>
                  <a:cs typeface="Verdana"/>
                  <a:sym typeface="Verdana"/>
                </a:rPr>
                <a:t>Pill:</a:t>
              </a:r>
              <a:r>
                <a:rPr lang="en-US" sz="1000">
                  <a:solidFill>
                    <a:srgbClr val="334155"/>
                  </a:solidFill>
                  <a:latin typeface="Verdana"/>
                  <a:ea typeface="Verdana"/>
                  <a:cs typeface="Verdana"/>
                  <a:sym typeface="Verdana"/>
                </a:rPr>
                <a:t> 4-Model Soft-Vote Ensemble</a:t>
              </a:r>
              <a:endParaRPr sz="1000">
                <a:solidFill>
                  <a:srgbClr val="334155"/>
                </a:solidFill>
                <a:latin typeface="Verdana"/>
                <a:ea typeface="Verdana"/>
                <a:cs typeface="Verdana"/>
                <a:sym typeface="Verdana"/>
              </a:endParaRPr>
            </a:p>
            <a:p>
              <a:pPr marL="0" lvl="0" indent="0" algn="l" rtl="0">
                <a:spcBef>
                  <a:spcPts val="1000"/>
                </a:spcBef>
                <a:spcAft>
                  <a:spcPts val="0"/>
                </a:spcAft>
                <a:buNone/>
              </a:pPr>
              <a:r>
                <a:rPr lang="en-US" sz="1000" b="1">
                  <a:solidFill>
                    <a:srgbClr val="0F172A"/>
                  </a:solidFill>
                  <a:latin typeface="Verdana"/>
                  <a:ea typeface="Verdana"/>
                  <a:cs typeface="Verdana"/>
                  <a:sym typeface="Verdana"/>
                </a:rPr>
                <a:t>Toothbrush: </a:t>
              </a:r>
              <a:r>
                <a:rPr lang="en-US" sz="1000">
                  <a:solidFill>
                    <a:srgbClr val="0F172A"/>
                  </a:solidFill>
                  <a:latin typeface="Verdana"/>
                  <a:ea typeface="Verdana"/>
                  <a:cs typeface="Verdana"/>
                  <a:sym typeface="Verdana"/>
                </a:rPr>
                <a:t>N/A, no defect type classifications</a:t>
              </a:r>
              <a:endParaRPr sz="1000">
                <a:solidFill>
                  <a:srgbClr val="334155"/>
                </a:solidFill>
                <a:latin typeface="Verdana"/>
                <a:ea typeface="Verdana"/>
                <a:cs typeface="Verdana"/>
                <a:sym typeface="Verdana"/>
              </a:endParaRPr>
            </a:p>
          </p:txBody>
        </p:sp>
      </p:grpSp>
      <p:grpSp>
        <p:nvGrpSpPr>
          <p:cNvPr id="599" name="Google Shape;599;h643a9da4f58e0660_0_0"/>
          <p:cNvGrpSpPr/>
          <p:nvPr/>
        </p:nvGrpSpPr>
        <p:grpSpPr>
          <a:xfrm>
            <a:off x="609600" y="4610450"/>
            <a:ext cx="10972800" cy="1695318"/>
            <a:chOff x="0" y="0"/>
            <a:chExt cx="10972800" cy="2190900"/>
          </a:xfrm>
        </p:grpSpPr>
        <p:sp>
          <p:nvSpPr>
            <p:cNvPr id="600" name="Google Shape;600;h643a9da4f58e0660_0_0"/>
            <p:cNvSpPr/>
            <p:nvPr/>
          </p:nvSpPr>
          <p:spPr>
            <a:xfrm>
              <a:off x="0" y="0"/>
              <a:ext cx="10972800" cy="2190900"/>
            </a:xfrm>
            <a:prstGeom prst="roundRect">
              <a:avLst>
                <a:gd name="adj" fmla="val 6086"/>
              </a:avLst>
            </a:prstGeom>
            <a:solidFill>
              <a:srgbClr val="F0FDF4"/>
            </a:solidFill>
            <a:ln w="14300" cap="flat" cmpd="sng">
              <a:solidFill>
                <a:srgbClr val="BBF7D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1" name="Google Shape;601;h643a9da4f58e0660_0_0"/>
            <p:cNvSpPr/>
            <p:nvPr/>
          </p:nvSpPr>
          <p:spPr>
            <a:xfrm>
              <a:off x="0" y="0"/>
              <a:ext cx="10972800" cy="57300"/>
            </a:xfrm>
            <a:prstGeom prst="roundRect">
              <a:avLst>
                <a:gd name="adj" fmla="val 50000"/>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2" name="Google Shape;602;h643a9da4f58e0660_0_0"/>
            <p:cNvSpPr txBox="1"/>
            <p:nvPr/>
          </p:nvSpPr>
          <p:spPr>
            <a:xfrm>
              <a:off x="228600" y="152400"/>
              <a:ext cx="10515600" cy="3048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1350" b="1">
                  <a:solidFill>
                    <a:srgbClr val="14532D"/>
                  </a:solidFill>
                  <a:latin typeface="Verdana"/>
                  <a:ea typeface="Verdana"/>
                  <a:cs typeface="Verdana"/>
                  <a:sym typeface="Verdana"/>
                </a:rPr>
                <a:t>5. Inspection Result (Streamlit App Output)</a:t>
              </a:r>
              <a:endParaRPr>
                <a:latin typeface="Verdana"/>
                <a:ea typeface="Verdana"/>
                <a:cs typeface="Verdana"/>
                <a:sym typeface="Verdana"/>
              </a:endParaRPr>
            </a:p>
          </p:txBody>
        </p:sp>
        <p:grpSp>
          <p:nvGrpSpPr>
            <p:cNvPr id="603" name="Google Shape;603;h643a9da4f58e0660_0_0"/>
            <p:cNvGrpSpPr/>
            <p:nvPr/>
          </p:nvGrpSpPr>
          <p:grpSpPr>
            <a:xfrm>
              <a:off x="228600" y="571500"/>
              <a:ext cx="3333900" cy="1381200"/>
              <a:chOff x="0" y="0"/>
              <a:chExt cx="3333900" cy="1381200"/>
            </a:xfrm>
          </p:grpSpPr>
          <p:sp>
            <p:nvSpPr>
              <p:cNvPr id="604" name="Google Shape;604;h643a9da4f58e0660_0_0"/>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5" name="Google Shape;605;h643a9da4f58e0660_0_0"/>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Category Classification</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Identified object/texture class</a:t>
                </a:r>
                <a:endParaRPr sz="1000">
                  <a:solidFill>
                    <a:srgbClr val="334155"/>
                  </a:solidFill>
                  <a:latin typeface="Verdana"/>
                  <a:ea typeface="Verdana"/>
                  <a:cs typeface="Verdana"/>
                  <a:sym typeface="Verdana"/>
                </a:endParaRPr>
              </a:p>
            </p:txBody>
          </p:sp>
        </p:grpSp>
        <p:grpSp>
          <p:nvGrpSpPr>
            <p:cNvPr id="606" name="Google Shape;606;h643a9da4f58e0660_0_0"/>
            <p:cNvGrpSpPr/>
            <p:nvPr/>
          </p:nvGrpSpPr>
          <p:grpSpPr>
            <a:xfrm>
              <a:off x="3819525" y="571500"/>
              <a:ext cx="3333900" cy="1381200"/>
              <a:chOff x="0" y="0"/>
              <a:chExt cx="3333900" cy="1381200"/>
            </a:xfrm>
          </p:grpSpPr>
          <p:sp>
            <p:nvSpPr>
              <p:cNvPr id="607" name="Google Shape;607;h643a9da4f58e0660_0_0"/>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8" name="Google Shape;608;h643a9da4f58e0660_0_0"/>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Anomaly Score &amp; Heatmap</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Visual defect localization overlay</a:t>
                </a:r>
                <a:endParaRPr sz="1000">
                  <a:solidFill>
                    <a:srgbClr val="334155"/>
                  </a:solidFill>
                  <a:latin typeface="Verdana"/>
                  <a:ea typeface="Verdana"/>
                  <a:cs typeface="Verdana"/>
                  <a:sym typeface="Verdana"/>
                </a:endParaRPr>
              </a:p>
            </p:txBody>
          </p:sp>
        </p:grpSp>
        <p:grpSp>
          <p:nvGrpSpPr>
            <p:cNvPr id="609" name="Google Shape;609;h643a9da4f58e0660_0_0"/>
            <p:cNvGrpSpPr/>
            <p:nvPr/>
          </p:nvGrpSpPr>
          <p:grpSpPr>
            <a:xfrm>
              <a:off x="7410450" y="571500"/>
              <a:ext cx="3333900" cy="1381200"/>
              <a:chOff x="0" y="0"/>
              <a:chExt cx="3333900" cy="1381200"/>
            </a:xfrm>
          </p:grpSpPr>
          <p:sp>
            <p:nvSpPr>
              <p:cNvPr id="610" name="Google Shape;610;h643a9da4f58e0660_0_0"/>
              <p:cNvSpPr/>
              <p:nvPr/>
            </p:nvSpPr>
            <p:spPr>
              <a:xfrm>
                <a:off x="0" y="0"/>
                <a:ext cx="3333900" cy="1381200"/>
              </a:xfrm>
              <a:prstGeom prst="roundRect">
                <a:avLst>
                  <a:gd name="adj" fmla="val 5517"/>
                </a:avLst>
              </a:prstGeom>
              <a:solidFill>
                <a:srgbClr val="FFFFFF"/>
              </a:solidFill>
              <a:ln w="9525"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1" name="Google Shape;611;h643a9da4f58e0660_0_0"/>
              <p:cNvSpPr txBox="1"/>
              <p:nvPr/>
            </p:nvSpPr>
            <p:spPr>
              <a:xfrm>
                <a:off x="152400" y="133350"/>
                <a:ext cx="3029100" cy="1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5803D"/>
                    </a:solidFill>
                    <a:latin typeface="Verdana"/>
                    <a:ea typeface="Verdana"/>
                    <a:cs typeface="Verdana"/>
                    <a:sym typeface="Verdana"/>
                  </a:rPr>
                  <a:t>Defect &amp; Severity Analysis</a:t>
                </a:r>
                <a:endParaRPr sz="1300" b="1">
                  <a:solidFill>
                    <a:srgbClr val="15803D"/>
                  </a:solidFill>
                  <a:latin typeface="Verdana"/>
                  <a:ea typeface="Verdana"/>
                  <a:cs typeface="Verdana"/>
                  <a:sym typeface="Verdana"/>
                </a:endParaRPr>
              </a:p>
              <a:p>
                <a:pPr marL="0" lvl="0" indent="0" algn="l" rtl="0">
                  <a:spcBef>
                    <a:spcPts val="800"/>
                  </a:spcBef>
                  <a:spcAft>
                    <a:spcPts val="0"/>
                  </a:spcAft>
                  <a:buNone/>
                </a:pPr>
                <a:r>
                  <a:rPr lang="en-US" sz="1000">
                    <a:solidFill>
                      <a:srgbClr val="334155"/>
                    </a:solidFill>
                    <a:latin typeface="Verdana"/>
                    <a:ea typeface="Verdana"/>
                    <a:cs typeface="Verdana"/>
                    <a:sym typeface="Verdana"/>
                  </a:rPr>
                  <a:t>Defect type &amp; severity grading</a:t>
                </a:r>
                <a:endParaRPr sz="1000">
                  <a:solidFill>
                    <a:srgbClr val="334155"/>
                  </a:solidFill>
                  <a:latin typeface="Verdana"/>
                  <a:ea typeface="Verdana"/>
                  <a:cs typeface="Verdana"/>
                  <a:sym typeface="Verdana"/>
                </a:endParaRPr>
              </a:p>
            </p:txBody>
          </p:sp>
        </p:grpSp>
      </p:grpSp>
      <p:cxnSp>
        <p:nvCxnSpPr>
          <p:cNvPr id="612" name="Google Shape;612;h643a9da4f58e0660_0_0"/>
          <p:cNvCxnSpPr>
            <a:stCxn id="587" idx="2"/>
            <a:endCxn id="601" idx="0"/>
          </p:cNvCxnSpPr>
          <p:nvPr/>
        </p:nvCxnSpPr>
        <p:spPr>
          <a:xfrm rot="5400000">
            <a:off x="6251100" y="3760657"/>
            <a:ext cx="694500" cy="1005000"/>
          </a:xfrm>
          <a:prstGeom prst="bentConnector3">
            <a:avLst>
              <a:gd name="adj1" fmla="val 50003"/>
            </a:avLst>
          </a:prstGeom>
          <a:noFill/>
          <a:ln w="19050" cap="flat" cmpd="sng">
            <a:solidFill>
              <a:schemeClr val="accent1"/>
            </a:solidFill>
            <a:prstDash val="solid"/>
            <a:round/>
            <a:headEnd type="none" w="med" len="med"/>
            <a:tailEnd type="triangle" w="med" len="med"/>
          </a:ln>
        </p:spPr>
      </p:cxnSp>
      <p:cxnSp>
        <p:nvCxnSpPr>
          <p:cNvPr id="613" name="Google Shape;613;h643a9da4f58e0660_0_0"/>
          <p:cNvCxnSpPr>
            <a:stCxn id="596" idx="2"/>
            <a:endCxn id="601" idx="0"/>
          </p:cNvCxnSpPr>
          <p:nvPr/>
        </p:nvCxnSpPr>
        <p:spPr>
          <a:xfrm rot="5400000">
            <a:off x="7837125" y="2174857"/>
            <a:ext cx="694500" cy="4176600"/>
          </a:xfrm>
          <a:prstGeom prst="bentConnector3">
            <a:avLst>
              <a:gd name="adj1" fmla="val 50003"/>
            </a:avLst>
          </a:prstGeom>
          <a:noFill/>
          <a:ln w="19050" cap="flat" cmpd="sng">
            <a:solidFill>
              <a:schemeClr val="accent1"/>
            </a:solidFill>
            <a:prstDash val="solid"/>
            <a:round/>
            <a:headEnd type="none" w="med" len="med"/>
            <a:tailEnd type="none" w="med" len="med"/>
          </a:ln>
        </p:spPr>
      </p:cxnSp>
      <p:sp>
        <p:nvSpPr>
          <p:cNvPr id="614" name="Google Shape;614;h643a9da4f58e0660_0_0"/>
          <p:cNvSpPr txBox="1"/>
          <p:nvPr/>
        </p:nvSpPr>
        <p:spPr>
          <a:xfrm>
            <a:off x="609600" y="381000"/>
            <a:ext cx="109728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150" b="1">
                <a:solidFill>
                  <a:srgbClr val="12293A"/>
                </a:solidFill>
                <a:latin typeface="Verdana"/>
                <a:ea typeface="Verdana"/>
                <a:cs typeface="Verdana"/>
                <a:sym typeface="Verdana"/>
              </a:rPr>
              <a:t>System Architecture</a:t>
            </a:r>
            <a:endParaRPr sz="3150" b="1">
              <a:solidFill>
                <a:srgbClr val="12293A"/>
              </a:solidFill>
              <a:latin typeface="Verdana"/>
              <a:ea typeface="Verdana"/>
              <a:cs typeface="Verdana"/>
              <a:sym typeface="Verdana"/>
            </a:endParaRPr>
          </a:p>
          <a:p>
            <a:pPr marL="0" lvl="0" indent="0" algn="l" rtl="0">
              <a:spcBef>
                <a:spcPts val="450"/>
              </a:spcBef>
              <a:spcAft>
                <a:spcPts val="0"/>
              </a:spcAft>
              <a:buNone/>
            </a:pPr>
            <a:r>
              <a:rPr lang="en-US" sz="1240" b="0">
                <a:solidFill>
                  <a:srgbClr val="007E87"/>
                </a:solidFill>
                <a:latin typeface="Verdana"/>
                <a:ea typeface="Verdana"/>
                <a:cs typeface="Verdana"/>
                <a:sym typeface="Verdana"/>
              </a:rPr>
              <a:t>End-to-End Visual Inspection &amp; Anomaly Detection Pipeline</a:t>
            </a:r>
            <a:endParaRPr sz="1240" b="0">
              <a:solidFill>
                <a:srgbClr val="007E87"/>
              </a:solidFill>
              <a:latin typeface="Verdana"/>
              <a:ea typeface="Verdana"/>
              <a:cs typeface="Verdana"/>
              <a:sym typeface="Verdana"/>
            </a:endParaRPr>
          </a:p>
        </p:txBody>
      </p:sp>
      <p:sp>
        <p:nvSpPr>
          <p:cNvPr id="615" name="Google Shape;615;h643a9da4f58e0660_0_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16</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7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0"/>
        <p:cNvGrpSpPr/>
        <p:nvPr/>
      </p:nvGrpSpPr>
      <p:grpSpPr>
        <a:xfrm>
          <a:off x="0" y="0"/>
          <a:ext cx="0" cy="0"/>
          <a:chOff x="0" y="0"/>
          <a:chExt cx="0" cy="0"/>
        </a:xfrm>
      </p:grpSpPr>
      <p:sp>
        <p:nvSpPr>
          <p:cNvPr id="621" name="Google Shape;621;p10"/>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What is PatchCore?</a:t>
            </a:r>
            <a:endParaRPr sz="2000">
              <a:solidFill>
                <a:srgbClr val="12293A"/>
              </a:solidFill>
              <a:latin typeface="Verdana"/>
              <a:ea typeface="Verdana"/>
              <a:cs typeface="Verdana"/>
              <a:sym typeface="Verdana"/>
            </a:endParaRPr>
          </a:p>
        </p:txBody>
      </p:sp>
      <p:sp>
        <p:nvSpPr>
          <p:cNvPr id="622" name="Google Shape;622;p10"/>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17</a:t>
            </a:r>
            <a:endParaRPr/>
          </a:p>
        </p:txBody>
      </p:sp>
      <p:sp>
        <p:nvSpPr>
          <p:cNvPr id="623" name="Google Shape;623;p10"/>
          <p:cNvSpPr/>
          <p:nvPr/>
        </p:nvSpPr>
        <p:spPr>
          <a:xfrm>
            <a:off x="609600" y="1362075"/>
            <a:ext cx="10439400" cy="4490700"/>
          </a:xfrm>
          <a:prstGeom prst="rect">
            <a:avLst/>
          </a:prstGeom>
          <a:noFill/>
          <a:ln>
            <a:noFill/>
          </a:ln>
        </p:spPr>
        <p:txBody>
          <a:bodyPr spcFirstLastPara="1" wrap="square" lIns="91425" tIns="45700" rIns="91425" bIns="45700" anchor="t" anchorCtr="0">
            <a:noAutofit/>
          </a:bodyPr>
          <a:lstStyle/>
          <a:p>
            <a:pPr marL="457200" marR="0" lvl="0" indent="-357188" algn="l" rtl="0">
              <a:lnSpc>
                <a:spcPct val="115000"/>
              </a:lnSpc>
              <a:spcBef>
                <a:spcPts val="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Designed for the </a:t>
            </a:r>
            <a:r>
              <a:rPr lang="en-US" sz="2025" b="1">
                <a:solidFill>
                  <a:srgbClr val="12293A"/>
                </a:solidFill>
                <a:latin typeface="Verdana"/>
                <a:ea typeface="Verdana"/>
                <a:cs typeface="Verdana"/>
                <a:sym typeface="Verdana"/>
              </a:rPr>
              <a:t>cold-start problem</a:t>
            </a:r>
            <a:r>
              <a:rPr lang="en-US" sz="2025">
                <a:solidFill>
                  <a:srgbClr val="12293A"/>
                </a:solidFill>
                <a:latin typeface="Verdana"/>
                <a:ea typeface="Verdana"/>
                <a:cs typeface="Verdana"/>
                <a:sym typeface="Verdana"/>
              </a:rPr>
              <a:t> in industrial inspection</a:t>
            </a:r>
            <a:endParaRPr sz="2025">
              <a:solidFill>
                <a:srgbClr val="12293A"/>
              </a:solidFill>
              <a:latin typeface="Verdana"/>
              <a:ea typeface="Verdana"/>
              <a:cs typeface="Verdana"/>
              <a:sym typeface="Verdana"/>
            </a:endParaRPr>
          </a:p>
          <a:p>
            <a:pPr marL="457200" marR="0" lvl="0"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Learns from </a:t>
            </a:r>
            <a:r>
              <a:rPr lang="en-US" sz="2025" b="1">
                <a:solidFill>
                  <a:srgbClr val="12293A"/>
                </a:solidFill>
                <a:latin typeface="Verdana"/>
                <a:ea typeface="Verdana"/>
                <a:cs typeface="Verdana"/>
                <a:sym typeface="Verdana"/>
              </a:rPr>
              <a:t>normal, non-defective images only (unsupervised)</a:t>
            </a:r>
            <a:endParaRPr sz="2025" b="1">
              <a:solidFill>
                <a:srgbClr val="12293A"/>
              </a:solidFill>
              <a:latin typeface="Verdana"/>
              <a:ea typeface="Verdana"/>
              <a:cs typeface="Verdana"/>
              <a:sym typeface="Verdana"/>
            </a:endParaRPr>
          </a:p>
          <a:p>
            <a:pPr marL="457200" marR="0" lvl="0"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Can perform well with </a:t>
            </a:r>
            <a:r>
              <a:rPr lang="en-US" sz="2025" b="1">
                <a:solidFill>
                  <a:srgbClr val="12293A"/>
                </a:solidFill>
                <a:latin typeface="Verdana"/>
                <a:ea typeface="Verdana"/>
                <a:cs typeface="Verdana"/>
                <a:sym typeface="Verdana"/>
              </a:rPr>
              <a:t>limited normal training data</a:t>
            </a:r>
            <a:endParaRPr sz="2025" b="1">
              <a:solidFill>
                <a:srgbClr val="12293A"/>
              </a:solidFill>
              <a:latin typeface="Verdana"/>
              <a:ea typeface="Verdana"/>
              <a:cs typeface="Verdana"/>
              <a:sym typeface="Verdana"/>
            </a:endParaRPr>
          </a:p>
          <a:p>
            <a:pPr marL="457200" marR="0" lvl="0"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Stores representative normal patch features in a </a:t>
            </a:r>
            <a:r>
              <a:rPr lang="en-US" sz="2025" b="1">
                <a:solidFill>
                  <a:srgbClr val="12293A"/>
                </a:solidFill>
                <a:latin typeface="Verdana"/>
                <a:ea typeface="Verdana"/>
                <a:cs typeface="Verdana"/>
                <a:sym typeface="Verdana"/>
              </a:rPr>
              <a:t>memory bank</a:t>
            </a:r>
            <a:endParaRPr sz="2025" b="1">
              <a:solidFill>
                <a:srgbClr val="12293A"/>
              </a:solidFill>
              <a:latin typeface="Verdana"/>
              <a:ea typeface="Verdana"/>
              <a:cs typeface="Verdana"/>
              <a:sym typeface="Verdana"/>
            </a:endParaRPr>
          </a:p>
          <a:p>
            <a:pPr marL="457200" marR="0" lvl="0"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During inspection, compares new image patches against normal features</a:t>
            </a:r>
            <a:endParaRPr sz="2025">
              <a:solidFill>
                <a:srgbClr val="12293A"/>
              </a:solidFill>
              <a:latin typeface="Verdana"/>
              <a:ea typeface="Verdana"/>
              <a:cs typeface="Verdana"/>
              <a:sym typeface="Verdana"/>
            </a:endParaRPr>
          </a:p>
          <a:p>
            <a:pPr marL="457200" marR="0" lvl="0"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Outputs:</a:t>
            </a:r>
            <a:endParaRPr sz="2025">
              <a:solidFill>
                <a:srgbClr val="12293A"/>
              </a:solidFill>
              <a:latin typeface="Verdana"/>
              <a:ea typeface="Verdana"/>
              <a:cs typeface="Verdana"/>
              <a:sym typeface="Verdana"/>
            </a:endParaRPr>
          </a:p>
          <a:p>
            <a:pPr marL="914400" marR="0" lvl="1" indent="-357188" algn="l" rtl="0">
              <a:lnSpc>
                <a:spcPct val="115000"/>
              </a:lnSpc>
              <a:spcBef>
                <a:spcPts val="1000"/>
              </a:spcBef>
              <a:spcAft>
                <a:spcPts val="0"/>
              </a:spcAft>
              <a:buClr>
                <a:srgbClr val="12293A"/>
              </a:buClr>
              <a:buSzPts val="2025"/>
              <a:buFont typeface="Verdana"/>
              <a:buChar char="○"/>
            </a:pPr>
            <a:r>
              <a:rPr lang="en-US" sz="2025">
                <a:solidFill>
                  <a:srgbClr val="12293A"/>
                </a:solidFill>
                <a:latin typeface="Verdana"/>
                <a:ea typeface="Verdana"/>
                <a:cs typeface="Verdana"/>
                <a:sym typeface="Verdana"/>
              </a:rPr>
              <a:t>Anomaly score - how unusual the image is</a:t>
            </a:r>
            <a:endParaRPr sz="2025">
              <a:solidFill>
                <a:srgbClr val="12293A"/>
              </a:solidFill>
              <a:latin typeface="Verdana"/>
              <a:ea typeface="Verdana"/>
              <a:cs typeface="Verdana"/>
              <a:sym typeface="Verdana"/>
            </a:endParaRPr>
          </a:p>
          <a:p>
            <a:pPr marL="914400" marR="0" lvl="1" indent="-357188" algn="l" rtl="0">
              <a:lnSpc>
                <a:spcPct val="115000"/>
              </a:lnSpc>
              <a:spcBef>
                <a:spcPts val="1000"/>
              </a:spcBef>
              <a:spcAft>
                <a:spcPts val="1000"/>
              </a:spcAft>
              <a:buClr>
                <a:srgbClr val="12293A"/>
              </a:buClr>
              <a:buSzPts val="2025"/>
              <a:buFont typeface="Verdana"/>
              <a:buChar char="○"/>
            </a:pPr>
            <a:r>
              <a:rPr lang="en-US" sz="2025">
                <a:solidFill>
                  <a:srgbClr val="12293A"/>
                </a:solidFill>
                <a:latin typeface="Verdana"/>
                <a:ea typeface="Verdana"/>
                <a:cs typeface="Verdana"/>
                <a:sym typeface="Verdana"/>
              </a:rPr>
              <a:t>Heatmap - where suspicious regions are located</a:t>
            </a:r>
            <a:endParaRPr sz="2025">
              <a:solidFill>
                <a:srgbClr val="12293A"/>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8"/>
        <p:cNvGrpSpPr/>
        <p:nvPr/>
      </p:nvGrpSpPr>
      <p:grpSpPr>
        <a:xfrm>
          <a:off x="0" y="0"/>
          <a:ext cx="0" cy="0"/>
          <a:chOff x="0" y="0"/>
          <a:chExt cx="0" cy="0"/>
        </a:xfrm>
      </p:grpSpPr>
      <p:pic>
        <p:nvPicPr>
          <p:cNvPr id="629" name="Google Shape;629;p7"/>
          <p:cNvPicPr preferRelativeResize="0"/>
          <p:nvPr/>
        </p:nvPicPr>
        <p:blipFill>
          <a:blip r:embed="rId3">
            <a:alphaModFix/>
          </a:blip>
          <a:stretch>
            <a:fillRect/>
          </a:stretch>
        </p:blipFill>
        <p:spPr>
          <a:xfrm>
            <a:off x="0" y="0"/>
            <a:ext cx="12191998" cy="6928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46" name="Google Shape;646;h643a9da4f58e0660_0_59"/>
          <p:cNvPicPr preferRelativeResize="0"/>
          <p:nvPr/>
        </p:nvPicPr>
        <p:blipFill>
          <a:blip r:embed="rId3">
            <a:alphaModFix/>
          </a:blip>
          <a:stretch>
            <a:fillRect/>
          </a:stretch>
        </p:blipFill>
        <p:spPr>
          <a:xfrm>
            <a:off x="152400" y="152400"/>
            <a:ext cx="11650132" cy="6553199"/>
          </a:xfrm>
          <a:prstGeom prst="rect">
            <a:avLst/>
          </a:prstGeom>
          <a:noFill/>
          <a:ln>
            <a:noFill/>
          </a:ln>
        </p:spPr>
      </p:pic>
      <p:sp>
        <p:nvSpPr>
          <p:cNvPr id="647" name="Google Shape;647;h643a9da4f58e0660_0_59"/>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18</a:t>
            </a:r>
            <a:endParaRPr/>
          </a:p>
        </p:txBody>
      </p:sp>
      <p:sp>
        <p:nvSpPr>
          <p:cNvPr id="648" name="Google Shape;648;h643a9da4f58e0660_0_59"/>
          <p:cNvSpPr txBox="1"/>
          <p:nvPr/>
        </p:nvSpPr>
        <p:spPr>
          <a:xfrm>
            <a:off x="10615850" y="6243400"/>
            <a:ext cx="306300" cy="266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h1cf66d82b0b9bf53_1_2"/>
          <p:cNvPicPr preferRelativeResize="0"/>
          <p:nvPr/>
        </p:nvPicPr>
        <p:blipFill>
          <a:blip r:embed="rId3">
            <a:alphaModFix/>
          </a:blip>
          <a:stretch>
            <a:fillRect/>
          </a:stretch>
        </p:blipFill>
        <p:spPr>
          <a:xfrm>
            <a:off x="152400" y="152400"/>
            <a:ext cx="11650132" cy="6553199"/>
          </a:xfrm>
          <a:prstGeom prst="rect">
            <a:avLst/>
          </a:prstGeom>
          <a:noFill/>
          <a:ln>
            <a:noFill/>
          </a:ln>
        </p:spPr>
      </p:pic>
      <p:sp>
        <p:nvSpPr>
          <p:cNvPr id="655" name="Google Shape;655;h1cf66d82b0b9bf53_1_2"/>
          <p:cNvSpPr/>
          <p:nvPr/>
        </p:nvSpPr>
        <p:spPr>
          <a:xfrm>
            <a:off x="10701025" y="6175075"/>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highlight>
                  <a:schemeClr val="lt1"/>
                </a:highlight>
                <a:latin typeface="Verdana"/>
                <a:ea typeface="Verdana"/>
                <a:cs typeface="Verdana"/>
                <a:sym typeface="Verdana"/>
              </a:rPr>
              <a:t>19</a:t>
            </a:r>
            <a:endParaRPr>
              <a:highlight>
                <a:schemeClr val="lt1"/>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pic>
        <p:nvPicPr>
          <p:cNvPr id="680" name="Google Shape;680;h643a9da4f58e0660_0_69"/>
          <p:cNvPicPr preferRelativeResize="0"/>
          <p:nvPr/>
        </p:nvPicPr>
        <p:blipFill>
          <a:blip r:embed="rId3">
            <a:alphaModFix/>
          </a:blip>
          <a:stretch>
            <a:fillRect/>
          </a:stretch>
        </p:blipFill>
        <p:spPr>
          <a:xfrm>
            <a:off x="152400" y="152400"/>
            <a:ext cx="11373645" cy="6553200"/>
          </a:xfrm>
          <a:prstGeom prst="rect">
            <a:avLst/>
          </a:prstGeom>
          <a:noFill/>
          <a:ln>
            <a:noFill/>
          </a:ln>
        </p:spPr>
      </p:pic>
      <p:sp>
        <p:nvSpPr>
          <p:cNvPr id="681" name="Google Shape;681;h643a9da4f58e0660_0_69"/>
          <p:cNvSpPr/>
          <p:nvPr/>
        </p:nvSpPr>
        <p:spPr>
          <a:xfrm>
            <a:off x="10701025" y="6175075"/>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highlight>
                  <a:schemeClr val="lt1"/>
                </a:highlight>
                <a:latin typeface="Verdana"/>
                <a:ea typeface="Verdana"/>
                <a:cs typeface="Verdana"/>
                <a:sym typeface="Verdana"/>
              </a:rPr>
              <a:t>20</a:t>
            </a:r>
            <a:endParaRPr>
              <a:highlight>
                <a:schemeClr val="lt1"/>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7"/>
        <p:cNvGrpSpPr/>
        <p:nvPr/>
      </p:nvGrpSpPr>
      <p:grpSpPr>
        <a:xfrm>
          <a:off x="0" y="0"/>
          <a:ext cx="0" cy="0"/>
          <a:chOff x="0" y="0"/>
          <a:chExt cx="0" cy="0"/>
        </a:xfrm>
      </p:grpSpPr>
      <p:sp>
        <p:nvSpPr>
          <p:cNvPr id="698" name="Google Shape;698;p14"/>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Streamlit demonstration</a:t>
            </a:r>
            <a:endParaRPr/>
          </a:p>
        </p:txBody>
      </p:sp>
      <p:sp>
        <p:nvSpPr>
          <p:cNvPr id="699" name="Google Shape;699;p14"/>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a:solidFill>
                  <a:srgbClr val="536674"/>
                </a:solidFill>
                <a:latin typeface="Verdana"/>
                <a:ea typeface="Verdana"/>
                <a:cs typeface="Verdana"/>
                <a:sym typeface="Verdana"/>
              </a:rPr>
              <a:t>19</a:t>
            </a:r>
            <a:endParaRPr/>
          </a:p>
        </p:txBody>
      </p:sp>
      <p:pic>
        <p:nvPicPr>
          <p:cNvPr id="700" name="Google Shape;700;p14"/>
          <p:cNvPicPr preferRelativeResize="0"/>
          <p:nvPr/>
        </p:nvPicPr>
        <p:blipFill rotWithShape="1">
          <a:blip r:embed="rId3">
            <a:alphaModFix/>
          </a:blip>
          <a:srcRect/>
          <a:stretch/>
        </p:blipFill>
        <p:spPr>
          <a:xfrm>
            <a:off x="1521386" y="1533525"/>
            <a:ext cx="9149227" cy="4238625"/>
          </a:xfrm>
          <a:prstGeom prst="rect">
            <a:avLst/>
          </a:prstGeom>
          <a:noFill/>
          <a:ln>
            <a:noFill/>
          </a:ln>
        </p:spPr>
      </p:pic>
      <p:sp>
        <p:nvSpPr>
          <p:cNvPr id="701" name="Google Shape;701;p14"/>
          <p:cNvSpPr/>
          <p:nvPr/>
        </p:nvSpPr>
        <p:spPr>
          <a:xfrm>
            <a:off x="609600" y="5762625"/>
            <a:ext cx="106680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500" b="0">
                <a:solidFill>
                  <a:srgbClr val="536674"/>
                </a:solidFill>
                <a:latin typeface="Verdana"/>
                <a:ea typeface="Verdana"/>
                <a:cs typeface="Verdana"/>
                <a:sym typeface="Verdana"/>
              </a:rPr>
              <a:t>Recorded repository demo: hazelnut “print” defect. One example, not aggregate performance.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h62dfe8351d842ea3_0_6"/>
          <p:cNvSpPr/>
          <p:nvPr/>
        </p:nvSpPr>
        <p:spPr>
          <a:xfrm>
            <a:off x="651000" y="643950"/>
            <a:ext cx="10287000" cy="1238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50" b="1">
              <a:solidFill>
                <a:schemeClr val="dk2"/>
              </a:solidFill>
              <a:latin typeface="Verdana"/>
              <a:ea typeface="Verdana"/>
              <a:cs typeface="Verdana"/>
              <a:sym typeface="Verdana"/>
            </a:endParaRPr>
          </a:p>
          <a:p>
            <a:pPr marL="0" marR="0" lvl="0" indent="0" algn="l" rtl="0">
              <a:spcBef>
                <a:spcPts val="0"/>
              </a:spcBef>
              <a:spcAft>
                <a:spcPts val="0"/>
              </a:spcAft>
              <a:buNone/>
            </a:pPr>
            <a:r>
              <a:rPr lang="en-US" sz="2850" b="1">
                <a:solidFill>
                  <a:schemeClr val="dk2"/>
                </a:solidFill>
                <a:latin typeface="Verdana"/>
                <a:ea typeface="Verdana"/>
                <a:cs typeface="Verdana"/>
                <a:sym typeface="Verdana"/>
              </a:rPr>
              <a:t>Appendix</a:t>
            </a:r>
            <a:endParaRPr sz="2850" b="1">
              <a:solidFill>
                <a:schemeClr val="dk2"/>
              </a:solidFill>
              <a:latin typeface="Verdana"/>
              <a:ea typeface="Verdana"/>
              <a:cs typeface="Verdana"/>
              <a:sym typeface="Verdana"/>
            </a:endParaRPr>
          </a:p>
          <a:p>
            <a:pPr marL="457200" marR="0" lvl="0" indent="-409575" algn="l" rtl="0">
              <a:spcBef>
                <a:spcPts val="0"/>
              </a:spcBef>
              <a:spcAft>
                <a:spcPts val="0"/>
              </a:spcAft>
              <a:buSzPts val="2850"/>
              <a:buFont typeface="Verdana"/>
              <a:buChar char="●"/>
            </a:pPr>
            <a:r>
              <a:rPr lang="en-US" sz="2850" b="1" u="sng">
                <a:solidFill>
                  <a:schemeClr val="hlink"/>
                </a:solidFill>
                <a:latin typeface="Verdana"/>
                <a:ea typeface="Verdana"/>
                <a:cs typeface="Verdana"/>
                <a:sym typeface="Verdana"/>
                <a:hlinkClick r:id="rId3"/>
              </a:rPr>
              <a:t>https://www.mvtec.com/research-teaching/datasets/mvtec-ad</a:t>
            </a:r>
            <a:endParaRPr sz="2850" b="1">
              <a:solidFill>
                <a:schemeClr val="dk2"/>
              </a:solidFill>
              <a:latin typeface="Verdana"/>
              <a:ea typeface="Verdana"/>
              <a:cs typeface="Verdana"/>
              <a:sym typeface="Verdana"/>
            </a:endParaRPr>
          </a:p>
          <a:p>
            <a:pPr marL="457200" marR="0" lvl="0" indent="-409575" algn="l" rtl="0">
              <a:spcBef>
                <a:spcPts val="0"/>
              </a:spcBef>
              <a:spcAft>
                <a:spcPts val="0"/>
              </a:spcAft>
              <a:buSzPts val="2850"/>
              <a:buFont typeface="Verdana"/>
              <a:buChar char="●"/>
            </a:pPr>
            <a:r>
              <a:rPr lang="en-US" sz="2850" b="1" u="sng">
                <a:solidFill>
                  <a:schemeClr val="hlink"/>
                </a:solidFill>
                <a:latin typeface="Verdana"/>
                <a:ea typeface="Verdana"/>
                <a:cs typeface="Verdana"/>
                <a:sym typeface="Verdana"/>
                <a:hlinkClick r:id="rId4"/>
              </a:rPr>
              <a:t>https://medium.com/@kdk199604/patchcore-rethinking-cold-start-industrial-anomaly-detection-with-patch-level-memory-c2d62678365b</a:t>
            </a:r>
            <a:endParaRPr sz="2850" b="1">
              <a:solidFill>
                <a:schemeClr val="dk2"/>
              </a:solidFill>
              <a:latin typeface="Verdana"/>
              <a:ea typeface="Verdana"/>
              <a:cs typeface="Verdana"/>
              <a:sym typeface="Verdana"/>
            </a:endParaRPr>
          </a:p>
          <a:p>
            <a:pPr marL="457200" marR="0" lvl="0" indent="-409575" algn="l" rtl="0">
              <a:spcBef>
                <a:spcPts val="0"/>
              </a:spcBef>
              <a:spcAft>
                <a:spcPts val="0"/>
              </a:spcAft>
              <a:buSzPts val="2850"/>
              <a:buFont typeface="Verdana"/>
              <a:buChar char="●"/>
            </a:pPr>
            <a:r>
              <a:rPr lang="en-US" sz="2850" b="1" u="sng">
                <a:solidFill>
                  <a:schemeClr val="hlink"/>
                </a:solidFill>
                <a:latin typeface="Verdana"/>
                <a:ea typeface="Verdana"/>
                <a:cs typeface="Verdana"/>
                <a:sym typeface="Verdana"/>
                <a:hlinkClick r:id="rId5"/>
              </a:rPr>
              <a:t>https://arxiv.org/pdf/2106.08265</a:t>
            </a:r>
            <a:endParaRPr sz="2850" b="1">
              <a:solidFill>
                <a:schemeClr val="dk2"/>
              </a:solidFill>
              <a:latin typeface="Verdana"/>
              <a:ea typeface="Verdana"/>
              <a:cs typeface="Verdana"/>
              <a:sym typeface="Verdana"/>
            </a:endParaRPr>
          </a:p>
          <a:p>
            <a:pPr marL="0" marR="0" lvl="0" indent="0" algn="l" rtl="0">
              <a:spcBef>
                <a:spcPts val="0"/>
              </a:spcBef>
              <a:spcAft>
                <a:spcPts val="0"/>
              </a:spcAft>
              <a:buNone/>
            </a:pPr>
            <a:endParaRPr sz="2850" b="1">
              <a:solidFill>
                <a:schemeClr val="dk2"/>
              </a:solidFill>
              <a:latin typeface="Verdana"/>
              <a:ea typeface="Verdana"/>
              <a:cs typeface="Verdana"/>
              <a:sym typeface="Verdana"/>
            </a:endParaRPr>
          </a:p>
          <a:p>
            <a:pPr marL="0" marR="0" lvl="0" indent="0" algn="l" rtl="0">
              <a:spcBef>
                <a:spcPts val="0"/>
              </a:spcBef>
              <a:spcAft>
                <a:spcPts val="0"/>
              </a:spcAft>
              <a:buNone/>
            </a:pPr>
            <a:endParaRPr sz="2850" b="1">
              <a:solidFill>
                <a:schemeClr val="dk2"/>
              </a:solidFill>
              <a:latin typeface="Verdana"/>
              <a:ea typeface="Verdana"/>
              <a:cs typeface="Verdana"/>
              <a:sym typeface="Verdana"/>
            </a:endParaRPr>
          </a:p>
          <a:p>
            <a:pPr marL="0" marR="0" lvl="0" indent="0" algn="l" rtl="0">
              <a:spcBef>
                <a:spcPts val="0"/>
              </a:spcBef>
              <a:spcAft>
                <a:spcPts val="0"/>
              </a:spcAft>
              <a:buNone/>
            </a:pPr>
            <a:endParaRPr sz="2850" b="1">
              <a:solidFill>
                <a:schemeClr val="dk2"/>
              </a:solidFill>
              <a:latin typeface="Verdana"/>
              <a:ea typeface="Verdana"/>
              <a:cs typeface="Verdana"/>
              <a:sym typeface="Verdan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2"/>
        <p:cNvGrpSpPr/>
        <p:nvPr/>
      </p:nvGrpSpPr>
      <p:grpSpPr>
        <a:xfrm>
          <a:off x="0" y="0"/>
          <a:ext cx="0" cy="0"/>
          <a:chOff x="0" y="0"/>
          <a:chExt cx="0" cy="0"/>
        </a:xfrm>
      </p:grpSpPr>
      <p:sp>
        <p:nvSpPr>
          <p:cNvPr id="713" name="Google Shape;713;h7ea9e1c411d3302d_0_32"/>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150" b="1">
                <a:solidFill>
                  <a:srgbClr val="12293A"/>
                </a:solidFill>
                <a:latin typeface="Verdana"/>
                <a:ea typeface="Verdana"/>
                <a:cs typeface="Verdana"/>
                <a:sym typeface="Verdana"/>
              </a:rPr>
              <a:t>Supervised Machine Learning Techniques</a:t>
            </a:r>
            <a:endParaRPr sz="3150" b="1">
              <a:solidFill>
                <a:srgbClr val="12293A"/>
              </a:solidFill>
              <a:latin typeface="Verdana"/>
              <a:ea typeface="Verdana"/>
              <a:cs typeface="Verdana"/>
              <a:sym typeface="Verdana"/>
            </a:endParaRPr>
          </a:p>
          <a:p>
            <a:pPr marL="0" marR="0" lvl="0" indent="0" algn="l" rtl="0">
              <a:spcBef>
                <a:spcPts val="0"/>
              </a:spcBef>
              <a:spcAft>
                <a:spcPts val="0"/>
              </a:spcAft>
              <a:buNone/>
            </a:pPr>
            <a:r>
              <a:rPr lang="en-US" sz="2000">
                <a:solidFill>
                  <a:srgbClr val="12293A"/>
                </a:solidFill>
                <a:latin typeface="Verdana"/>
                <a:ea typeface="Verdana"/>
                <a:cs typeface="Verdana"/>
                <a:sym typeface="Verdana"/>
              </a:rPr>
              <a:t>Baseline Classifier: Normal/Defective, across 5 categories, 70/30 split on test data</a:t>
            </a:r>
            <a:endParaRPr sz="2000">
              <a:solidFill>
                <a:srgbClr val="12293A"/>
              </a:solidFill>
              <a:latin typeface="Verdana"/>
              <a:ea typeface="Verdana"/>
              <a:cs typeface="Verdana"/>
              <a:sym typeface="Verdana"/>
            </a:endParaRPr>
          </a:p>
        </p:txBody>
      </p:sp>
      <p:sp>
        <p:nvSpPr>
          <p:cNvPr id="714" name="Google Shape;714;h7ea9e1c411d3302d_0_32"/>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08</a:t>
            </a:r>
            <a:endParaRPr/>
          </a:p>
        </p:txBody>
      </p:sp>
      <p:graphicFrame>
        <p:nvGraphicFramePr>
          <p:cNvPr id="715" name="Google Shape;715;h7ea9e1c411d3302d_0_32"/>
          <p:cNvGraphicFramePr/>
          <p:nvPr/>
        </p:nvGraphicFramePr>
        <p:xfrm>
          <a:off x="609600" y="1409550"/>
          <a:ext cx="10972800" cy="3288728"/>
        </p:xfrm>
        <a:graphic>
          <a:graphicData uri="http://schemas.openxmlformats.org/drawingml/2006/table">
            <a:tbl>
              <a:tblPr>
                <a:noFill/>
                <a:tableStyleId>{89359D83-5457-4402-8951-C3CEC1CC7011}</a:tableStyleId>
              </a:tblPr>
              <a:tblGrid>
                <a:gridCol w="2757825">
                  <a:extLst>
                    <a:ext uri="{9D8B030D-6E8A-4147-A177-3AD203B41FA5}">
                      <a16:colId xmlns:a16="http://schemas.microsoft.com/office/drawing/2014/main" val="20000"/>
                    </a:ext>
                  </a:extLst>
                </a:gridCol>
                <a:gridCol w="2279625">
                  <a:extLst>
                    <a:ext uri="{9D8B030D-6E8A-4147-A177-3AD203B41FA5}">
                      <a16:colId xmlns:a16="http://schemas.microsoft.com/office/drawing/2014/main" val="20001"/>
                    </a:ext>
                  </a:extLst>
                </a:gridCol>
                <a:gridCol w="1978450">
                  <a:extLst>
                    <a:ext uri="{9D8B030D-6E8A-4147-A177-3AD203B41FA5}">
                      <a16:colId xmlns:a16="http://schemas.microsoft.com/office/drawing/2014/main" val="20002"/>
                    </a:ext>
                  </a:extLst>
                </a:gridCol>
                <a:gridCol w="1978450">
                  <a:extLst>
                    <a:ext uri="{9D8B030D-6E8A-4147-A177-3AD203B41FA5}">
                      <a16:colId xmlns:a16="http://schemas.microsoft.com/office/drawing/2014/main" val="20003"/>
                    </a:ext>
                  </a:extLst>
                </a:gridCol>
                <a:gridCol w="1978450">
                  <a:extLst>
                    <a:ext uri="{9D8B030D-6E8A-4147-A177-3AD203B41FA5}">
                      <a16:colId xmlns:a16="http://schemas.microsoft.com/office/drawing/2014/main" val="20004"/>
                    </a:ext>
                  </a:extLst>
                </a:gridCol>
              </a:tblGrid>
              <a:tr h="525475">
                <a:tc>
                  <a:txBody>
                    <a:bodyPr/>
                    <a:lstStyle/>
                    <a:p>
                      <a:pPr marL="0" marR="0" lvl="0" indent="0" algn="l" rtl="0">
                        <a:spcBef>
                          <a:spcPts val="0"/>
                        </a:spcBef>
                        <a:spcAft>
                          <a:spcPts val="0"/>
                        </a:spcAft>
                        <a:buClr>
                          <a:srgbClr val="FFFFFF"/>
                        </a:buClr>
                        <a:buSzPts val="1800"/>
                        <a:buFont typeface="Verdana"/>
                        <a:buNone/>
                      </a:pPr>
                      <a:r>
                        <a:rPr lang="en-US" sz="1700" b="1">
                          <a:solidFill>
                            <a:srgbClr val="FFFFFF"/>
                          </a:solidFill>
                          <a:latin typeface="Verdana"/>
                          <a:ea typeface="Verdana"/>
                          <a:cs typeface="Verdana"/>
                          <a:sym typeface="Verdana"/>
                        </a:rPr>
                        <a:t>Baseline Classification</a:t>
                      </a:r>
                      <a:endParaRPr sz="1300"/>
                    </a:p>
                  </a:txBody>
                  <a:tcPr marL="91450" marR="91450" marT="45725" marB="45725">
                    <a:lnB w="9525" cap="flat" cmpd="sng">
                      <a:solidFill>
                        <a:srgbClr val="000000"/>
                      </a:solidFill>
                      <a:prstDash val="solid"/>
                      <a:round/>
                      <a:headEnd type="none" w="sm" len="sm"/>
                      <a:tailEnd type="none" w="sm" len="sm"/>
                    </a:lnB>
                    <a:solidFill>
                      <a:srgbClr val="12293A"/>
                    </a:solidFill>
                  </a:tcPr>
                </a:tc>
                <a:tc>
                  <a:txBody>
                    <a:bodyPr/>
                    <a:lstStyle/>
                    <a:p>
                      <a:pPr marL="0" marR="0" lvl="0" indent="0" algn="l" rtl="0">
                        <a:spcBef>
                          <a:spcPts val="0"/>
                        </a:spcBef>
                        <a:spcAft>
                          <a:spcPts val="0"/>
                        </a:spcAft>
                        <a:buClr>
                          <a:srgbClr val="FFFFFF"/>
                        </a:buClr>
                        <a:buSzPts val="1800"/>
                        <a:buFont typeface="Verdana"/>
                        <a:buNone/>
                      </a:pPr>
                      <a:r>
                        <a:rPr lang="en-US" sz="1700" b="1">
                          <a:solidFill>
                            <a:srgbClr val="FFFFFF"/>
                          </a:solidFill>
                          <a:latin typeface="Verdana"/>
                          <a:ea typeface="Verdana"/>
                          <a:cs typeface="Verdana"/>
                          <a:sym typeface="Verdana"/>
                        </a:rPr>
                        <a:t>Parameters</a:t>
                      </a:r>
                      <a:endParaRPr sz="1300"/>
                    </a:p>
                  </a:txBody>
                  <a:tcPr marL="91450" marR="91450" marT="45725" marB="45725">
                    <a:lnB w="9525" cap="flat" cmpd="sng">
                      <a:solidFill>
                        <a:srgbClr val="000000"/>
                      </a:solidFill>
                      <a:prstDash val="solid"/>
                      <a:round/>
                      <a:headEnd type="none" w="sm" len="sm"/>
                      <a:tailEnd type="none" w="sm" len="sm"/>
                    </a:lnB>
                    <a:solidFill>
                      <a:srgbClr val="12293A"/>
                    </a:solidFill>
                  </a:tcPr>
                </a:tc>
                <a:tc>
                  <a:txBody>
                    <a:bodyPr/>
                    <a:lstStyle/>
                    <a:p>
                      <a:pPr marL="0" lvl="0" indent="0" algn="l" rtl="0">
                        <a:lnSpc>
                          <a:spcPct val="115000"/>
                        </a:lnSpc>
                        <a:spcBef>
                          <a:spcPts val="0"/>
                        </a:spcBef>
                        <a:spcAft>
                          <a:spcPts val="800"/>
                        </a:spcAft>
                        <a:buNone/>
                      </a:pPr>
                      <a:r>
                        <a:rPr lang="en-US" sz="1700" b="1">
                          <a:solidFill>
                            <a:srgbClr val="FFFFFF"/>
                          </a:solidFill>
                          <a:latin typeface="Verdana"/>
                          <a:ea typeface="Verdana"/>
                          <a:cs typeface="Verdana"/>
                          <a:sym typeface="Verdana"/>
                        </a:rPr>
                        <a:t>Avg Val Accuracy</a:t>
                      </a:r>
                      <a:endParaRPr sz="1700" b="1">
                        <a:solidFill>
                          <a:srgbClr val="FFFFFF"/>
                        </a:solidFill>
                        <a:latin typeface="Verdana"/>
                        <a:ea typeface="Verdana"/>
                        <a:cs typeface="Verdana"/>
                        <a:sym typeface="Verdana"/>
                      </a:endParaRPr>
                    </a:p>
                  </a:txBody>
                  <a:tcPr marL="95250" marR="95250" marT="47625" marB="47625">
                    <a:lnB w="9525" cap="flat" cmpd="sng">
                      <a:solidFill>
                        <a:srgbClr val="000000"/>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800"/>
                        </a:spcAft>
                        <a:buNone/>
                      </a:pPr>
                      <a:r>
                        <a:rPr lang="en-US" sz="1700" b="1">
                          <a:solidFill>
                            <a:srgbClr val="FFFFFF"/>
                          </a:solidFill>
                          <a:latin typeface="Verdana"/>
                          <a:ea typeface="Verdana"/>
                          <a:cs typeface="Verdana"/>
                          <a:sym typeface="Verdana"/>
                        </a:rPr>
                        <a:t>Avg Val F1</a:t>
                      </a:r>
                      <a:endParaRPr sz="1700" b="1">
                        <a:solidFill>
                          <a:srgbClr val="FFFFFF"/>
                        </a:solidFill>
                        <a:latin typeface="Verdana"/>
                        <a:ea typeface="Verdana"/>
                        <a:cs typeface="Verdana"/>
                        <a:sym typeface="Verdana"/>
                      </a:endParaRPr>
                    </a:p>
                  </a:txBody>
                  <a:tcPr marL="95250" marR="95250" marT="47625" marB="47625">
                    <a:lnB w="9525" cap="flat" cmpd="sng">
                      <a:solidFill>
                        <a:srgbClr val="000000"/>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800"/>
                        </a:spcAft>
                        <a:buNone/>
                      </a:pPr>
                      <a:r>
                        <a:rPr lang="en-US" sz="1700" b="1">
                          <a:solidFill>
                            <a:srgbClr val="FFFFFF"/>
                          </a:solidFill>
                          <a:latin typeface="Verdana"/>
                          <a:ea typeface="Verdana"/>
                          <a:cs typeface="Verdana"/>
                          <a:sym typeface="Verdana"/>
                        </a:rPr>
                        <a:t>Avg Final Train Loss</a:t>
                      </a:r>
                      <a:endParaRPr sz="1700" b="1">
                        <a:solidFill>
                          <a:srgbClr val="FFFFFF"/>
                        </a:solidFill>
                        <a:latin typeface="Verdana"/>
                        <a:ea typeface="Verdana"/>
                        <a:cs typeface="Verdana"/>
                        <a:sym typeface="Verdana"/>
                      </a:endParaRPr>
                    </a:p>
                  </a:txBody>
                  <a:tcPr marL="95250" marR="95250" marT="47625" marB="47625">
                    <a:lnB w="9525" cap="flat" cmpd="sng">
                      <a:solidFill>
                        <a:srgbClr val="000000"/>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525475">
                <a:tc>
                  <a:txBody>
                    <a:bodyPr/>
                    <a:lstStyle/>
                    <a:p>
                      <a:pPr marL="0" marR="0" lvl="0" indent="0" algn="l" rtl="0">
                        <a:spcBef>
                          <a:spcPts val="0"/>
                        </a:spcBef>
                        <a:spcAft>
                          <a:spcPts val="0"/>
                        </a:spcAft>
                        <a:buClr>
                          <a:srgbClr val="12293A"/>
                        </a:buClr>
                        <a:buSzPts val="1800"/>
                        <a:buFont typeface="Verdana"/>
                        <a:buNone/>
                      </a:pPr>
                      <a:r>
                        <a:rPr lang="en-US" sz="1700" b="1">
                          <a:solidFill>
                            <a:srgbClr val="12293A"/>
                          </a:solidFill>
                          <a:latin typeface="Verdana"/>
                          <a:ea typeface="Verdana"/>
                          <a:cs typeface="Verdana"/>
                          <a:sym typeface="Verdana"/>
                        </a:rPr>
                        <a:t>ResNet18</a:t>
                      </a:r>
                      <a:endParaRPr sz="1300" b="1"/>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spcBef>
                          <a:spcPts val="0"/>
                        </a:spcBef>
                        <a:spcAft>
                          <a:spcPts val="0"/>
                        </a:spcAft>
                        <a:buClr>
                          <a:srgbClr val="12293A"/>
                        </a:buClr>
                        <a:buSzPts val="1800"/>
                        <a:buFont typeface="Verdana"/>
                        <a:buNone/>
                      </a:pPr>
                      <a:r>
                        <a:rPr lang="en-US" sz="1700" b="1">
                          <a:solidFill>
                            <a:srgbClr val="12293A"/>
                          </a:solidFill>
                          <a:latin typeface="Verdana"/>
                          <a:ea typeface="Verdana"/>
                          <a:cs typeface="Verdana"/>
                          <a:sym typeface="Verdana"/>
                        </a:rPr>
                        <a:t>11.2M</a:t>
                      </a:r>
                      <a:endParaRPr sz="1300" b="1"/>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lvl="0" indent="0" algn="l" rtl="0">
                        <a:lnSpc>
                          <a:spcPct val="115000"/>
                        </a:lnSpc>
                        <a:spcBef>
                          <a:spcPts val="0"/>
                        </a:spcBef>
                        <a:spcAft>
                          <a:spcPts val="800"/>
                        </a:spcAft>
                        <a:buNone/>
                      </a:pPr>
                      <a:r>
                        <a:rPr lang="en-US" sz="1700" b="1">
                          <a:solidFill>
                            <a:srgbClr val="12293A"/>
                          </a:solidFill>
                          <a:latin typeface="Verdana"/>
                          <a:ea typeface="Verdana"/>
                          <a:cs typeface="Verdana"/>
                          <a:sym typeface="Verdana"/>
                        </a:rPr>
                        <a:t>97.62%</a:t>
                      </a:r>
                      <a:endParaRPr sz="1700" b="1">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lvl="0" indent="0" algn="l" rtl="0">
                        <a:lnSpc>
                          <a:spcPct val="115000"/>
                        </a:lnSpc>
                        <a:spcBef>
                          <a:spcPts val="0"/>
                        </a:spcBef>
                        <a:spcAft>
                          <a:spcPts val="800"/>
                        </a:spcAft>
                        <a:buNone/>
                      </a:pPr>
                      <a:r>
                        <a:rPr lang="en-US" sz="1700" b="1">
                          <a:solidFill>
                            <a:srgbClr val="12293A"/>
                          </a:solidFill>
                          <a:latin typeface="Verdana"/>
                          <a:ea typeface="Verdana"/>
                          <a:cs typeface="Verdana"/>
                          <a:sym typeface="Verdana"/>
                        </a:rPr>
                        <a:t>97.92%</a:t>
                      </a:r>
                      <a:endParaRPr sz="1700" b="1">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lvl="0" indent="0" algn="l" rtl="0">
                        <a:lnSpc>
                          <a:spcPct val="115000"/>
                        </a:lnSpc>
                        <a:spcBef>
                          <a:spcPts val="0"/>
                        </a:spcBef>
                        <a:spcAft>
                          <a:spcPts val="800"/>
                        </a:spcAft>
                        <a:buNone/>
                      </a:pPr>
                      <a:r>
                        <a:rPr lang="en-US" sz="1700" b="1">
                          <a:solidFill>
                            <a:srgbClr val="12293A"/>
                          </a:solidFill>
                          <a:latin typeface="Verdana"/>
                          <a:ea typeface="Verdana"/>
                          <a:cs typeface="Verdana"/>
                          <a:sym typeface="Verdana"/>
                        </a:rPr>
                        <a:t>0.034</a:t>
                      </a:r>
                      <a:endParaRPr sz="1700" b="1">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extLst>
                  <a:ext uri="{0D108BD9-81ED-4DB2-BD59-A6C34878D82A}">
                    <a16:rowId xmlns:a16="http://schemas.microsoft.com/office/drawing/2014/main" val="10001"/>
                  </a:ext>
                </a:extLst>
              </a:tr>
              <a:tr h="525475">
                <a:tc>
                  <a:txBody>
                    <a:bodyPr/>
                    <a:lstStyle/>
                    <a:p>
                      <a:pPr marL="0" marR="0" lvl="0" indent="0" algn="l" rtl="0">
                        <a:spcBef>
                          <a:spcPts val="0"/>
                        </a:spcBef>
                        <a:spcAft>
                          <a:spcPts val="0"/>
                        </a:spcAft>
                        <a:buClr>
                          <a:srgbClr val="12293A"/>
                        </a:buClr>
                        <a:buSzPts val="1800"/>
                        <a:buFont typeface="Verdana"/>
                        <a:buNone/>
                      </a:pPr>
                      <a:r>
                        <a:rPr lang="en-US" sz="1700">
                          <a:solidFill>
                            <a:srgbClr val="12293A"/>
                          </a:solidFill>
                          <a:latin typeface="Verdana"/>
                          <a:ea typeface="Verdana"/>
                          <a:cs typeface="Verdana"/>
                          <a:sym typeface="Verdana"/>
                        </a:rPr>
                        <a:t>ConvNeXt-Tiny</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27.8M</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97.44%</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96.75%</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0.065</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5475">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EfficientNet-B0</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4.0M</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93.87%</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94.16%</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0.184</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extLst>
                  <a:ext uri="{0D108BD9-81ED-4DB2-BD59-A6C34878D82A}">
                    <a16:rowId xmlns:a16="http://schemas.microsoft.com/office/drawing/2014/main" val="10003"/>
                  </a:ext>
                </a:extLst>
              </a:tr>
              <a:tr h="525475">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ViT-B/16</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85.8M</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89.78%</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78.50%</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0.343</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25475">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Simple CNN</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spcBef>
                          <a:spcPts val="0"/>
                        </a:spcBef>
                        <a:spcAft>
                          <a:spcPts val="0"/>
                        </a:spcAft>
                        <a:buClr>
                          <a:srgbClr val="12293A"/>
                        </a:buClr>
                        <a:buSzPts val="1800"/>
                        <a:buFont typeface="Verdana"/>
                        <a:buNone/>
                      </a:pPr>
                      <a:r>
                        <a:rPr lang="en-US" sz="1700" b="0">
                          <a:solidFill>
                            <a:srgbClr val="12293A"/>
                          </a:solidFill>
                          <a:latin typeface="Verdana"/>
                          <a:ea typeface="Verdana"/>
                          <a:cs typeface="Verdana"/>
                          <a:sym typeface="Verdana"/>
                        </a:rPr>
                        <a:t>0.25M</a:t>
                      </a:r>
                      <a:endParaRPr sz="1300"/>
                    </a:p>
                  </a:txBody>
                  <a:tcPr marL="91450" marR="91450" marT="45725" marB="457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60.38%</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37.63%</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tc>
                  <a:txBody>
                    <a:bodyPr/>
                    <a:lstStyle/>
                    <a:p>
                      <a:pPr marL="0" marR="0" lvl="0" indent="0" algn="l" rtl="0">
                        <a:lnSpc>
                          <a:spcPct val="115000"/>
                        </a:lnSpc>
                        <a:spcBef>
                          <a:spcPts val="0"/>
                        </a:spcBef>
                        <a:spcAft>
                          <a:spcPts val="800"/>
                        </a:spcAft>
                        <a:buNone/>
                      </a:pPr>
                      <a:r>
                        <a:rPr lang="en-US" sz="1700">
                          <a:solidFill>
                            <a:srgbClr val="12293A"/>
                          </a:solidFill>
                          <a:latin typeface="Verdana"/>
                          <a:ea typeface="Verdana"/>
                          <a:cs typeface="Verdana"/>
                          <a:sym typeface="Verdana"/>
                        </a:rPr>
                        <a:t>0.464</a:t>
                      </a:r>
                      <a:endParaRPr sz="1700">
                        <a:solidFill>
                          <a:srgbClr val="12293A"/>
                        </a:solidFill>
                        <a:latin typeface="Verdana"/>
                        <a:ea typeface="Verdana"/>
                        <a:cs typeface="Verdana"/>
                        <a:sym typeface="Verdana"/>
                      </a:endParaRPr>
                    </a:p>
                  </a:txBody>
                  <a:tcPr marL="95250" marR="95250" marT="47625" marB="476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F4F5"/>
                    </a:solidFill>
                  </a:tcPr>
                </a:tc>
                <a:extLst>
                  <a:ext uri="{0D108BD9-81ED-4DB2-BD59-A6C34878D82A}">
                    <a16:rowId xmlns:a16="http://schemas.microsoft.com/office/drawing/2014/main" val="10005"/>
                  </a:ext>
                </a:extLst>
              </a:tr>
            </a:tbl>
          </a:graphicData>
        </a:graphic>
      </p:graphicFrame>
      <p:sp>
        <p:nvSpPr>
          <p:cNvPr id="716" name="Google Shape;716;h7ea9e1c411d3302d_0_32"/>
          <p:cNvSpPr/>
          <p:nvPr/>
        </p:nvSpPr>
        <p:spPr>
          <a:xfrm>
            <a:off x="8572500" y="4851250"/>
            <a:ext cx="3009900" cy="400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2100" b="1">
                <a:solidFill>
                  <a:srgbClr val="007E87"/>
                </a:solidFill>
                <a:latin typeface="Verdana"/>
                <a:ea typeface="Verdana"/>
                <a:cs typeface="Verdana"/>
                <a:sym typeface="Verdana"/>
              </a:rPr>
              <a:t>Conclusion</a:t>
            </a:r>
            <a:endParaRPr/>
          </a:p>
        </p:txBody>
      </p:sp>
      <p:sp>
        <p:nvSpPr>
          <p:cNvPr id="717" name="Google Shape;717;h7ea9e1c411d3302d_0_32"/>
          <p:cNvSpPr/>
          <p:nvPr/>
        </p:nvSpPr>
        <p:spPr>
          <a:xfrm>
            <a:off x="-40525" y="4851250"/>
            <a:ext cx="12192000" cy="952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050" b="1">
                <a:solidFill>
                  <a:schemeClr val="dk1"/>
                </a:solidFill>
                <a:latin typeface="Verdana"/>
                <a:ea typeface="Verdana"/>
                <a:cs typeface="Verdana"/>
                <a:sym typeface="Verdana"/>
              </a:rPr>
              <a:t>ResNet18 remains the justified production baseline classifier</a:t>
            </a:r>
            <a:r>
              <a:rPr lang="en-US" sz="1050">
                <a:solidFill>
                  <a:schemeClr val="dk1"/>
                </a:solidFill>
                <a:latin typeface="Verdana"/>
                <a:ea typeface="Verdana"/>
                <a:cs typeface="Verdana"/>
                <a:sym typeface="Verdana"/>
              </a:rPr>
              <a:t> for the following reasons:</a:t>
            </a:r>
            <a:endParaRPr sz="1050">
              <a:solidFill>
                <a:schemeClr val="dk1"/>
              </a:solidFill>
              <a:latin typeface="Verdana"/>
              <a:ea typeface="Verdana"/>
              <a:cs typeface="Verdana"/>
              <a:sym typeface="Verdana"/>
            </a:endParaRPr>
          </a:p>
          <a:p>
            <a:pPr marL="457200" lvl="0" indent="-295275" algn="l" rtl="0">
              <a:lnSpc>
                <a:spcPct val="115000"/>
              </a:lnSpc>
              <a:spcBef>
                <a:spcPts val="1200"/>
              </a:spcBef>
              <a:spcAft>
                <a:spcPts val="0"/>
              </a:spcAft>
              <a:buClr>
                <a:schemeClr val="dk1"/>
              </a:buClr>
              <a:buSzPts val="1050"/>
              <a:buFont typeface="Ubuntu"/>
              <a:buChar char="●"/>
            </a:pPr>
            <a:r>
              <a:rPr lang="en-US" sz="1050" b="1">
                <a:solidFill>
                  <a:schemeClr val="dk1"/>
                </a:solidFill>
                <a:latin typeface="Verdana"/>
                <a:ea typeface="Verdana"/>
                <a:cs typeface="Verdana"/>
                <a:sym typeface="Verdana"/>
              </a:rPr>
              <a:t>Accuracy:</a:t>
            </a:r>
            <a:r>
              <a:rPr lang="en-US" sz="1050">
                <a:solidFill>
                  <a:schemeClr val="dk1"/>
                </a:solidFill>
                <a:latin typeface="Verdana"/>
                <a:ea typeface="Verdana"/>
                <a:cs typeface="Verdana"/>
                <a:sym typeface="Verdana"/>
              </a:rPr>
              <a:t> ResNet18 and ConvNeXt-Tiny are statistically equivalent (97.62% vs 97.44%, Δ &lt; 0.2pp). ResNet18 wins on 3 of 5 categories; ConvNeXt-Tiny on 2.</a:t>
            </a:r>
            <a:endParaRPr sz="1050">
              <a:solidFill>
                <a:schemeClr val="dk1"/>
              </a:solidFill>
              <a:latin typeface="Verdana"/>
              <a:ea typeface="Verdana"/>
              <a:cs typeface="Verdana"/>
              <a:sym typeface="Verdana"/>
            </a:endParaRPr>
          </a:p>
          <a:p>
            <a:pPr marL="457200" lvl="0" indent="-295275" algn="l" rtl="0">
              <a:lnSpc>
                <a:spcPct val="115000"/>
              </a:lnSpc>
              <a:spcBef>
                <a:spcPts val="0"/>
              </a:spcBef>
              <a:spcAft>
                <a:spcPts val="0"/>
              </a:spcAft>
              <a:buClr>
                <a:schemeClr val="dk1"/>
              </a:buClr>
              <a:buSzPts val="1050"/>
              <a:buFont typeface="Ubuntu"/>
              <a:buChar char="●"/>
            </a:pPr>
            <a:r>
              <a:rPr lang="en-US" sz="1050" b="1">
                <a:solidFill>
                  <a:schemeClr val="dk1"/>
                </a:solidFill>
                <a:latin typeface="Verdana"/>
                <a:ea typeface="Verdana"/>
                <a:cs typeface="Verdana"/>
                <a:sym typeface="Verdana"/>
              </a:rPr>
              <a:t>Efficiency:</a:t>
            </a:r>
            <a:r>
              <a:rPr lang="en-US" sz="1050">
                <a:solidFill>
                  <a:schemeClr val="dk1"/>
                </a:solidFill>
                <a:latin typeface="Verdana"/>
                <a:ea typeface="Verdana"/>
                <a:cs typeface="Verdana"/>
                <a:sym typeface="Verdana"/>
              </a:rPr>
              <a:t> ResNet18 has 11.2M parameters vs ConvNeXt-Tiny's 27.8M (2.5× smaller). Real-time inference latency is significantly lower, critical for the Streamlit demo's interactive use case.</a:t>
            </a:r>
            <a:endParaRPr sz="1050">
              <a:solidFill>
                <a:schemeClr val="dk1"/>
              </a:solidFill>
              <a:latin typeface="Verdana"/>
              <a:ea typeface="Verdana"/>
              <a:cs typeface="Verdana"/>
              <a:sym typeface="Verdana"/>
            </a:endParaRPr>
          </a:p>
          <a:p>
            <a:pPr marL="457200" lvl="0" indent="-295275" algn="l" rtl="0">
              <a:lnSpc>
                <a:spcPct val="115000"/>
              </a:lnSpc>
              <a:spcBef>
                <a:spcPts val="0"/>
              </a:spcBef>
              <a:spcAft>
                <a:spcPts val="0"/>
              </a:spcAft>
              <a:buClr>
                <a:schemeClr val="dk1"/>
              </a:buClr>
              <a:buSzPts val="1050"/>
              <a:buFont typeface="Ubuntu"/>
              <a:buChar char="●"/>
            </a:pPr>
            <a:r>
              <a:rPr lang="en-US" sz="1050" b="1">
                <a:solidFill>
                  <a:schemeClr val="dk1"/>
                </a:solidFill>
                <a:latin typeface="Verdana"/>
                <a:ea typeface="Verdana"/>
                <a:cs typeface="Verdana"/>
                <a:sym typeface="Verdana"/>
              </a:rPr>
              <a:t>Stability:</a:t>
            </a:r>
            <a:r>
              <a:rPr lang="en-US" sz="1050">
                <a:solidFill>
                  <a:schemeClr val="dk1"/>
                </a:solidFill>
                <a:latin typeface="Verdana"/>
                <a:ea typeface="Verdana"/>
                <a:cs typeface="Verdana"/>
                <a:sym typeface="Verdana"/>
              </a:rPr>
              <a:t> ResNet18's lower training loss (0.034 vs 0.065) indicates faster convergence and less overfitting risk on tiny validation splits. Better generalizes to new categories without retuning.</a:t>
            </a:r>
            <a:endParaRPr sz="1050">
              <a:solidFill>
                <a:schemeClr val="dk1"/>
              </a:solidFill>
              <a:latin typeface="Verdana"/>
              <a:ea typeface="Verdana"/>
              <a:cs typeface="Verdana"/>
              <a:sym typeface="Verdana"/>
            </a:endParaRPr>
          </a:p>
          <a:p>
            <a:pPr marL="457200" lvl="0" indent="-295275" algn="l" rtl="0">
              <a:lnSpc>
                <a:spcPct val="115000"/>
              </a:lnSpc>
              <a:spcBef>
                <a:spcPts val="0"/>
              </a:spcBef>
              <a:spcAft>
                <a:spcPts val="0"/>
              </a:spcAft>
              <a:buClr>
                <a:schemeClr val="dk1"/>
              </a:buClr>
              <a:buSzPts val="1050"/>
              <a:buFont typeface="Ubuntu"/>
              <a:buChar char="●"/>
            </a:pPr>
            <a:r>
              <a:rPr lang="en-US" sz="1050" b="1">
                <a:solidFill>
                  <a:schemeClr val="dk1"/>
                </a:solidFill>
                <a:latin typeface="Verdana"/>
                <a:ea typeface="Verdana"/>
                <a:cs typeface="Verdana"/>
                <a:sym typeface="Verdana"/>
              </a:rPr>
              <a:t>Industry Standard:</a:t>
            </a:r>
            <a:r>
              <a:rPr lang="en-US" sz="1050">
                <a:solidFill>
                  <a:schemeClr val="dk1"/>
                </a:solidFill>
                <a:latin typeface="Verdana"/>
                <a:ea typeface="Verdana"/>
                <a:cs typeface="Verdana"/>
                <a:sym typeface="Verdana"/>
              </a:rPr>
              <a:t> ResNet18 is the de-facto transfer learning baseline. Extensive documentation, pretrained weights from multiple sources, and community support ensure long-term maintainability.</a:t>
            </a:r>
            <a:endParaRPr sz="1050">
              <a:solidFill>
                <a:schemeClr val="dk1"/>
              </a:solidFill>
              <a:latin typeface="Verdana"/>
              <a:ea typeface="Verdana"/>
              <a:cs typeface="Verdana"/>
              <a:sym typeface="Verdana"/>
            </a:endParaRPr>
          </a:p>
          <a:p>
            <a:pPr marL="457200" lvl="0" indent="-295275" algn="l" rtl="0">
              <a:lnSpc>
                <a:spcPct val="115000"/>
              </a:lnSpc>
              <a:spcBef>
                <a:spcPts val="0"/>
              </a:spcBef>
              <a:spcAft>
                <a:spcPts val="0"/>
              </a:spcAft>
              <a:buClr>
                <a:schemeClr val="dk1"/>
              </a:buClr>
              <a:buSzPts val="1050"/>
              <a:buFont typeface="Ubuntu"/>
              <a:buChar char="●"/>
            </a:pPr>
            <a:r>
              <a:rPr lang="en-US" sz="1050" b="1">
                <a:solidFill>
                  <a:schemeClr val="dk1"/>
                </a:solidFill>
                <a:latin typeface="Verdana"/>
                <a:ea typeface="Verdana"/>
                <a:cs typeface="Verdana"/>
                <a:sym typeface="Verdana"/>
              </a:rPr>
              <a:t>Robustness:</a:t>
            </a:r>
            <a:r>
              <a:rPr lang="en-US" sz="1050">
                <a:solidFill>
                  <a:schemeClr val="dk1"/>
                </a:solidFill>
                <a:latin typeface="Verdana"/>
                <a:ea typeface="Verdana"/>
                <a:cs typeface="Verdana"/>
                <a:sym typeface="Verdana"/>
              </a:rPr>
              <a:t> ResNet18 performs consistently across all 5 tested categories (94–100%), with no catastrophic failures. ConvNeXt-Tiny's success on hazelnut and tile comes with weaker performance trade-offs on other categories.</a:t>
            </a:r>
            <a:endParaRPr sz="1875">
              <a:solidFill>
                <a:schemeClr val="dk1"/>
              </a:solidFill>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2"/>
        <p:cNvGrpSpPr/>
        <p:nvPr/>
      </p:nvGrpSpPr>
      <p:grpSpPr>
        <a:xfrm>
          <a:off x="0" y="0"/>
          <a:ext cx="0" cy="0"/>
          <a:chOff x="0" y="0"/>
          <a:chExt cx="0" cy="0"/>
        </a:xfrm>
      </p:grpSpPr>
      <p:sp>
        <p:nvSpPr>
          <p:cNvPr id="723" name="Google Shape;723;h48043f3f66c9ba31_0_7"/>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Defect Type Classifier Performance</a:t>
            </a:r>
            <a:endParaRPr/>
          </a:p>
        </p:txBody>
      </p:sp>
      <p:sp>
        <p:nvSpPr>
          <p:cNvPr id="724" name="Google Shape;724;h48043f3f66c9ba31_0_7"/>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08</a:t>
            </a:r>
            <a:endParaRPr/>
          </a:p>
        </p:txBody>
      </p:sp>
      <p:graphicFrame>
        <p:nvGraphicFramePr>
          <p:cNvPr id="725" name="Google Shape;725;h48043f3f66c9ba31_0_7"/>
          <p:cNvGraphicFramePr/>
          <p:nvPr/>
        </p:nvGraphicFramePr>
        <p:xfrm>
          <a:off x="609600" y="1207750"/>
          <a:ext cx="10972775" cy="1666136"/>
        </p:xfrm>
        <a:graphic>
          <a:graphicData uri="http://schemas.openxmlformats.org/drawingml/2006/table">
            <a:tbl>
              <a:tblPr>
                <a:noFill/>
                <a:tableStyleId>{89359D83-5457-4402-8951-C3CEC1CC7011}</a:tableStyleId>
              </a:tblPr>
              <a:tblGrid>
                <a:gridCol w="1473175">
                  <a:extLst>
                    <a:ext uri="{9D8B030D-6E8A-4147-A177-3AD203B41FA5}">
                      <a16:colId xmlns:a16="http://schemas.microsoft.com/office/drawing/2014/main" val="20000"/>
                    </a:ext>
                  </a:extLst>
                </a:gridCol>
                <a:gridCol w="1543125">
                  <a:extLst>
                    <a:ext uri="{9D8B030D-6E8A-4147-A177-3AD203B41FA5}">
                      <a16:colId xmlns:a16="http://schemas.microsoft.com/office/drawing/2014/main" val="20001"/>
                    </a:ext>
                  </a:extLst>
                </a:gridCol>
                <a:gridCol w="5217275">
                  <a:extLst>
                    <a:ext uri="{9D8B030D-6E8A-4147-A177-3AD203B41FA5}">
                      <a16:colId xmlns:a16="http://schemas.microsoft.com/office/drawing/2014/main" val="20002"/>
                    </a:ext>
                  </a:extLst>
                </a:gridCol>
                <a:gridCol w="1453575">
                  <a:extLst>
                    <a:ext uri="{9D8B030D-6E8A-4147-A177-3AD203B41FA5}">
                      <a16:colId xmlns:a16="http://schemas.microsoft.com/office/drawing/2014/main" val="20003"/>
                    </a:ext>
                  </a:extLst>
                </a:gridCol>
                <a:gridCol w="1285625">
                  <a:extLst>
                    <a:ext uri="{9D8B030D-6E8A-4147-A177-3AD203B41FA5}">
                      <a16:colId xmlns:a16="http://schemas.microsoft.com/office/drawing/2014/main" val="20004"/>
                    </a:ext>
                  </a:extLst>
                </a:gridCol>
              </a:tblGrid>
              <a:tr h="525475">
                <a:tc>
                  <a:txBody>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Major Category</a:t>
                      </a:r>
                      <a:endParaRPr sz="1600" b="1">
                        <a:solidFill>
                          <a:srgbClr val="FFFFFF"/>
                        </a:solidFill>
                        <a:latin typeface="Verdana"/>
                        <a:ea typeface="Verdana"/>
                        <a:cs typeface="Verdana"/>
                        <a:sym typeface="Verdana"/>
                      </a:endParaRPr>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Category</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l" rtl="0">
                        <a:spcBef>
                          <a:spcPts val="0"/>
                        </a:spcBef>
                        <a:spcAft>
                          <a:spcPts val="0"/>
                        </a:spcAft>
                        <a:buNone/>
                      </a:pPr>
                      <a:r>
                        <a:rPr lang="en-US" sz="1600" b="1">
                          <a:solidFill>
                            <a:srgbClr val="FFFFFF"/>
                          </a:solidFill>
                          <a:latin typeface="Verdana"/>
                          <a:ea typeface="Verdana"/>
                          <a:cs typeface="Verdana"/>
                          <a:sym typeface="Verdana"/>
                        </a:rPr>
                        <a:t>Defect Types (N)</a:t>
                      </a:r>
                      <a:endParaRPr sz="1600" b="1">
                        <a:solidFill>
                          <a:srgbClr val="FFFFFF"/>
                        </a:solidFill>
                        <a:latin typeface="Verdana"/>
                        <a:ea typeface="Verdana"/>
                        <a:cs typeface="Verdana"/>
                        <a:sym typeface="Verdana"/>
                      </a:endParaRPr>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Train / Val images</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Val. accuracy</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extLst>
                  <a:ext uri="{0D108BD9-81ED-4DB2-BD59-A6C34878D82A}">
                    <a16:rowId xmlns:a16="http://schemas.microsoft.com/office/drawing/2014/main" val="10000"/>
                  </a:ext>
                </a:extLst>
              </a:tr>
              <a:tr h="525475">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Object</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Hazelnut</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marR="0" lvl="0" indent="0" algn="l" rtl="0">
                        <a:lnSpc>
                          <a:spcPct val="115000"/>
                        </a:lnSpc>
                        <a:spcBef>
                          <a:spcPts val="0"/>
                        </a:spcBef>
                        <a:spcAft>
                          <a:spcPts val="800"/>
                        </a:spcAft>
                        <a:buNone/>
                      </a:pPr>
                      <a:r>
                        <a:rPr lang="en-US">
                          <a:solidFill>
                            <a:srgbClr val="12293A"/>
                          </a:solidFill>
                          <a:latin typeface="Verdana"/>
                          <a:ea typeface="Verdana"/>
                          <a:cs typeface="Verdana"/>
                          <a:sym typeface="Verdana"/>
                        </a:rPr>
                        <a:t>crack, cut, hole, print (4)</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49 / 21</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0.857</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1"/>
                  </a:ext>
                </a:extLst>
              </a:tr>
              <a:tr h="525475">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Object</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Screw</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marR="0" lvl="0" indent="0" algn="l" rtl="0">
                        <a:lnSpc>
                          <a:spcPct val="115000"/>
                        </a:lnSpc>
                        <a:spcBef>
                          <a:spcPts val="0"/>
                        </a:spcBef>
                        <a:spcAft>
                          <a:spcPts val="800"/>
                        </a:spcAft>
                        <a:buNone/>
                      </a:pPr>
                      <a:r>
                        <a:rPr lang="en-US">
                          <a:solidFill>
                            <a:srgbClr val="12293A"/>
                          </a:solidFill>
                          <a:latin typeface="Verdana"/>
                          <a:ea typeface="Verdana"/>
                          <a:cs typeface="Verdana"/>
                          <a:sym typeface="Verdana"/>
                        </a:rPr>
                        <a:t>manipulated_front, scratch_head, scratch_neck, thread_side, thread_top (5)</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83 / 36</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0.444</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2"/>
                  </a:ext>
                </a:extLst>
              </a:tr>
            </a:tbl>
          </a:graphicData>
        </a:graphic>
      </p:graphicFrame>
      <p:pic>
        <p:nvPicPr>
          <p:cNvPr id="726" name="Google Shape;726;h48043f3f66c9ba31_0_7" title="000.png"/>
          <p:cNvPicPr preferRelativeResize="0"/>
          <p:nvPr/>
        </p:nvPicPr>
        <p:blipFill rotWithShape="1">
          <a:blip r:embed="rId3">
            <a:alphaModFix/>
          </a:blip>
          <a:srcRect l="-4254" b="-4254"/>
          <a:stretch/>
        </p:blipFill>
        <p:spPr>
          <a:xfrm>
            <a:off x="426225" y="3814488"/>
            <a:ext cx="1887700" cy="1887726"/>
          </a:xfrm>
          <a:prstGeom prst="rect">
            <a:avLst/>
          </a:prstGeom>
          <a:noFill/>
          <a:ln>
            <a:noFill/>
          </a:ln>
        </p:spPr>
      </p:pic>
      <p:pic>
        <p:nvPicPr>
          <p:cNvPr id="727" name="Google Shape;727;h48043f3f66c9ba31_0_7" title="007.png"/>
          <p:cNvPicPr preferRelativeResize="0"/>
          <p:nvPr/>
        </p:nvPicPr>
        <p:blipFill>
          <a:blip r:embed="rId4">
            <a:alphaModFix/>
          </a:blip>
          <a:stretch>
            <a:fillRect/>
          </a:stretch>
        </p:blipFill>
        <p:spPr>
          <a:xfrm>
            <a:off x="2420325" y="3297900"/>
            <a:ext cx="1327099" cy="1327099"/>
          </a:xfrm>
          <a:prstGeom prst="rect">
            <a:avLst/>
          </a:prstGeom>
          <a:noFill/>
          <a:ln>
            <a:noFill/>
          </a:ln>
        </p:spPr>
      </p:pic>
      <p:pic>
        <p:nvPicPr>
          <p:cNvPr id="728" name="Google Shape;728;h48043f3f66c9ba31_0_7" title="005.png"/>
          <p:cNvPicPr preferRelativeResize="0"/>
          <p:nvPr/>
        </p:nvPicPr>
        <p:blipFill>
          <a:blip r:embed="rId5">
            <a:alphaModFix/>
          </a:blip>
          <a:stretch>
            <a:fillRect/>
          </a:stretch>
        </p:blipFill>
        <p:spPr>
          <a:xfrm>
            <a:off x="2420325" y="4891700"/>
            <a:ext cx="1327099" cy="1327099"/>
          </a:xfrm>
          <a:prstGeom prst="rect">
            <a:avLst/>
          </a:prstGeom>
          <a:noFill/>
          <a:ln>
            <a:noFill/>
          </a:ln>
        </p:spPr>
      </p:pic>
      <p:sp>
        <p:nvSpPr>
          <p:cNvPr id="729" name="Google Shape;729;h48043f3f66c9ba31_0_7"/>
          <p:cNvSpPr txBox="1"/>
          <p:nvPr/>
        </p:nvSpPr>
        <p:spPr>
          <a:xfrm>
            <a:off x="2746825" y="3031200"/>
            <a:ext cx="6741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crack</a:t>
            </a:r>
            <a:endParaRPr sz="1200">
              <a:latin typeface="Verdana"/>
              <a:ea typeface="Verdana"/>
              <a:cs typeface="Verdana"/>
              <a:sym typeface="Verdana"/>
            </a:endParaRPr>
          </a:p>
        </p:txBody>
      </p:sp>
      <p:sp>
        <p:nvSpPr>
          <p:cNvPr id="730" name="Google Shape;730;h48043f3f66c9ba31_0_7"/>
          <p:cNvSpPr txBox="1"/>
          <p:nvPr/>
        </p:nvSpPr>
        <p:spPr>
          <a:xfrm>
            <a:off x="2817175" y="4625000"/>
            <a:ext cx="5334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cut</a:t>
            </a:r>
            <a:endParaRPr sz="1200">
              <a:latin typeface="Verdana"/>
              <a:ea typeface="Verdana"/>
              <a:cs typeface="Verdana"/>
              <a:sym typeface="Verdana"/>
            </a:endParaRPr>
          </a:p>
        </p:txBody>
      </p:sp>
      <p:sp>
        <p:nvSpPr>
          <p:cNvPr id="731" name="Google Shape;731;h48043f3f66c9ba31_0_7"/>
          <p:cNvSpPr txBox="1"/>
          <p:nvPr/>
        </p:nvSpPr>
        <p:spPr>
          <a:xfrm>
            <a:off x="877313" y="3494700"/>
            <a:ext cx="985500" cy="3198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good</a:t>
            </a:r>
            <a:endParaRPr sz="1200">
              <a:latin typeface="Verdana"/>
              <a:ea typeface="Verdana"/>
              <a:cs typeface="Verdana"/>
              <a:sym typeface="Verdana"/>
            </a:endParaRPr>
          </a:p>
        </p:txBody>
      </p:sp>
      <p:pic>
        <p:nvPicPr>
          <p:cNvPr id="732" name="Google Shape;732;h48043f3f66c9ba31_0_7" title="012.png"/>
          <p:cNvPicPr preferRelativeResize="0"/>
          <p:nvPr/>
        </p:nvPicPr>
        <p:blipFill>
          <a:blip r:embed="rId6">
            <a:alphaModFix/>
          </a:blip>
          <a:stretch>
            <a:fillRect/>
          </a:stretch>
        </p:blipFill>
        <p:spPr>
          <a:xfrm>
            <a:off x="3747425" y="3297900"/>
            <a:ext cx="1327099" cy="1327099"/>
          </a:xfrm>
          <a:prstGeom prst="rect">
            <a:avLst/>
          </a:prstGeom>
          <a:noFill/>
          <a:ln>
            <a:noFill/>
          </a:ln>
        </p:spPr>
      </p:pic>
      <p:sp>
        <p:nvSpPr>
          <p:cNvPr id="733" name="Google Shape;733;h48043f3f66c9ba31_0_7"/>
          <p:cNvSpPr txBox="1"/>
          <p:nvPr/>
        </p:nvSpPr>
        <p:spPr>
          <a:xfrm>
            <a:off x="4073925" y="3031200"/>
            <a:ext cx="6741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hole</a:t>
            </a:r>
            <a:endParaRPr sz="1200">
              <a:latin typeface="Verdana"/>
              <a:ea typeface="Verdana"/>
              <a:cs typeface="Verdana"/>
              <a:sym typeface="Verdana"/>
            </a:endParaRPr>
          </a:p>
        </p:txBody>
      </p:sp>
      <p:pic>
        <p:nvPicPr>
          <p:cNvPr id="734" name="Google Shape;734;h48043f3f66c9ba31_0_7" title="002.png"/>
          <p:cNvPicPr preferRelativeResize="0"/>
          <p:nvPr/>
        </p:nvPicPr>
        <p:blipFill>
          <a:blip r:embed="rId7">
            <a:alphaModFix/>
          </a:blip>
          <a:stretch>
            <a:fillRect/>
          </a:stretch>
        </p:blipFill>
        <p:spPr>
          <a:xfrm>
            <a:off x="3747424" y="4891699"/>
            <a:ext cx="1327099" cy="1327099"/>
          </a:xfrm>
          <a:prstGeom prst="rect">
            <a:avLst/>
          </a:prstGeom>
          <a:noFill/>
          <a:ln>
            <a:noFill/>
          </a:ln>
        </p:spPr>
      </p:pic>
      <p:sp>
        <p:nvSpPr>
          <p:cNvPr id="735" name="Google Shape;735;h48043f3f66c9ba31_0_7"/>
          <p:cNvSpPr txBox="1"/>
          <p:nvPr/>
        </p:nvSpPr>
        <p:spPr>
          <a:xfrm>
            <a:off x="4006275" y="4625000"/>
            <a:ext cx="8094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paint</a:t>
            </a:r>
            <a:endParaRPr sz="1200">
              <a:latin typeface="Verdana"/>
              <a:ea typeface="Verdana"/>
              <a:cs typeface="Verdana"/>
              <a:sym typeface="Verdana"/>
            </a:endParaRPr>
          </a:p>
        </p:txBody>
      </p:sp>
      <p:pic>
        <p:nvPicPr>
          <p:cNvPr id="736" name="Google Shape;736;h48043f3f66c9ba31_0_7" title="000.png"/>
          <p:cNvPicPr preferRelativeResize="0"/>
          <p:nvPr/>
        </p:nvPicPr>
        <p:blipFill>
          <a:blip r:embed="rId8">
            <a:alphaModFix/>
          </a:blip>
          <a:stretch>
            <a:fillRect/>
          </a:stretch>
        </p:blipFill>
        <p:spPr>
          <a:xfrm>
            <a:off x="5592063" y="3835700"/>
            <a:ext cx="1887700" cy="1887700"/>
          </a:xfrm>
          <a:prstGeom prst="rect">
            <a:avLst/>
          </a:prstGeom>
          <a:noFill/>
          <a:ln>
            <a:noFill/>
          </a:ln>
        </p:spPr>
      </p:pic>
      <p:sp>
        <p:nvSpPr>
          <p:cNvPr id="737" name="Google Shape;737;h48043f3f66c9ba31_0_7"/>
          <p:cNvSpPr txBox="1"/>
          <p:nvPr/>
        </p:nvSpPr>
        <p:spPr>
          <a:xfrm>
            <a:off x="6043163" y="3515909"/>
            <a:ext cx="9855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good</a:t>
            </a:r>
            <a:endParaRPr sz="1200">
              <a:latin typeface="Verdana"/>
              <a:ea typeface="Verdana"/>
              <a:cs typeface="Verdana"/>
              <a:sym typeface="Verdana"/>
            </a:endParaRPr>
          </a:p>
        </p:txBody>
      </p:sp>
      <p:pic>
        <p:nvPicPr>
          <p:cNvPr id="738" name="Google Shape;738;h48043f3f66c9ba31_0_7" title="005.png"/>
          <p:cNvPicPr preferRelativeResize="0"/>
          <p:nvPr/>
        </p:nvPicPr>
        <p:blipFill>
          <a:blip r:embed="rId9">
            <a:alphaModFix/>
          </a:blip>
          <a:stretch>
            <a:fillRect/>
          </a:stretch>
        </p:blipFill>
        <p:spPr>
          <a:xfrm>
            <a:off x="7647000" y="3351000"/>
            <a:ext cx="1327099" cy="1327099"/>
          </a:xfrm>
          <a:prstGeom prst="rect">
            <a:avLst/>
          </a:prstGeom>
          <a:noFill/>
          <a:ln>
            <a:noFill/>
          </a:ln>
        </p:spPr>
      </p:pic>
      <p:sp>
        <p:nvSpPr>
          <p:cNvPr id="739" name="Google Shape;739;h48043f3f66c9ba31_0_7"/>
          <p:cNvSpPr txBox="1"/>
          <p:nvPr/>
        </p:nvSpPr>
        <p:spPr>
          <a:xfrm>
            <a:off x="7459150" y="3031200"/>
            <a:ext cx="17028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manipulated_front</a:t>
            </a:r>
            <a:endParaRPr sz="1200">
              <a:latin typeface="Verdana"/>
              <a:ea typeface="Verdana"/>
              <a:cs typeface="Verdana"/>
              <a:sym typeface="Verdana"/>
            </a:endParaRPr>
          </a:p>
        </p:txBody>
      </p:sp>
      <p:pic>
        <p:nvPicPr>
          <p:cNvPr id="740" name="Google Shape;740;h48043f3f66c9ba31_0_7" title="015.png"/>
          <p:cNvPicPr preferRelativeResize="0"/>
          <p:nvPr/>
        </p:nvPicPr>
        <p:blipFill>
          <a:blip r:embed="rId10">
            <a:alphaModFix/>
          </a:blip>
          <a:stretch>
            <a:fillRect/>
          </a:stretch>
        </p:blipFill>
        <p:spPr>
          <a:xfrm>
            <a:off x="7647000" y="4997900"/>
            <a:ext cx="1327099" cy="1327099"/>
          </a:xfrm>
          <a:prstGeom prst="rect">
            <a:avLst/>
          </a:prstGeom>
          <a:noFill/>
          <a:ln>
            <a:noFill/>
          </a:ln>
        </p:spPr>
      </p:pic>
      <p:sp>
        <p:nvSpPr>
          <p:cNvPr id="741" name="Google Shape;741;h48043f3f66c9ba31_0_7"/>
          <p:cNvSpPr txBox="1"/>
          <p:nvPr/>
        </p:nvSpPr>
        <p:spPr>
          <a:xfrm>
            <a:off x="7647050" y="467810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Clr>
                <a:schemeClr val="dk1"/>
              </a:buClr>
              <a:buSzPts val="1100"/>
              <a:buFont typeface="Arial"/>
              <a:buNone/>
            </a:pPr>
            <a:r>
              <a:rPr lang="en-US" sz="1200">
                <a:solidFill>
                  <a:srgbClr val="12293A"/>
                </a:solidFill>
                <a:latin typeface="Verdana"/>
                <a:ea typeface="Verdana"/>
                <a:cs typeface="Verdana"/>
                <a:sym typeface="Verdana"/>
              </a:rPr>
              <a:t>scratch_head</a:t>
            </a:r>
            <a:endParaRPr sz="1200">
              <a:latin typeface="Verdana"/>
              <a:ea typeface="Verdana"/>
              <a:cs typeface="Verdana"/>
              <a:sym typeface="Verdana"/>
            </a:endParaRPr>
          </a:p>
        </p:txBody>
      </p:sp>
      <p:pic>
        <p:nvPicPr>
          <p:cNvPr id="742" name="Google Shape;742;h48043f3f66c9ba31_0_7" title="003.png"/>
          <p:cNvPicPr preferRelativeResize="0"/>
          <p:nvPr/>
        </p:nvPicPr>
        <p:blipFill>
          <a:blip r:embed="rId11">
            <a:alphaModFix/>
          </a:blip>
          <a:stretch>
            <a:fillRect/>
          </a:stretch>
        </p:blipFill>
        <p:spPr>
          <a:xfrm>
            <a:off x="9324425" y="3351000"/>
            <a:ext cx="1327099" cy="1327099"/>
          </a:xfrm>
          <a:prstGeom prst="rect">
            <a:avLst/>
          </a:prstGeom>
          <a:noFill/>
          <a:ln>
            <a:noFill/>
          </a:ln>
        </p:spPr>
      </p:pic>
      <p:sp>
        <p:nvSpPr>
          <p:cNvPr id="743" name="Google Shape;743;h48043f3f66c9ba31_0_7"/>
          <p:cNvSpPr txBox="1"/>
          <p:nvPr/>
        </p:nvSpPr>
        <p:spPr>
          <a:xfrm>
            <a:off x="9324525" y="303120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scratch_neck</a:t>
            </a:r>
            <a:endParaRPr sz="1200">
              <a:latin typeface="Verdana"/>
              <a:ea typeface="Verdana"/>
              <a:cs typeface="Verdana"/>
              <a:sym typeface="Verdana"/>
            </a:endParaRPr>
          </a:p>
        </p:txBody>
      </p:sp>
      <p:pic>
        <p:nvPicPr>
          <p:cNvPr id="744" name="Google Shape;744;h48043f3f66c9ba31_0_7" title="002.png"/>
          <p:cNvPicPr preferRelativeResize="0"/>
          <p:nvPr/>
        </p:nvPicPr>
        <p:blipFill>
          <a:blip r:embed="rId12">
            <a:alphaModFix/>
          </a:blip>
          <a:stretch>
            <a:fillRect/>
          </a:stretch>
        </p:blipFill>
        <p:spPr>
          <a:xfrm>
            <a:off x="9324575" y="4997900"/>
            <a:ext cx="1327099" cy="1327099"/>
          </a:xfrm>
          <a:prstGeom prst="rect">
            <a:avLst/>
          </a:prstGeom>
          <a:noFill/>
          <a:ln>
            <a:noFill/>
          </a:ln>
        </p:spPr>
      </p:pic>
      <p:sp>
        <p:nvSpPr>
          <p:cNvPr id="745" name="Google Shape;745;h48043f3f66c9ba31_0_7"/>
          <p:cNvSpPr txBox="1"/>
          <p:nvPr/>
        </p:nvSpPr>
        <p:spPr>
          <a:xfrm>
            <a:off x="9324525" y="467810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None/>
            </a:pPr>
            <a:r>
              <a:rPr lang="en-US" sz="1200">
                <a:solidFill>
                  <a:srgbClr val="12293A"/>
                </a:solidFill>
                <a:latin typeface="Verdana"/>
                <a:ea typeface="Verdana"/>
                <a:cs typeface="Verdana"/>
                <a:sym typeface="Verdana"/>
              </a:rPr>
              <a:t>thread_side</a:t>
            </a:r>
            <a:endParaRPr sz="1200">
              <a:latin typeface="Verdana"/>
              <a:ea typeface="Verdana"/>
              <a:cs typeface="Verdana"/>
              <a:sym typeface="Verdana"/>
            </a:endParaRPr>
          </a:p>
        </p:txBody>
      </p:sp>
      <p:pic>
        <p:nvPicPr>
          <p:cNvPr id="746" name="Google Shape;746;h48043f3f66c9ba31_0_7" title="000.png"/>
          <p:cNvPicPr preferRelativeResize="0"/>
          <p:nvPr/>
        </p:nvPicPr>
        <p:blipFill>
          <a:blip r:embed="rId13">
            <a:alphaModFix/>
          </a:blip>
          <a:stretch>
            <a:fillRect/>
          </a:stretch>
        </p:blipFill>
        <p:spPr>
          <a:xfrm>
            <a:off x="10701425" y="4254650"/>
            <a:ext cx="1327201" cy="1327201"/>
          </a:xfrm>
          <a:prstGeom prst="rect">
            <a:avLst/>
          </a:prstGeom>
          <a:noFill/>
          <a:ln>
            <a:noFill/>
          </a:ln>
        </p:spPr>
      </p:pic>
      <p:sp>
        <p:nvSpPr>
          <p:cNvPr id="747" name="Google Shape;747;h48043f3f66c9ba31_0_7"/>
          <p:cNvSpPr txBox="1"/>
          <p:nvPr/>
        </p:nvSpPr>
        <p:spPr>
          <a:xfrm>
            <a:off x="10701425" y="393485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None/>
            </a:pPr>
            <a:r>
              <a:rPr lang="en-US" sz="1200">
                <a:solidFill>
                  <a:srgbClr val="12293A"/>
                </a:solidFill>
                <a:latin typeface="Verdana"/>
                <a:ea typeface="Verdana"/>
                <a:cs typeface="Verdana"/>
                <a:sym typeface="Verdana"/>
              </a:rPr>
              <a:t>thread_top</a:t>
            </a:r>
            <a:endParaRPr sz="1200">
              <a:latin typeface="Verdana"/>
              <a:ea typeface="Verdana"/>
              <a:cs typeface="Verdana"/>
              <a:sym typeface="Verdan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2"/>
        <p:cNvGrpSpPr/>
        <p:nvPr/>
      </p:nvGrpSpPr>
      <p:grpSpPr>
        <a:xfrm>
          <a:off x="0" y="0"/>
          <a:ext cx="0" cy="0"/>
          <a:chOff x="0" y="0"/>
          <a:chExt cx="0" cy="0"/>
        </a:xfrm>
      </p:grpSpPr>
      <p:sp>
        <p:nvSpPr>
          <p:cNvPr id="753" name="Google Shape;753;h48043f3f66c9ba31_0_14"/>
          <p:cNvSpPr/>
          <p:nvPr/>
        </p:nvSpPr>
        <p:spPr>
          <a:xfrm>
            <a:off x="609600" y="409575"/>
            <a:ext cx="10972800" cy="95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150" b="1">
                <a:solidFill>
                  <a:srgbClr val="12293A"/>
                </a:solidFill>
                <a:latin typeface="Verdana"/>
                <a:ea typeface="Verdana"/>
                <a:cs typeface="Verdana"/>
                <a:sym typeface="Verdana"/>
              </a:rPr>
              <a:t>Defect Type Classifier Performance</a:t>
            </a:r>
            <a:endParaRPr/>
          </a:p>
        </p:txBody>
      </p:sp>
      <p:sp>
        <p:nvSpPr>
          <p:cNvPr id="754" name="Google Shape;754;h48043f3f66c9ba31_0_14"/>
          <p:cNvSpPr/>
          <p:nvPr/>
        </p:nvSpPr>
        <p:spPr>
          <a:xfrm>
            <a:off x="11049000" y="6305550"/>
            <a:ext cx="533400" cy="26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50" b="0">
                <a:solidFill>
                  <a:srgbClr val="536674"/>
                </a:solidFill>
                <a:latin typeface="Verdana"/>
                <a:ea typeface="Verdana"/>
                <a:cs typeface="Verdana"/>
                <a:sym typeface="Verdana"/>
              </a:rPr>
              <a:t>08</a:t>
            </a:r>
            <a:endParaRPr/>
          </a:p>
        </p:txBody>
      </p:sp>
      <p:graphicFrame>
        <p:nvGraphicFramePr>
          <p:cNvPr id="755" name="Google Shape;755;h48043f3f66c9ba31_0_14"/>
          <p:cNvGraphicFramePr/>
          <p:nvPr/>
        </p:nvGraphicFramePr>
        <p:xfrm>
          <a:off x="609600" y="1207750"/>
          <a:ext cx="10972775" cy="1630080"/>
        </p:xfrm>
        <a:graphic>
          <a:graphicData uri="http://schemas.openxmlformats.org/drawingml/2006/table">
            <a:tbl>
              <a:tblPr>
                <a:noFill/>
                <a:tableStyleId>{89359D83-5457-4402-8951-C3CEC1CC7011}</a:tableStyleId>
              </a:tblPr>
              <a:tblGrid>
                <a:gridCol w="1473175">
                  <a:extLst>
                    <a:ext uri="{9D8B030D-6E8A-4147-A177-3AD203B41FA5}">
                      <a16:colId xmlns:a16="http://schemas.microsoft.com/office/drawing/2014/main" val="20000"/>
                    </a:ext>
                  </a:extLst>
                </a:gridCol>
                <a:gridCol w="1543125">
                  <a:extLst>
                    <a:ext uri="{9D8B030D-6E8A-4147-A177-3AD203B41FA5}">
                      <a16:colId xmlns:a16="http://schemas.microsoft.com/office/drawing/2014/main" val="20001"/>
                    </a:ext>
                  </a:extLst>
                </a:gridCol>
                <a:gridCol w="5217275">
                  <a:extLst>
                    <a:ext uri="{9D8B030D-6E8A-4147-A177-3AD203B41FA5}">
                      <a16:colId xmlns:a16="http://schemas.microsoft.com/office/drawing/2014/main" val="20002"/>
                    </a:ext>
                  </a:extLst>
                </a:gridCol>
                <a:gridCol w="1453575">
                  <a:extLst>
                    <a:ext uri="{9D8B030D-6E8A-4147-A177-3AD203B41FA5}">
                      <a16:colId xmlns:a16="http://schemas.microsoft.com/office/drawing/2014/main" val="20003"/>
                    </a:ext>
                  </a:extLst>
                </a:gridCol>
                <a:gridCol w="1285625">
                  <a:extLst>
                    <a:ext uri="{9D8B030D-6E8A-4147-A177-3AD203B41FA5}">
                      <a16:colId xmlns:a16="http://schemas.microsoft.com/office/drawing/2014/main" val="20004"/>
                    </a:ext>
                  </a:extLst>
                </a:gridCol>
              </a:tblGrid>
              <a:tr h="525475">
                <a:tc>
                  <a:txBody>
                    <a:bodyPr/>
                    <a:lstStyle/>
                    <a:p>
                      <a:pPr marL="0" marR="0" lvl="0" indent="0" algn="ctr" rtl="0">
                        <a:spcBef>
                          <a:spcPts val="0"/>
                        </a:spcBef>
                        <a:spcAft>
                          <a:spcPts val="0"/>
                        </a:spcAft>
                        <a:buNone/>
                      </a:pPr>
                      <a:r>
                        <a:rPr lang="en-US" sz="1600" b="1">
                          <a:solidFill>
                            <a:srgbClr val="FFFFFF"/>
                          </a:solidFill>
                          <a:latin typeface="Verdana"/>
                          <a:ea typeface="Verdana"/>
                          <a:cs typeface="Verdana"/>
                          <a:sym typeface="Verdana"/>
                        </a:rPr>
                        <a:t>Major Category</a:t>
                      </a:r>
                      <a:endParaRPr sz="1600" b="1">
                        <a:solidFill>
                          <a:srgbClr val="FFFFFF"/>
                        </a:solidFill>
                        <a:latin typeface="Verdana"/>
                        <a:ea typeface="Verdana"/>
                        <a:cs typeface="Verdana"/>
                        <a:sym typeface="Verdana"/>
                      </a:endParaRPr>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Category</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l" rtl="0">
                        <a:spcBef>
                          <a:spcPts val="0"/>
                        </a:spcBef>
                        <a:spcAft>
                          <a:spcPts val="0"/>
                        </a:spcAft>
                        <a:buNone/>
                      </a:pPr>
                      <a:r>
                        <a:rPr lang="en-US" sz="1600" b="1">
                          <a:solidFill>
                            <a:srgbClr val="FFFFFF"/>
                          </a:solidFill>
                          <a:latin typeface="Verdana"/>
                          <a:ea typeface="Verdana"/>
                          <a:cs typeface="Verdana"/>
                          <a:sym typeface="Verdana"/>
                        </a:rPr>
                        <a:t>Defect Types (N)</a:t>
                      </a:r>
                      <a:endParaRPr sz="1600" b="1">
                        <a:solidFill>
                          <a:srgbClr val="FFFFFF"/>
                        </a:solidFill>
                        <a:latin typeface="Verdana"/>
                        <a:ea typeface="Verdana"/>
                        <a:cs typeface="Verdana"/>
                        <a:sym typeface="Verdana"/>
                      </a:endParaRPr>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Train / Val images</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tc>
                  <a:txBody>
                    <a:bodyPr/>
                    <a:lstStyle/>
                    <a:p>
                      <a:pPr marL="0" marR="0" lvl="0" indent="0" algn="ctr" rtl="0">
                        <a:spcBef>
                          <a:spcPts val="0"/>
                        </a:spcBef>
                        <a:spcAft>
                          <a:spcPts val="0"/>
                        </a:spcAft>
                        <a:buClr>
                          <a:srgbClr val="FFFFFF"/>
                        </a:buClr>
                        <a:buSzPts val="1800"/>
                        <a:buFont typeface="Verdana"/>
                        <a:buNone/>
                      </a:pPr>
                      <a:r>
                        <a:rPr lang="en-US" sz="1600" b="1">
                          <a:solidFill>
                            <a:srgbClr val="FFFFFF"/>
                          </a:solidFill>
                          <a:latin typeface="Verdana"/>
                          <a:ea typeface="Verdana"/>
                          <a:cs typeface="Verdana"/>
                          <a:sym typeface="Verdana"/>
                        </a:rPr>
                        <a:t>Val. accuracy</a:t>
                      </a:r>
                      <a:endParaRPr sz="1200"/>
                    </a:p>
                  </a:txBody>
                  <a:tcPr marL="91450" marR="91450" marT="45725" marB="45725" anchor="ctr">
                    <a:lnB w="9525" cap="flat" cmpd="sng">
                      <a:solidFill>
                        <a:srgbClr val="000000"/>
                      </a:solidFill>
                      <a:prstDash val="solid"/>
                      <a:round/>
                      <a:headEnd type="none" w="sm" len="sm"/>
                      <a:tailEnd type="none" w="sm" len="sm"/>
                    </a:lnB>
                    <a:solidFill>
                      <a:srgbClr val="12293A"/>
                    </a:solidFill>
                  </a:tcPr>
                </a:tc>
                <a:extLst>
                  <a:ext uri="{0D108BD9-81ED-4DB2-BD59-A6C34878D82A}">
                    <a16:rowId xmlns:a16="http://schemas.microsoft.com/office/drawing/2014/main" val="10000"/>
                  </a:ext>
                </a:extLst>
              </a:tr>
              <a:tr h="525475">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Texture</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Leather</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3C47D"/>
                    </a:solidFill>
                  </a:tcPr>
                </a:tc>
                <a:tc>
                  <a:txBody>
                    <a:bodyPr/>
                    <a:lstStyle/>
                    <a:p>
                      <a:pPr marL="0" marR="0" lvl="0" indent="0" algn="l" rtl="0">
                        <a:lnSpc>
                          <a:spcPct val="115000"/>
                        </a:lnSpc>
                        <a:spcBef>
                          <a:spcPts val="0"/>
                        </a:spcBef>
                        <a:spcAft>
                          <a:spcPts val="800"/>
                        </a:spcAft>
                        <a:buNone/>
                      </a:pPr>
                      <a:r>
                        <a:rPr lang="en-US">
                          <a:solidFill>
                            <a:srgbClr val="12293A"/>
                          </a:solidFill>
                          <a:latin typeface="Verdana"/>
                          <a:ea typeface="Verdana"/>
                          <a:cs typeface="Verdana"/>
                          <a:sym typeface="Verdana"/>
                        </a:rPr>
                        <a:t>color, cut, fold, glue, poke (5)</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64 / 28</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3C47D"/>
                    </a:solidFill>
                  </a:tcPr>
                </a:tc>
                <a:tc>
                  <a:txBody>
                    <a:bodyPr/>
                    <a:lstStyle/>
                    <a:p>
                      <a:pPr marL="0" lvl="0" indent="0" algn="ctr" rtl="0">
                        <a:lnSpc>
                          <a:spcPct val="115000"/>
                        </a:lnSpc>
                        <a:spcBef>
                          <a:spcPts val="0"/>
                        </a:spcBef>
                        <a:spcAft>
                          <a:spcPts val="800"/>
                        </a:spcAft>
                        <a:buNone/>
                      </a:pPr>
                      <a:r>
                        <a:rPr lang="en-US" b="1">
                          <a:solidFill>
                            <a:srgbClr val="12293A"/>
                          </a:solidFill>
                          <a:latin typeface="Verdana"/>
                          <a:ea typeface="Verdana"/>
                          <a:cs typeface="Verdana"/>
                          <a:sym typeface="Verdana"/>
                        </a:rPr>
                        <a:t>0.964</a:t>
                      </a:r>
                      <a:endParaRPr b="1">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3C47D"/>
                    </a:solidFill>
                  </a:tcPr>
                </a:tc>
                <a:extLst>
                  <a:ext uri="{0D108BD9-81ED-4DB2-BD59-A6C34878D82A}">
                    <a16:rowId xmlns:a16="http://schemas.microsoft.com/office/drawing/2014/main" val="10001"/>
                  </a:ext>
                </a:extLst>
              </a:tr>
              <a:tr h="525475">
                <a:tc>
                  <a:txBody>
                    <a:bodyPr/>
                    <a:lstStyle/>
                    <a:p>
                      <a:pPr marL="0" marR="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Texture</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marR="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Grid</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marR="0" lvl="0" indent="0" algn="l" rtl="0">
                        <a:lnSpc>
                          <a:spcPct val="115000"/>
                        </a:lnSpc>
                        <a:spcBef>
                          <a:spcPts val="0"/>
                        </a:spcBef>
                        <a:spcAft>
                          <a:spcPts val="800"/>
                        </a:spcAft>
                        <a:buNone/>
                      </a:pPr>
                      <a:r>
                        <a:rPr lang="en-US">
                          <a:solidFill>
                            <a:srgbClr val="12293A"/>
                          </a:solidFill>
                          <a:latin typeface="Verdana"/>
                          <a:ea typeface="Verdana"/>
                          <a:cs typeface="Verdana"/>
                          <a:sym typeface="Verdana"/>
                        </a:rPr>
                        <a:t>bent, broken, glue, metal_contamination, thread (5)</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marR="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40 / 17</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marR="0" lvl="0" indent="0" algn="ctr" rtl="0">
                        <a:lnSpc>
                          <a:spcPct val="115000"/>
                        </a:lnSpc>
                        <a:spcBef>
                          <a:spcPts val="0"/>
                        </a:spcBef>
                        <a:spcAft>
                          <a:spcPts val="800"/>
                        </a:spcAft>
                        <a:buNone/>
                      </a:pPr>
                      <a:r>
                        <a:rPr lang="en-US">
                          <a:solidFill>
                            <a:srgbClr val="12293A"/>
                          </a:solidFill>
                          <a:latin typeface="Verdana"/>
                          <a:ea typeface="Verdana"/>
                          <a:cs typeface="Verdana"/>
                          <a:sym typeface="Verdana"/>
                        </a:rPr>
                        <a:t>0.222</a:t>
                      </a:r>
                      <a:endParaRPr>
                        <a:solidFill>
                          <a:srgbClr val="12293A"/>
                        </a:solidFill>
                        <a:latin typeface="Verdana"/>
                        <a:ea typeface="Verdana"/>
                        <a:cs typeface="Verdana"/>
                        <a:sym typeface="Verdana"/>
                      </a:endParaRPr>
                    </a:p>
                  </a:txBody>
                  <a:tcPr marL="95250" marR="95250" marT="47625" marB="47625" anchor="ct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2"/>
                  </a:ext>
                </a:extLst>
              </a:tr>
            </a:tbl>
          </a:graphicData>
        </a:graphic>
      </p:graphicFrame>
      <p:pic>
        <p:nvPicPr>
          <p:cNvPr id="756" name="Google Shape;756;h48043f3f66c9ba31_0_14" title="000.png"/>
          <p:cNvPicPr preferRelativeResize="0"/>
          <p:nvPr/>
        </p:nvPicPr>
        <p:blipFill rotWithShape="1">
          <a:blip r:embed="rId3">
            <a:alphaModFix/>
          </a:blip>
          <a:srcRect/>
          <a:stretch/>
        </p:blipFill>
        <p:spPr>
          <a:xfrm>
            <a:off x="152400" y="3840225"/>
            <a:ext cx="1887700" cy="1887726"/>
          </a:xfrm>
          <a:prstGeom prst="rect">
            <a:avLst/>
          </a:prstGeom>
          <a:noFill/>
          <a:ln>
            <a:noFill/>
          </a:ln>
        </p:spPr>
      </p:pic>
      <p:pic>
        <p:nvPicPr>
          <p:cNvPr id="757" name="Google Shape;757;h48043f3f66c9ba31_0_14" title="003.png"/>
          <p:cNvPicPr preferRelativeResize="0"/>
          <p:nvPr/>
        </p:nvPicPr>
        <p:blipFill rotWithShape="1">
          <a:blip r:embed="rId4">
            <a:alphaModFix/>
          </a:blip>
          <a:srcRect/>
          <a:stretch/>
        </p:blipFill>
        <p:spPr>
          <a:xfrm>
            <a:off x="2146500" y="3323638"/>
            <a:ext cx="1327099" cy="1327099"/>
          </a:xfrm>
          <a:prstGeom prst="rect">
            <a:avLst/>
          </a:prstGeom>
          <a:noFill/>
          <a:ln>
            <a:noFill/>
          </a:ln>
        </p:spPr>
      </p:pic>
      <p:pic>
        <p:nvPicPr>
          <p:cNvPr id="758" name="Google Shape;758;h48043f3f66c9ba31_0_14" title="000.png"/>
          <p:cNvPicPr preferRelativeResize="0"/>
          <p:nvPr/>
        </p:nvPicPr>
        <p:blipFill rotWithShape="1">
          <a:blip r:embed="rId5">
            <a:alphaModFix/>
          </a:blip>
          <a:srcRect/>
          <a:stretch/>
        </p:blipFill>
        <p:spPr>
          <a:xfrm>
            <a:off x="2146500" y="4917438"/>
            <a:ext cx="1327099" cy="1327099"/>
          </a:xfrm>
          <a:prstGeom prst="rect">
            <a:avLst/>
          </a:prstGeom>
          <a:noFill/>
          <a:ln>
            <a:noFill/>
          </a:ln>
        </p:spPr>
      </p:pic>
      <p:sp>
        <p:nvSpPr>
          <p:cNvPr id="759" name="Google Shape;759;h48043f3f66c9ba31_0_14"/>
          <p:cNvSpPr txBox="1"/>
          <p:nvPr/>
        </p:nvSpPr>
        <p:spPr>
          <a:xfrm>
            <a:off x="2473000" y="3056938"/>
            <a:ext cx="6741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color</a:t>
            </a:r>
            <a:endParaRPr sz="1200">
              <a:latin typeface="Verdana"/>
              <a:ea typeface="Verdana"/>
              <a:cs typeface="Verdana"/>
              <a:sym typeface="Verdana"/>
            </a:endParaRPr>
          </a:p>
        </p:txBody>
      </p:sp>
      <p:sp>
        <p:nvSpPr>
          <p:cNvPr id="760" name="Google Shape;760;h48043f3f66c9ba31_0_14"/>
          <p:cNvSpPr txBox="1"/>
          <p:nvPr/>
        </p:nvSpPr>
        <p:spPr>
          <a:xfrm>
            <a:off x="2543350" y="4650738"/>
            <a:ext cx="5334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fold</a:t>
            </a:r>
            <a:endParaRPr sz="1200">
              <a:latin typeface="Verdana"/>
              <a:ea typeface="Verdana"/>
              <a:cs typeface="Verdana"/>
              <a:sym typeface="Verdana"/>
            </a:endParaRPr>
          </a:p>
        </p:txBody>
      </p:sp>
      <p:sp>
        <p:nvSpPr>
          <p:cNvPr id="761" name="Google Shape;761;h48043f3f66c9ba31_0_14"/>
          <p:cNvSpPr txBox="1"/>
          <p:nvPr/>
        </p:nvSpPr>
        <p:spPr>
          <a:xfrm>
            <a:off x="603488" y="3520438"/>
            <a:ext cx="985500" cy="3198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good</a:t>
            </a:r>
            <a:endParaRPr sz="1200">
              <a:latin typeface="Verdana"/>
              <a:ea typeface="Verdana"/>
              <a:cs typeface="Verdana"/>
              <a:sym typeface="Verdana"/>
            </a:endParaRPr>
          </a:p>
        </p:txBody>
      </p:sp>
      <p:pic>
        <p:nvPicPr>
          <p:cNvPr id="762" name="Google Shape;762;h48043f3f66c9ba31_0_14" title="000.png"/>
          <p:cNvPicPr preferRelativeResize="0"/>
          <p:nvPr/>
        </p:nvPicPr>
        <p:blipFill rotWithShape="1">
          <a:blip r:embed="rId6">
            <a:alphaModFix/>
          </a:blip>
          <a:srcRect/>
          <a:stretch/>
        </p:blipFill>
        <p:spPr>
          <a:xfrm>
            <a:off x="3473600" y="3323638"/>
            <a:ext cx="1327099" cy="1327099"/>
          </a:xfrm>
          <a:prstGeom prst="rect">
            <a:avLst/>
          </a:prstGeom>
          <a:noFill/>
          <a:ln>
            <a:noFill/>
          </a:ln>
        </p:spPr>
      </p:pic>
      <p:sp>
        <p:nvSpPr>
          <p:cNvPr id="763" name="Google Shape;763;h48043f3f66c9ba31_0_14"/>
          <p:cNvSpPr txBox="1"/>
          <p:nvPr/>
        </p:nvSpPr>
        <p:spPr>
          <a:xfrm>
            <a:off x="3800100" y="3056938"/>
            <a:ext cx="6741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cut</a:t>
            </a:r>
            <a:endParaRPr sz="1200">
              <a:latin typeface="Verdana"/>
              <a:ea typeface="Verdana"/>
              <a:cs typeface="Verdana"/>
              <a:sym typeface="Verdana"/>
            </a:endParaRPr>
          </a:p>
        </p:txBody>
      </p:sp>
      <p:pic>
        <p:nvPicPr>
          <p:cNvPr id="764" name="Google Shape;764;h48043f3f66c9ba31_0_14" title="000.png"/>
          <p:cNvPicPr preferRelativeResize="0"/>
          <p:nvPr/>
        </p:nvPicPr>
        <p:blipFill rotWithShape="1">
          <a:blip r:embed="rId7">
            <a:alphaModFix/>
          </a:blip>
          <a:srcRect/>
          <a:stretch/>
        </p:blipFill>
        <p:spPr>
          <a:xfrm>
            <a:off x="3473599" y="4917437"/>
            <a:ext cx="1327099" cy="1327099"/>
          </a:xfrm>
          <a:prstGeom prst="rect">
            <a:avLst/>
          </a:prstGeom>
          <a:noFill/>
          <a:ln>
            <a:noFill/>
          </a:ln>
        </p:spPr>
      </p:pic>
      <p:sp>
        <p:nvSpPr>
          <p:cNvPr id="765" name="Google Shape;765;h48043f3f66c9ba31_0_14"/>
          <p:cNvSpPr txBox="1"/>
          <p:nvPr/>
        </p:nvSpPr>
        <p:spPr>
          <a:xfrm>
            <a:off x="3732450" y="4650738"/>
            <a:ext cx="8094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glue</a:t>
            </a:r>
            <a:endParaRPr sz="1200">
              <a:latin typeface="Verdana"/>
              <a:ea typeface="Verdana"/>
              <a:cs typeface="Verdana"/>
              <a:sym typeface="Verdana"/>
            </a:endParaRPr>
          </a:p>
        </p:txBody>
      </p:sp>
      <p:pic>
        <p:nvPicPr>
          <p:cNvPr id="766" name="Google Shape;766;h48043f3f66c9ba31_0_14" title="003.png"/>
          <p:cNvPicPr preferRelativeResize="0"/>
          <p:nvPr/>
        </p:nvPicPr>
        <p:blipFill rotWithShape="1">
          <a:blip r:embed="rId8">
            <a:alphaModFix/>
          </a:blip>
          <a:srcRect/>
          <a:stretch/>
        </p:blipFill>
        <p:spPr>
          <a:xfrm>
            <a:off x="4800700" y="4106938"/>
            <a:ext cx="1327099" cy="1327099"/>
          </a:xfrm>
          <a:prstGeom prst="rect">
            <a:avLst/>
          </a:prstGeom>
          <a:noFill/>
          <a:ln>
            <a:noFill/>
          </a:ln>
        </p:spPr>
      </p:pic>
      <p:sp>
        <p:nvSpPr>
          <p:cNvPr id="767" name="Google Shape;767;h48043f3f66c9ba31_0_14"/>
          <p:cNvSpPr txBox="1"/>
          <p:nvPr/>
        </p:nvSpPr>
        <p:spPr>
          <a:xfrm>
            <a:off x="5127200" y="3840238"/>
            <a:ext cx="674100" cy="266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poke</a:t>
            </a:r>
            <a:endParaRPr sz="1200">
              <a:latin typeface="Verdana"/>
              <a:ea typeface="Verdana"/>
              <a:cs typeface="Verdana"/>
              <a:sym typeface="Verdana"/>
            </a:endParaRPr>
          </a:p>
        </p:txBody>
      </p:sp>
      <p:pic>
        <p:nvPicPr>
          <p:cNvPr id="768" name="Google Shape;768;h48043f3f66c9ba31_0_14" title="000.png"/>
          <p:cNvPicPr preferRelativeResize="0"/>
          <p:nvPr/>
        </p:nvPicPr>
        <p:blipFill rotWithShape="1">
          <a:blip r:embed="rId9">
            <a:alphaModFix/>
          </a:blip>
          <a:srcRect/>
          <a:stretch/>
        </p:blipFill>
        <p:spPr>
          <a:xfrm>
            <a:off x="6295887" y="3865975"/>
            <a:ext cx="1630075" cy="1630075"/>
          </a:xfrm>
          <a:prstGeom prst="rect">
            <a:avLst/>
          </a:prstGeom>
          <a:noFill/>
          <a:ln>
            <a:noFill/>
          </a:ln>
        </p:spPr>
      </p:pic>
      <p:sp>
        <p:nvSpPr>
          <p:cNvPr id="769" name="Google Shape;769;h48043f3f66c9ba31_0_14"/>
          <p:cNvSpPr txBox="1"/>
          <p:nvPr/>
        </p:nvSpPr>
        <p:spPr>
          <a:xfrm>
            <a:off x="6618163" y="3546209"/>
            <a:ext cx="9855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good</a:t>
            </a:r>
            <a:endParaRPr sz="1200">
              <a:latin typeface="Verdana"/>
              <a:ea typeface="Verdana"/>
              <a:cs typeface="Verdana"/>
              <a:sym typeface="Verdana"/>
            </a:endParaRPr>
          </a:p>
        </p:txBody>
      </p:sp>
      <p:pic>
        <p:nvPicPr>
          <p:cNvPr id="770" name="Google Shape;770;h48043f3f66c9ba31_0_14" title="000.png"/>
          <p:cNvPicPr preferRelativeResize="0"/>
          <p:nvPr/>
        </p:nvPicPr>
        <p:blipFill rotWithShape="1">
          <a:blip r:embed="rId10">
            <a:alphaModFix/>
          </a:blip>
          <a:srcRect/>
          <a:stretch/>
        </p:blipFill>
        <p:spPr>
          <a:xfrm>
            <a:off x="7925888" y="3376750"/>
            <a:ext cx="1327099" cy="1327099"/>
          </a:xfrm>
          <a:prstGeom prst="rect">
            <a:avLst/>
          </a:prstGeom>
          <a:noFill/>
          <a:ln>
            <a:noFill/>
          </a:ln>
        </p:spPr>
      </p:pic>
      <p:sp>
        <p:nvSpPr>
          <p:cNvPr id="771" name="Google Shape;771;h48043f3f66c9ba31_0_14"/>
          <p:cNvSpPr txBox="1"/>
          <p:nvPr/>
        </p:nvSpPr>
        <p:spPr>
          <a:xfrm>
            <a:off x="7925938" y="305695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bent</a:t>
            </a:r>
            <a:endParaRPr sz="1200">
              <a:latin typeface="Verdana"/>
              <a:ea typeface="Verdana"/>
              <a:cs typeface="Verdana"/>
              <a:sym typeface="Verdana"/>
            </a:endParaRPr>
          </a:p>
        </p:txBody>
      </p:sp>
      <p:pic>
        <p:nvPicPr>
          <p:cNvPr id="772" name="Google Shape;772;h48043f3f66c9ba31_0_14" title="000.png"/>
          <p:cNvPicPr preferRelativeResize="0"/>
          <p:nvPr/>
        </p:nvPicPr>
        <p:blipFill rotWithShape="1">
          <a:blip r:embed="rId11">
            <a:alphaModFix/>
          </a:blip>
          <a:srcRect/>
          <a:stretch/>
        </p:blipFill>
        <p:spPr>
          <a:xfrm>
            <a:off x="7925888" y="5023650"/>
            <a:ext cx="1327099" cy="1327099"/>
          </a:xfrm>
          <a:prstGeom prst="rect">
            <a:avLst/>
          </a:prstGeom>
          <a:noFill/>
          <a:ln>
            <a:noFill/>
          </a:ln>
        </p:spPr>
      </p:pic>
      <p:sp>
        <p:nvSpPr>
          <p:cNvPr id="773" name="Google Shape;773;h48043f3f66c9ba31_0_14"/>
          <p:cNvSpPr txBox="1"/>
          <p:nvPr/>
        </p:nvSpPr>
        <p:spPr>
          <a:xfrm>
            <a:off x="7925938" y="470385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None/>
            </a:pPr>
            <a:r>
              <a:rPr lang="en-US" sz="1200">
                <a:solidFill>
                  <a:srgbClr val="12293A"/>
                </a:solidFill>
                <a:latin typeface="Verdana"/>
                <a:ea typeface="Verdana"/>
                <a:cs typeface="Verdana"/>
                <a:sym typeface="Verdana"/>
              </a:rPr>
              <a:t>glue</a:t>
            </a:r>
            <a:endParaRPr sz="1200">
              <a:latin typeface="Verdana"/>
              <a:ea typeface="Verdana"/>
              <a:cs typeface="Verdana"/>
              <a:sym typeface="Verdana"/>
            </a:endParaRPr>
          </a:p>
        </p:txBody>
      </p:sp>
      <p:pic>
        <p:nvPicPr>
          <p:cNvPr id="774" name="Google Shape;774;h48043f3f66c9ba31_0_14" title="001.png"/>
          <p:cNvPicPr preferRelativeResize="0"/>
          <p:nvPr/>
        </p:nvPicPr>
        <p:blipFill rotWithShape="1">
          <a:blip r:embed="rId12">
            <a:alphaModFix/>
          </a:blip>
          <a:srcRect/>
          <a:stretch/>
        </p:blipFill>
        <p:spPr>
          <a:xfrm>
            <a:off x="9284975" y="3376750"/>
            <a:ext cx="1327099" cy="1327099"/>
          </a:xfrm>
          <a:prstGeom prst="rect">
            <a:avLst/>
          </a:prstGeom>
          <a:noFill/>
          <a:ln>
            <a:noFill/>
          </a:ln>
        </p:spPr>
      </p:pic>
      <p:sp>
        <p:nvSpPr>
          <p:cNvPr id="775" name="Google Shape;775;h48043f3f66c9ba31_0_14"/>
          <p:cNvSpPr txBox="1"/>
          <p:nvPr/>
        </p:nvSpPr>
        <p:spPr>
          <a:xfrm>
            <a:off x="9285075" y="305695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latin typeface="Verdana"/>
                <a:ea typeface="Verdana"/>
                <a:cs typeface="Verdana"/>
                <a:sym typeface="Verdana"/>
              </a:rPr>
              <a:t>broken</a:t>
            </a:r>
            <a:endParaRPr sz="1200">
              <a:latin typeface="Verdana"/>
              <a:ea typeface="Verdana"/>
              <a:cs typeface="Verdana"/>
              <a:sym typeface="Verdana"/>
            </a:endParaRPr>
          </a:p>
        </p:txBody>
      </p:sp>
      <p:pic>
        <p:nvPicPr>
          <p:cNvPr id="776" name="Google Shape;776;h48043f3f66c9ba31_0_14" title="001.png"/>
          <p:cNvPicPr preferRelativeResize="0"/>
          <p:nvPr/>
        </p:nvPicPr>
        <p:blipFill rotWithShape="1">
          <a:blip r:embed="rId13">
            <a:alphaModFix/>
          </a:blip>
          <a:srcRect/>
          <a:stretch/>
        </p:blipFill>
        <p:spPr>
          <a:xfrm>
            <a:off x="9285125" y="5023650"/>
            <a:ext cx="1327099" cy="1327099"/>
          </a:xfrm>
          <a:prstGeom prst="rect">
            <a:avLst/>
          </a:prstGeom>
          <a:noFill/>
          <a:ln>
            <a:noFill/>
          </a:ln>
        </p:spPr>
      </p:pic>
      <p:sp>
        <p:nvSpPr>
          <p:cNvPr id="777" name="Google Shape;777;h48043f3f66c9ba31_0_14"/>
          <p:cNvSpPr txBox="1"/>
          <p:nvPr/>
        </p:nvSpPr>
        <p:spPr>
          <a:xfrm>
            <a:off x="9285075" y="470385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None/>
            </a:pPr>
            <a:r>
              <a:rPr lang="en-US" sz="900">
                <a:solidFill>
                  <a:srgbClr val="12293A"/>
                </a:solidFill>
                <a:latin typeface="Verdana"/>
                <a:ea typeface="Verdana"/>
                <a:cs typeface="Verdana"/>
                <a:sym typeface="Verdana"/>
              </a:rPr>
              <a:t>metal</a:t>
            </a:r>
            <a:br>
              <a:rPr lang="en-US" sz="900">
                <a:solidFill>
                  <a:srgbClr val="12293A"/>
                </a:solidFill>
                <a:latin typeface="Verdana"/>
                <a:ea typeface="Verdana"/>
                <a:cs typeface="Verdana"/>
                <a:sym typeface="Verdana"/>
              </a:rPr>
            </a:br>
            <a:r>
              <a:rPr lang="en-US" sz="900">
                <a:solidFill>
                  <a:srgbClr val="12293A"/>
                </a:solidFill>
                <a:latin typeface="Verdana"/>
                <a:ea typeface="Verdana"/>
                <a:cs typeface="Verdana"/>
                <a:sym typeface="Verdana"/>
              </a:rPr>
              <a:t>contamination</a:t>
            </a:r>
            <a:endParaRPr sz="900">
              <a:latin typeface="Verdana"/>
              <a:ea typeface="Verdana"/>
              <a:cs typeface="Verdana"/>
              <a:sym typeface="Verdana"/>
            </a:endParaRPr>
          </a:p>
        </p:txBody>
      </p:sp>
      <p:pic>
        <p:nvPicPr>
          <p:cNvPr id="778" name="Google Shape;778;h48043f3f66c9ba31_0_14" title="003.png"/>
          <p:cNvPicPr preferRelativeResize="0"/>
          <p:nvPr/>
        </p:nvPicPr>
        <p:blipFill rotWithShape="1">
          <a:blip r:embed="rId14">
            <a:alphaModFix/>
          </a:blip>
          <a:srcRect/>
          <a:stretch/>
        </p:blipFill>
        <p:spPr>
          <a:xfrm>
            <a:off x="10661975" y="4280400"/>
            <a:ext cx="1327201" cy="1327201"/>
          </a:xfrm>
          <a:prstGeom prst="rect">
            <a:avLst/>
          </a:prstGeom>
          <a:noFill/>
          <a:ln>
            <a:noFill/>
          </a:ln>
        </p:spPr>
      </p:pic>
      <p:sp>
        <p:nvSpPr>
          <p:cNvPr id="779" name="Google Shape;779;h48043f3f66c9ba31_0_14"/>
          <p:cNvSpPr txBox="1"/>
          <p:nvPr/>
        </p:nvSpPr>
        <p:spPr>
          <a:xfrm>
            <a:off x="10661975" y="3960600"/>
            <a:ext cx="1327200" cy="319800"/>
          </a:xfrm>
          <a:prstGeom prst="rect">
            <a:avLst/>
          </a:prstGeom>
          <a:solidFill>
            <a:srgbClr val="EAD1D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None/>
            </a:pPr>
            <a:r>
              <a:rPr lang="en-US" sz="1200">
                <a:solidFill>
                  <a:srgbClr val="12293A"/>
                </a:solidFill>
                <a:latin typeface="Verdana"/>
                <a:ea typeface="Verdana"/>
                <a:cs typeface="Verdana"/>
                <a:sym typeface="Verdana"/>
              </a:rPr>
              <a:t>thread</a:t>
            </a:r>
            <a:endParaRPr sz="120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7236</Words>
  <Application>Microsoft Macintosh PowerPoint</Application>
  <PresentationFormat>Widescreen</PresentationFormat>
  <Paragraphs>1013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Ubuntu</vt:lpstr>
      <vt:lpstr>Verdana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Yee Fei Sim</cp:lastModifiedBy>
  <cp:revision>1</cp:revision>
  <dcterms:modified xsi:type="dcterms:W3CDTF">2026-10-31T07:19:09Z</dcterms:modified>
</cp:coreProperties>
</file>